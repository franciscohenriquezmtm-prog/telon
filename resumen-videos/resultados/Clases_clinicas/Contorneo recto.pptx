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Preguntas para los alumnos:
¿Qué referencia anatómica suele usarse como límite superior del recto? (La unión rectosigmoidea, usualmente a nivel de S3).
¿Por qué es útil la vista sagital al contornear el canal anal? (Permite visualizar claramente el límite inferior en el margen cutáneo y la transición superior con el recto).
¿Cuál es el beneficio clínico de contornear el pene como OAR en radioterapia pélvica? (Permite controlar y registrar la dosis para mitigar el riesgo de disfunción eréctil post-tratamiento).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Clip sin_titulo_16-09-18/01_general.mp4 (0–3 s del video sin_titulo_16-09-18). Esta sección es instrumental; sirve para contextualizar el inicio de la grabación de pantalla del software de planificación.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Clip sin_titulo_16-09-18/02_Recto.mp4 (3–37 s del video sin_titulo_16-09-18). Observar la forma circular o semi-ovalada del recto en la pelvis baja y su cercanía con la próstata/vesículas (o canal anal en cortes más inferiores). Identificar el límite superior del recto, que comúnmente se define donde el órgano pierde su forma fija y se orienta anteriormente para formar el sigmoides. Es útil notar que el recto se continúa inferiormente con el canal anal al nivel donde el músculo puborrectal abraza el tubo digestivo. La vista multiplanar es esencial para corroborar la consistencia espacial del contorneo de estructuras cilíndricas como el recto. En el plano sagital se aprecia claramente la curvatura sacra que sigue el recto, y la separación anterior con la vejiga y próstata/vagina. Las transiciones de vista ayudan a verificar la coherencia anatómica en los tres ejes antes de focalizarse en un nuevo OAR.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Clip sin_titulo_16-09-18/03_Pene.mp4 (37–44 s del video sin_titulo_16-09-18). El pene se contornea como OAR para evaluar la dosis en tratamientos de pelvis (ej. próstata) y prevenir disfunción eréctil.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Clip sin_titulo_16-09-18/04_Canal_Anal.mp4 (44–61 s del video sin_titulo_16-09-18). El canal anal es un OAR crítico independiente del recto. Se ubica en los cortes más inferiores, rodeado por el complejo esfinteriano. En sagital y coronal se distingue claramente la separación entre el canal anal (inferior) y el recto (superior). Notar la transición donde el canal anal se convierte en el recto, justo por encima de la inserción del músculo elevador del ano.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Clip sin_titulo_16-09-18/05_Pene.mp4 (61–70 s del video sin_titulo_16-09-18). El bulbo y el cuerpo del pene deben delimitarse con precisión; su contorneo se extiende desde la sínfisis púbica hacia la parte externa libre.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Clip sin_titulo_16-09-18/06_general.mp4 (70–73 s del video sin_titulo_16-09-18). Fin de la demostración práctica de segmentación de OARs pélvicos inferiores.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Preguntas para los alumnos:
¿Qué cadenas ganglionares típicamente se incluyen en el CTV de un cáncer de recto? (Ganglios mesorrectales, presacros e ilíacos internos).
¿Por qué es importante el estado de llenado de la vejiga durante la simulación y el tratamiento de recto? (Para desplazar las asas de intestino delgado fuera del campo de alta dosis anterior).
¿Qué ventajas ofrece la técnica de 4 campos en caja frente a una técnica de 2 campos anteroposterior-posteroanterior en pelvis? (Permite reducir la dosis en los tejidos sanos anteriores y posteriores, y conformar mejor la dosis lateralmente protegiendo parcialmente las cabezas femorales).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Clip recto/01_ICRU_Recto.mp4 (0–45 s del video recto). Observe la delimitación del recto y el volumen de tratamiento adyacente (en rojo) en la región pélvica. Identifique la vejiga por delante y las cabezas femorales lateralmente como OAR críticos a proteger. La correcta definición de los límites superior e inferior del recto es crucial para el cálculo de la dosis del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Clip recto/02_general.mp4 (45–53 s del video recto). La vista multiplanar (axial, sagital, coronal y 3D) permite verificar la consistencia tridimensional del contorneo.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Clip recto/03_general.mp4 (69–99 s del video recto). Observe la distribución tridimensional de las isodosis envolviendo el volumen blanco planificado. La vista de haz (BEV) ayuda a evaluar la cobertura del campo respecto a la anatomía del paciente y los colimadores.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Preguntas para los alumnos:
¿Qué volumen de riesgo de la articulación de la cadera se seleccionó para centrar la vista en el segundo segmento? (Cabeza Femoral D)
¿Qué herramienta de visualización se utiliza para ver la forma del campo desde la perspectiva de la fuente de radiación? (BEV - Beam's Eye View)
¿Cuál es el porcentaje de la dosis máxima 3D reportada en el plan de este paciente? (106.9 %)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Clip recto_belly/01_icru_pelvis.mp4 (0–30 s del video recto_belly). En el módulo de Contorneo vemos primero un plano general de la pelvis con las estructuras del caso ya delimitadas. Fíjense cómo la estructura de ayuda 'icru_pelvis' delimita la zona de interés para la dosimetría de referencia, englobando los volúmenes blanco en el área pélvica. Hacia craneal, la estructura de ayuda llega hasta los grandes vasos y el inicio de la bifurcación, marcando el límite superior de planificación convencional.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Clip recto_belly/02_Cabeza_Femoral_D.mp4 (30–36 s del video recto_belly). Las cabezas femorales son órganos de riesgo críticos en irradiación pélvica para evitar la necrosis aséptica.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Clip recto_belly/03_general.mp4 (67–101 s del video recto_belly). Observen la clásica forma de caja de la técnica de 4 campos (box técnica), que concentra la dosis prescrita en el centro (recto y ganglios) protegiendo parcialmente las cabezas femorales. La vista 'Beams Eye View' (BEV) permite analizar cómo las láminas del colimador (MLC) se adaptan al contorno del PTV protegiendo los OAR circundantes. La correcta integración entre los límites del volumen blanco y la conformación de los campos es la clave para la aprobación de un plan convencional.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video" Target="../media/media-3-1.mp4"/><Relationship Id="rId2" Type="http://schemas.microsoft.com/office/2007/relationships/media" Target="../media/media-3-1.mp4"/><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video" Target="../media/media-4-1.mp4"/><Relationship Id="rId2" Type="http://schemas.microsoft.com/office/2007/relationships/media" Target="../media/media-4-1.mp4"/><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video" Target="../media/media-5-1.mp4"/><Relationship Id="rId2" Type="http://schemas.microsoft.com/office/2007/relationships/media" Target="../media/media-5-1.mp4"/><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video" Target="../media/media-6-1.mp4"/><Relationship Id="rId2" Type="http://schemas.microsoft.com/office/2007/relationships/media" Target="../media/media-6-1.mp4"/><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video" Target="../media/media-7-1.mp4"/><Relationship Id="rId2" Type="http://schemas.microsoft.com/office/2007/relationships/media" Target="../media/media-7-1.mp4"/><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video" Target="../media/media-8-1.mp4"/><Relationship Id="rId2" Type="http://schemas.microsoft.com/office/2007/relationships/media" Target="../media/media-8-1.mp4"/><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video" Target="../media/media-10-1.mp4"/><Relationship Id="rId2" Type="http://schemas.microsoft.com/office/2007/relationships/media" Target="../media/media-10-1.mp4"/><Relationship Id="rId3" Type="http://schemas.openxmlformats.org/officeDocument/2006/relationships/image" Target="../media/image-10-3.pn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video" Target="../media/media-11-1.mp4"/><Relationship Id="rId2" Type="http://schemas.microsoft.com/office/2007/relationships/media" Target="../media/media-11-1.mp4"/><Relationship Id="rId3" Type="http://schemas.openxmlformats.org/officeDocument/2006/relationships/image" Target="../media/image-11-3.png"/><Relationship Id="rId4" Type="http://schemas.openxmlformats.org/officeDocument/2006/relationships/slideLayout" Target="../slideLayouts/slideLayout1.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video" Target="../media/media-12-1.mp4"/><Relationship Id="rId2" Type="http://schemas.microsoft.com/office/2007/relationships/media" Target="../media/media-12-1.mp4"/><Relationship Id="rId3" Type="http://schemas.openxmlformats.org/officeDocument/2006/relationships/image" Target="../media/image-12-3.png"/><Relationship Id="rId4" Type="http://schemas.openxmlformats.org/officeDocument/2006/relationships/slideLayout" Target="../slideLayouts/slideLayout1.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video" Target="../media/media-14-1.mp4"/><Relationship Id="rId2" Type="http://schemas.microsoft.com/office/2007/relationships/media" Target="../media/media-14-1.mp4"/><Relationship Id="rId3" Type="http://schemas.openxmlformats.org/officeDocument/2006/relationships/image" Target="../media/image-14-3.png"/><Relationship Id="rId4" Type="http://schemas.openxmlformats.org/officeDocument/2006/relationships/slideLayout" Target="../slideLayouts/slideLayout1.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video" Target="../media/media-15-1.mp4"/><Relationship Id="rId2" Type="http://schemas.microsoft.com/office/2007/relationships/media" Target="../media/media-15-1.mp4"/><Relationship Id="rId3" Type="http://schemas.openxmlformats.org/officeDocument/2006/relationships/image" Target="../media/image-15-3.png"/><Relationship Id="rId4" Type="http://schemas.openxmlformats.org/officeDocument/2006/relationships/slideLayout" Target="../slideLayouts/slideLayout1.xml"/><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video" Target="../media/media-16-1.mp4"/><Relationship Id="rId2" Type="http://schemas.microsoft.com/office/2007/relationships/media" Target="../media/media-16-1.mp4"/><Relationship Id="rId3" Type="http://schemas.openxmlformats.org/officeDocument/2006/relationships/image" Target="../media/image-16-3.png"/><Relationship Id="rId4" Type="http://schemas.openxmlformats.org/officeDocument/2006/relationships/slideLayout" Target="../slideLayouts/slideLayout1.xml"/><Relationship Id="rId5"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726"/>
        </a:solidFill>
      </p:bgPr>
    </p:bg>
    <p:spTree>
      <p:nvGrpSpPr>
        <p:cNvPr id="1" name=""/>
        <p:cNvGrpSpPr/>
        <p:nvPr/>
      </p:nvGrpSpPr>
      <p:grpSpPr>
        <a:xfrm>
          <a:off x="0" y="0"/>
          <a:ext cx="0" cy="0"/>
          <a:chOff x="0" y="0"/>
          <a:chExt cx="0" cy="0"/>
        </a:xfrm>
      </p:grpSpPr>
      <p:pic>
        <p:nvPicPr>
          <p:cNvPr id="2" name="Image 0" descr="/tmp/claude-0/-home-user-telon/44f4c94a-cd0b-5d39-be5e-ac4d3f8deac5/scratchpad/clin/clips/sin_titulo_16-09-18/01_general.jpg">    </p:cNvPr>
          <p:cNvPicPr>
            <a:picLocks noChangeAspect="1"/>
          </p:cNvPicPr>
          <p:nvPr/>
        </p:nvPicPr>
        <p:blipFill>
          <a:blip r:embed="rId1">
            <a:alphaModFix amt="20000"/>
          </a:blip>
          <a:stretch>
            <a:fill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0E1726">
              <a:alpha val="65000"/>
            </a:srgbClr>
          </a:solidFill>
          <a:ln w="12700">
            <a:solidFill>
              <a:srgbClr val="0E1726"/>
            </a:solidFill>
            <a:prstDash val="solid"/>
          </a:ln>
        </p:spPr>
      </p:sp>
      <p:sp>
        <p:nvSpPr>
          <p:cNvPr id="4" name="Text 1"/>
          <p:cNvSpPr txBox="1"/>
          <p:nvPr/>
        </p:nvSpPr>
        <p:spPr>
          <a:xfrm>
            <a:off x="731520" y="1280160"/>
            <a:ext cx="10515600" cy="365760"/>
          </a:xfrm>
          <a:prstGeom prst="rect">
            <a:avLst/>
          </a:prstGeom>
          <a:noFill/>
          <a:ln/>
        </p:spPr>
        <p:txBody>
          <a:bodyPr wrap="square" lIns="0" tIns="0" rIns="0" bIns="0" rtlCol="0" anchor="ctr"/>
          <a:lstStyle/>
          <a:p>
            <a:pPr indent="0" marL="0">
              <a:buNone/>
            </a:pPr>
            <a:r>
              <a:rPr lang="en-US" sz="1400" b="1" spc="300" kern="0" dirty="0">
                <a:solidFill>
                  <a:srgbClr val="F2C14E"/>
                </a:solidFill>
                <a:latin typeface="Calibri" pitchFamily="34" charset="0"/>
                <a:ea typeface="Calibri" pitchFamily="34" charset="-122"/>
                <a:cs typeface="Calibri" pitchFamily="34" charset="-120"/>
              </a:rPr>
              <a:t>RADIOTERAPIA · BIBLIOTECA DE CONTORNEO Y PLANIFICACIÓN · INC</a:t>
            </a:r>
            <a:endParaRPr lang="en-US" sz="1400" dirty="0"/>
          </a:p>
        </p:txBody>
      </p:sp>
      <p:sp>
        <p:nvSpPr>
          <p:cNvPr id="5" name="Text 2"/>
          <p:cNvSpPr txBox="1"/>
          <p:nvPr/>
        </p:nvSpPr>
        <p:spPr>
          <a:xfrm>
            <a:off x="731520" y="1737360"/>
            <a:ext cx="10515600" cy="1188720"/>
          </a:xfrm>
          <a:prstGeom prst="rect">
            <a:avLst/>
          </a:prstGeom>
          <a:noFill/>
          <a:ln/>
        </p:spPr>
        <p:txBody>
          <a:bodyPr wrap="square" lIns="0" tIns="0" rIns="0" bIns="0" rtlCol="0" anchor="ctr"/>
          <a:lstStyle/>
          <a:p>
            <a:pPr indent="0" marL="0">
              <a:buNone/>
            </a:pPr>
            <a:r>
              <a:rPr lang="en-US" sz="5400" b="1" dirty="0">
                <a:solidFill>
                  <a:srgbClr val="FFFFFF"/>
                </a:solidFill>
                <a:latin typeface="Calibri" pitchFamily="34" charset="0"/>
                <a:ea typeface="Calibri" pitchFamily="34" charset="-122"/>
                <a:cs typeface="Calibri" pitchFamily="34" charset="-120"/>
              </a:rPr>
              <a:t>Recto</a:t>
            </a:r>
            <a:endParaRPr lang="en-US" sz="5400" dirty="0"/>
          </a:p>
        </p:txBody>
      </p:sp>
      <p:sp>
        <p:nvSpPr>
          <p:cNvPr id="6" name="Text 3"/>
          <p:cNvSpPr txBox="1"/>
          <p:nvPr/>
        </p:nvSpPr>
        <p:spPr>
          <a:xfrm>
            <a:off x="731520" y="3017520"/>
            <a:ext cx="9601200" cy="822960"/>
          </a:xfrm>
          <a:prstGeom prst="rect">
            <a:avLst/>
          </a:prstGeom>
          <a:noFill/>
          <a:ln/>
        </p:spPr>
        <p:txBody>
          <a:bodyPr wrap="square" lIns="0" tIns="0" rIns="0" bIns="0" rtlCol="0" anchor="ctr"/>
          <a:lstStyle/>
          <a:p>
            <a:pPr indent="0" marL="0">
              <a:buNone/>
            </a:pPr>
            <a:r>
              <a:rPr lang="en-US" sz="2000" dirty="0">
                <a:solidFill>
                  <a:srgbClr val="F3F4F6"/>
                </a:solidFill>
                <a:latin typeface="Calibri" pitchFamily="34" charset="0"/>
                <a:ea typeface="Calibri" pitchFamily="34" charset="-122"/>
                <a:cs typeface="Calibri" pitchFamily="34" charset="-120"/>
              </a:rPr>
              <a:t>3 casos · 12 clips de Eclipse: cómo están segmentados los OAR y los targets y cómo se evalúa el plan</a:t>
            </a:r>
            <a:endParaRPr lang="en-US" sz="2000" dirty="0"/>
          </a:p>
        </p:txBody>
      </p:sp>
      <p:sp>
        <p:nvSpPr>
          <p:cNvPr id="7" name="Text 4"/>
          <p:cNvSpPr txBox="1"/>
          <p:nvPr/>
        </p:nvSpPr>
        <p:spPr>
          <a:xfrm>
            <a:off x="731520" y="4023360"/>
            <a:ext cx="9601200" cy="731520"/>
          </a:xfrm>
          <a:prstGeom prst="rect">
            <a:avLst/>
          </a:prstGeom>
          <a:noFill/>
          <a:ln/>
        </p:spPr>
        <p:txBody>
          <a:bodyPr wrap="square" lIns="0" tIns="0" rIns="0" bIns="0" rtlCol="0" anchor="ctr"/>
          <a:lstStyle/>
          <a:p>
            <a:pPr indent="0" marL="0">
              <a:buNone/>
            </a:pPr>
            <a:r>
              <a:rPr lang="en-US" sz="1400" dirty="0">
                <a:solidFill>
                  <a:srgbClr val="A9B4C7"/>
                </a:solidFill>
                <a:latin typeface="Calibri" pitchFamily="34" charset="0"/>
                <a:ea typeface="Calibri" pitchFamily="34" charset="-122"/>
                <a:cs typeface="Calibri" pitchFamily="34" charset="-120"/>
              </a:rPr>
              <a:t>Las imágenes de cada lámina son clips: clic para reproducir. Material para armar clases; los textos de apoyo se revisan antes de usarlos.</a:t>
            </a:r>
            <a:endParaRPr lang="en-US" sz="1400" dirty="0"/>
          </a:p>
        </p:txBody>
      </p:sp>
      <p:sp>
        <p:nvSpPr>
          <p:cNvPr id="8" name="Text 5"/>
          <p:cNvSpPr txBox="1"/>
          <p:nvPr/>
        </p:nvSpPr>
        <p:spPr>
          <a:xfrm>
            <a:off x="731520" y="5852160"/>
            <a:ext cx="9601200" cy="365760"/>
          </a:xfrm>
          <a:prstGeom prst="rect">
            <a:avLst/>
          </a:prstGeom>
          <a:noFill/>
          <a:ln/>
        </p:spPr>
        <p:txBody>
          <a:bodyPr wrap="square" lIns="0" tIns="0" rIns="0" bIns="0" rtlCol="0" anchor="ctr"/>
          <a:lstStyle/>
          <a:p>
            <a:pPr indent="0" marL="0">
              <a:buNone/>
            </a:pPr>
            <a:r>
              <a:rPr lang="en-US" sz="1200" dirty="0">
                <a:solidFill>
                  <a:srgbClr val="A9B4C7"/>
                </a:solidFill>
                <a:latin typeface="Calibri" pitchFamily="34" charset="0"/>
                <a:ea typeface="Calibri" pitchFamily="34" charset="-122"/>
                <a:cs typeface="Calibri" pitchFamily="34" charset="-120"/>
              </a:rPr>
              <a:t>TM Francisco Henríquez M. · Instituto Nacional del Cáncer ·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E1726"/>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320040"/>
          </a:xfrm>
          <a:prstGeom prst="rect">
            <a:avLst/>
          </a:prstGeom>
          <a:noFill/>
          <a:ln/>
        </p:spPr>
        <p:txBody>
          <a:bodyPr wrap="square" lIns="0" tIns="0" rIns="0" bIns="0" rtlCol="0" anchor="ctr"/>
          <a:lstStyle/>
          <a:p>
            <a:pPr indent="0" marL="0">
              <a:buNone/>
            </a:pPr>
            <a:r>
              <a:rPr lang="en-US" sz="1200" b="1" spc="200" kern="0" dirty="0">
                <a:solidFill>
                  <a:srgbClr val="F2C14E"/>
                </a:solidFill>
                <a:latin typeface="Calibri" pitchFamily="34" charset="0"/>
                <a:ea typeface="Calibri" pitchFamily="34" charset="-122"/>
                <a:cs typeface="Calibri" pitchFamily="34" charset="-120"/>
              </a:rPr>
              <a:t>CASO · RECTO · 3D-CRT/IMRT</a:t>
            </a:r>
            <a:endParaRPr lang="en-US" sz="1200" dirty="0"/>
          </a:p>
        </p:txBody>
      </p:sp>
      <p:sp>
        <p:nvSpPr>
          <p:cNvPr id="3" name="Text 1"/>
          <p:cNvSpPr txBox="1"/>
          <p:nvPr/>
        </p:nvSpPr>
        <p:spPr>
          <a:xfrm>
            <a:off x="548640" y="685800"/>
            <a:ext cx="11064240" cy="822960"/>
          </a:xfrm>
          <a:prstGeom prst="rect">
            <a:avLst/>
          </a:prstGeom>
          <a:noFill/>
          <a:ln/>
        </p:spPr>
        <p:txBody>
          <a:bodyPr wrap="square" lIns="0" tIns="0" rIns="0" bIns="0" rtlCol="0" anchor="t"/>
          <a:lstStyle/>
          <a:p>
            <a:pPr indent="0" marL="0">
              <a:buNone/>
            </a:pPr>
            <a:r>
              <a:rPr lang="en-US" sz="2600" b="1" dirty="0">
                <a:solidFill>
                  <a:srgbClr val="F3F4F6"/>
                </a:solidFill>
                <a:latin typeface="Calibri" pitchFamily="34" charset="0"/>
                <a:ea typeface="Calibri" pitchFamily="34" charset="-122"/>
                <a:cs typeface="Calibri" pitchFamily="34" charset="-120"/>
              </a:rPr>
              <a:t>Revisión de contorneo de Recto, Canal Anal y Pene en tomografía computada</a:t>
            </a:r>
            <a:endParaRPr lang="en-US" sz="2600" dirty="0"/>
          </a:p>
        </p:txBody>
      </p:sp>
      <p:sp>
        <p:nvSpPr>
          <p:cNvPr id="4" name="Text 2"/>
          <p:cNvSpPr txBox="1"/>
          <p:nvPr/>
        </p:nvSpPr>
        <p:spPr>
          <a:xfrm>
            <a:off x="548640" y="1600200"/>
            <a:ext cx="6766560" cy="2194560"/>
          </a:xfrm>
          <a:prstGeom prst="rect">
            <a:avLst/>
          </a:prstGeom>
          <a:noFill/>
          <a:ln/>
        </p:spPr>
        <p:txBody>
          <a:bodyPr wrap="square" lIns="0" tIns="0" rIns="0" bIns="0" rtlCol="0" anchor="t"/>
          <a:lstStyle/>
          <a:p>
            <a:pPr indent="0" marL="0">
              <a:buNone/>
            </a:pPr>
            <a:r>
              <a:rPr lang="en-US" sz="1350" dirty="0">
                <a:solidFill>
                  <a:srgbClr val="F3F4F6"/>
                </a:solidFill>
                <a:latin typeface="Calibri" pitchFamily="34" charset="0"/>
                <a:ea typeface="Calibri" pitchFamily="34" charset="-122"/>
                <a:cs typeface="Calibri" pitchFamily="34" charset="-120"/>
              </a:rPr>
              <a:t>El video muestra la navegación en el módulo de Contorneo (Contouring) de Eclipse para revisar la segmentación ya realizada de diversos órganos de riesgo (OAR) de la pelvis masculina. Se observa la delimitación del recto, canal anal y el pene sobre imágenes de tomografía computada (CT) en cortes axiales, coronales y sagitales, usando la visualización multiplanar para verificar límites.</a:t>
            </a:r>
            <a:endParaRPr lang="en-US" sz="1350" dirty="0"/>
          </a:p>
        </p:txBody>
      </p:sp>
      <p:sp>
        <p:nvSpPr>
          <p:cNvPr id="5" name="Shape 3"/>
          <p:cNvSpPr/>
          <p:nvPr/>
        </p:nvSpPr>
        <p:spPr>
          <a:xfrm>
            <a:off x="548640" y="3886200"/>
            <a:ext cx="2377440" cy="292608"/>
          </a:xfrm>
          <a:prstGeom prst="roundRect">
            <a:avLst>
              <a:gd name="adj" fmla="val 50000"/>
            </a:avLst>
          </a:prstGeom>
          <a:solidFill>
            <a:srgbClr val="1C2B47"/>
          </a:solidFill>
          <a:ln w="12700">
            <a:solidFill>
              <a:srgbClr val="1C2B47"/>
            </a:solidFill>
            <a:prstDash val="solid"/>
          </a:ln>
        </p:spPr>
      </p:sp>
      <p:sp>
        <p:nvSpPr>
          <p:cNvPr id="6" name="Text 4"/>
          <p:cNvSpPr txBox="1"/>
          <p:nvPr/>
        </p:nvSpPr>
        <p:spPr>
          <a:xfrm>
            <a:off x="548640" y="3886200"/>
            <a:ext cx="2377440"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ESTRUCTURAS DEL CASO</a:t>
            </a:r>
            <a:endParaRPr lang="en-US" sz="1050" dirty="0"/>
          </a:p>
        </p:txBody>
      </p:sp>
      <p:sp>
        <p:nvSpPr>
          <p:cNvPr id="7" name="Text 5"/>
          <p:cNvSpPr txBox="1"/>
          <p:nvPr/>
        </p:nvSpPr>
        <p:spPr>
          <a:xfrm>
            <a:off x="548640" y="4251960"/>
            <a:ext cx="6766560" cy="2011680"/>
          </a:xfrm>
          <a:prstGeom prst="rect">
            <a:avLst/>
          </a:prstGeom>
          <a:noFill/>
          <a:ln/>
        </p:spPr>
        <p:txBody>
          <a:bodyPr wrap="square" lIns="0" tIns="0" rIns="0" bIns="0" rtlCol="0" anchor="t"/>
          <a:lstStyle/>
          <a:p>
            <a:pPr indent="0" marL="0">
              <a:buNone/>
            </a:pPr>
            <a:r>
              <a:rPr lang="en-US" sz="1150" dirty="0">
                <a:solidFill>
                  <a:srgbClr val="A9B4C7"/>
                </a:solidFill>
                <a:latin typeface="Calibri" pitchFamily="34" charset="0"/>
                <a:ea typeface="Calibri" pitchFamily="34" charset="-122"/>
                <a:cs typeface="Calibri" pitchFamily="34" charset="-120"/>
              </a:rPr>
              <a:t>Recto · Canal Anal · Pene</a:t>
            </a:r>
            <a:endParaRPr lang="en-US" sz="1150" dirty="0"/>
          </a:p>
        </p:txBody>
      </p:sp>
      <p:sp>
        <p:nvSpPr>
          <p:cNvPr id="8" name="Shape 6"/>
          <p:cNvSpPr/>
          <p:nvPr/>
        </p:nvSpPr>
        <p:spPr>
          <a:xfrm>
            <a:off x="7589520" y="1600200"/>
            <a:ext cx="3291840" cy="292608"/>
          </a:xfrm>
          <a:prstGeom prst="roundRect">
            <a:avLst>
              <a:gd name="adj" fmla="val 50000"/>
            </a:avLst>
          </a:prstGeom>
          <a:solidFill>
            <a:srgbClr val="E63946"/>
          </a:solidFill>
          <a:ln w="12700">
            <a:solidFill>
              <a:srgbClr val="E63946"/>
            </a:solidFill>
            <a:prstDash val="solid"/>
          </a:ln>
        </p:spPr>
      </p:sp>
      <p:sp>
        <p:nvSpPr>
          <p:cNvPr id="9" name="Text 7"/>
          <p:cNvSpPr txBox="1"/>
          <p:nvPr/>
        </p:nvSpPr>
        <p:spPr>
          <a:xfrm>
            <a:off x="7589520" y="1600200"/>
            <a:ext cx="3291840"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CONCEPTOS QUE PERMITE ENSEÑAR</a:t>
            </a:r>
            <a:endParaRPr lang="en-US" sz="1050" dirty="0"/>
          </a:p>
        </p:txBody>
      </p:sp>
      <p:sp>
        <p:nvSpPr>
          <p:cNvPr id="10" name="Text 8"/>
          <p:cNvSpPr txBox="1"/>
          <p:nvPr/>
        </p:nvSpPr>
        <p:spPr>
          <a:xfrm>
            <a:off x="7589520" y="1965960"/>
            <a:ext cx="4023360" cy="4297680"/>
          </a:xfrm>
          <a:prstGeom prst="rect">
            <a:avLst/>
          </a:prstGeom>
          <a:noFill/>
          <a:ln/>
        </p:spPr>
        <p:txBody>
          <a:bodyPr wrap="square" lIns="0" tIns="0" rIns="0" bIns="0" rtlCol="0" anchor="t"/>
          <a:lstStyle/>
          <a:p>
            <a:pPr marL="177800" indent="-177800">
              <a:spcAft>
                <a:spcPts val="600"/>
              </a:spcAft>
              <a:buSzPct val="100000"/>
              <a:buChar char="•"/>
            </a:pPr>
            <a:r>
              <a:rPr lang="en-US" sz="1200" dirty="0">
                <a:solidFill>
                  <a:srgbClr val="F3F4F6"/>
                </a:solidFill>
                <a:latin typeface="Calibri" pitchFamily="34" charset="0"/>
                <a:ea typeface="Calibri" pitchFamily="34" charset="-122"/>
                <a:cs typeface="Calibri" pitchFamily="34" charset="-120"/>
              </a:rPr>
              <a:t>Uso de vistas multiplanares (sagital y coronal) para validar límites anatómicos difíciles en cortes axiales.</a:t>
            </a:r>
            <a:endParaRPr lang="en-US" sz="1200" dirty="0"/>
          </a:p>
          <a:p>
            <a:pPr marL="177800" indent="-177800">
              <a:spcAft>
                <a:spcPts val="600"/>
              </a:spcAft>
              <a:buSzPct val="100000"/>
              <a:buChar char="•"/>
            </a:pPr>
            <a:r>
              <a:rPr lang="en-US" sz="1200" dirty="0">
                <a:solidFill>
                  <a:srgbClr val="F3F4F6"/>
                </a:solidFill>
                <a:latin typeface="Calibri" pitchFamily="34" charset="0"/>
                <a:ea typeface="Calibri" pitchFamily="34" charset="-122"/>
                <a:cs typeface="Calibri" pitchFamily="34" charset="-120"/>
              </a:rPr>
              <a:t>Transición anatómica crucial entre el recto inferior y el canal anal.</a:t>
            </a:r>
            <a:endParaRPr lang="en-US" sz="1200" dirty="0"/>
          </a:p>
          <a:p>
            <a:pPr marL="177800" indent="-177800">
              <a:spcAft>
                <a:spcPts val="600"/>
              </a:spcAft>
              <a:buSzPct val="100000"/>
              <a:buChar char="•"/>
            </a:pPr>
            <a:r>
              <a:rPr lang="en-US" sz="1200" dirty="0">
                <a:solidFill>
                  <a:srgbClr val="F3F4F6"/>
                </a:solidFill>
                <a:latin typeface="Calibri" pitchFamily="34" charset="0"/>
                <a:ea typeface="Calibri" pitchFamily="34" charset="-122"/>
                <a:cs typeface="Calibri" pitchFamily="34" charset="-120"/>
              </a:rPr>
              <a:t>Importancia del contorneo preciso del pene como órgano de riesgo para la estimación de dosis en radioterapia de pelvis.</a:t>
            </a:r>
            <a:endParaRPr lang="en-US" sz="1200" dirty="0"/>
          </a:p>
          <a:p>
            <a:pPr marL="177800" indent="-177800">
              <a:spcAft>
                <a:spcPts val="600"/>
              </a:spcAft>
              <a:buSzPct val="100000"/>
              <a:buChar char="•"/>
            </a:pPr>
            <a:r>
              <a:rPr lang="en-US" sz="1200" dirty="0">
                <a:solidFill>
                  <a:srgbClr val="F3F4F6"/>
                </a:solidFill>
                <a:latin typeface="Calibri" pitchFamily="34" charset="0"/>
                <a:ea typeface="Calibri" pitchFamily="34" charset="-122"/>
                <a:cs typeface="Calibri" pitchFamily="34" charset="-120"/>
              </a:rPr>
              <a:t>Verificación sistemática de la continuidad de estructuras tubulares mediante navegación sagital en Eclipse.</a:t>
            </a:r>
            <a:endParaRPr lang="en-US" sz="1200" dirty="0"/>
          </a:p>
        </p:txBody>
      </p:sp>
      <p:sp>
        <p:nvSpPr>
          <p:cNvPr id="11" name="Text 9"/>
          <p:cNvSpPr txBox="1"/>
          <p:nvPr/>
        </p:nvSpPr>
        <p:spPr>
          <a:xfrm>
            <a:off x="548640" y="6419088"/>
            <a:ext cx="11064240" cy="274320"/>
          </a:xfrm>
          <a:prstGeom prst="rect">
            <a:avLst/>
          </a:prstGeom>
          <a:noFill/>
          <a:ln/>
        </p:spPr>
        <p:txBody>
          <a:bodyPr wrap="square" lIns="0" tIns="0" rIns="0" bIns="0" rtlCol="0" anchor="ctr"/>
          <a:lstStyle/>
          <a:p>
            <a:pPr indent="0" marL="0">
              <a:buNone/>
            </a:pPr>
            <a:r>
              <a:rPr lang="en-US" sz="900" dirty="0">
                <a:solidFill>
                  <a:srgbClr val="A9B4C7"/>
                </a:solidFill>
                <a:latin typeface="Calibri" pitchFamily="34" charset="0"/>
                <a:ea typeface="Calibri" pitchFamily="34" charset="-122"/>
                <a:cs typeface="Calibri" pitchFamily="34" charset="-120"/>
              </a:rPr>
              <a:t>Clips de este caso: general, Recto, Pene, Canal Anal, Pene, general. Grabación de pantalla de Eclipse (Varian), INC 2026, anonimizada. Uso docente.</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E1726"/>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320040"/>
          </a:xfrm>
          <a:prstGeom prst="rect">
            <a:avLst/>
          </a:prstGeom>
          <a:noFill/>
          <a:ln/>
        </p:spPr>
        <p:txBody>
          <a:bodyPr wrap="square" lIns="0" tIns="0" rIns="0" bIns="0" rtlCol="0" anchor="ctr"/>
          <a:lstStyle/>
          <a:p>
            <a:pPr indent="0" marL="0">
              <a:buNone/>
            </a:pPr>
            <a:r>
              <a:rPr lang="en-US" sz="1200" b="1" spc="200" kern="0" dirty="0">
                <a:solidFill>
                  <a:srgbClr val="F2C14E"/>
                </a:solidFill>
                <a:latin typeface="Calibri" pitchFamily="34" charset="0"/>
                <a:ea typeface="Calibri" pitchFamily="34" charset="-122"/>
                <a:cs typeface="Calibri" pitchFamily="34" charset="-120"/>
              </a:rPr>
              <a:t>RECTO · GENERAL · CONTORNEO</a:t>
            </a:r>
            <a:endParaRPr lang="en-US" sz="1200" dirty="0"/>
          </a:p>
        </p:txBody>
      </p:sp>
      <p:sp>
        <p:nvSpPr>
          <p:cNvPr id="3" name="Text 1"/>
          <p:cNvSpPr txBox="1"/>
          <p:nvPr/>
        </p:nvSpPr>
        <p:spPr>
          <a:xfrm>
            <a:off x="548640" y="685800"/>
            <a:ext cx="11064240" cy="822960"/>
          </a:xfrm>
          <a:prstGeom prst="rect">
            <a:avLst/>
          </a:prstGeom>
          <a:noFill/>
          <a:ln/>
        </p:spPr>
        <p:txBody>
          <a:bodyPr wrap="square" lIns="0" tIns="0" rIns="0" bIns="0" rtlCol="0" anchor="t"/>
          <a:lstStyle/>
          <a:p>
            <a:pPr indent="0" marL="0">
              <a:buNone/>
            </a:pPr>
            <a:r>
              <a:rPr lang="en-US" sz="3000" b="1" dirty="0">
                <a:solidFill>
                  <a:srgbClr val="F3F4F6"/>
                </a:solidFill>
                <a:latin typeface="Calibri" pitchFamily="34" charset="0"/>
                <a:ea typeface="Calibri" pitchFamily="34" charset="-122"/>
                <a:cs typeface="Calibri" pitchFamily="34" charset="-120"/>
              </a:rPr>
              <a:t>general</a:t>
            </a:r>
            <a:endParaRPr lang="en-US" sz="3000" dirty="0"/>
          </a:p>
        </p:txBody>
      </p:sp>
      <p:pic>
        <p:nvPicPr>
          <p:cNvPr id="3" name="Media 0">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548640" y="1600200"/>
            <a:ext cx="7315200" cy="4754880"/>
          </a:xfrm>
          <a:prstGeom prst="rect">
            <a:avLst/>
          </a:prstGeom>
        </p:spPr>
      </p:pic>
      <p:sp>
        <p:nvSpPr>
          <p:cNvPr id="5" name="Shape 2"/>
          <p:cNvSpPr/>
          <p:nvPr/>
        </p:nvSpPr>
        <p:spPr>
          <a:xfrm>
            <a:off x="8138160" y="1600200"/>
            <a:ext cx="1371600" cy="292608"/>
          </a:xfrm>
          <a:prstGeom prst="roundRect">
            <a:avLst>
              <a:gd name="adj" fmla="val 50000"/>
            </a:avLst>
          </a:prstGeom>
          <a:solidFill>
            <a:srgbClr val="1C2B47"/>
          </a:solidFill>
          <a:ln w="12700">
            <a:solidFill>
              <a:srgbClr val="1C2B47"/>
            </a:solidFill>
            <a:prstDash val="solid"/>
          </a:ln>
        </p:spPr>
      </p:sp>
      <p:sp>
        <p:nvSpPr>
          <p:cNvPr id="6" name="Text 3"/>
          <p:cNvSpPr txBox="1"/>
          <p:nvPr/>
        </p:nvSpPr>
        <p:spPr>
          <a:xfrm>
            <a:off x="8138160" y="1600200"/>
            <a:ext cx="1371600"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QUÉ SE VE</a:t>
            </a:r>
            <a:endParaRPr lang="en-US" sz="1050" dirty="0"/>
          </a:p>
        </p:txBody>
      </p:sp>
      <p:sp>
        <p:nvSpPr>
          <p:cNvPr id="7" name="Text 4"/>
          <p:cNvSpPr txBox="1"/>
          <p:nvPr/>
        </p:nvSpPr>
        <p:spPr>
          <a:xfrm>
            <a:off x="8138160" y="1965960"/>
            <a:ext cx="3474720" cy="1737360"/>
          </a:xfrm>
          <a:prstGeom prst="rect">
            <a:avLst/>
          </a:prstGeom>
          <a:noFill/>
          <a:ln/>
        </p:spPr>
        <p:txBody>
          <a:bodyPr wrap="square" lIns="0" tIns="0" rIns="0" bIns="0" rtlCol="0" anchor="t"/>
          <a:lstStyle/>
          <a:p>
            <a:pPr indent="0" marL="0">
              <a:buNone/>
            </a:pPr>
            <a:r>
              <a:rPr lang="en-US" sz="1200" dirty="0">
                <a:solidFill>
                  <a:srgbClr val="F3F4F6"/>
                </a:solidFill>
                <a:latin typeface="Calibri" pitchFamily="34" charset="0"/>
                <a:ea typeface="Calibri" pitchFamily="34" charset="-122"/>
                <a:cs typeface="Calibri" pitchFamily="34" charset="-120"/>
              </a:rPr>
              <a:t>El operador inicia el video interactuando con la interfaz del programa de grabación OBS</a:t>
            </a:r>
            <a:endParaRPr lang="en-US" sz="1200" dirty="0"/>
          </a:p>
        </p:txBody>
      </p:sp>
      <p:sp>
        <p:nvSpPr>
          <p:cNvPr id="8" name="Shape 5"/>
          <p:cNvSpPr/>
          <p:nvPr/>
        </p:nvSpPr>
        <p:spPr>
          <a:xfrm>
            <a:off x="8138160" y="3749040"/>
            <a:ext cx="2468880" cy="292608"/>
          </a:xfrm>
          <a:prstGeom prst="roundRect">
            <a:avLst>
              <a:gd name="adj" fmla="val 50000"/>
            </a:avLst>
          </a:prstGeom>
          <a:solidFill>
            <a:srgbClr val="E63946"/>
          </a:solidFill>
          <a:ln w="12700">
            <a:solidFill>
              <a:srgbClr val="E63946"/>
            </a:solidFill>
            <a:prstDash val="solid"/>
          </a:ln>
        </p:spPr>
      </p:sp>
      <p:sp>
        <p:nvSpPr>
          <p:cNvPr id="9" name="Text 6"/>
          <p:cNvSpPr txBox="1"/>
          <p:nvPr/>
        </p:nvSpPr>
        <p:spPr>
          <a:xfrm>
            <a:off x="8138160" y="3749040"/>
            <a:ext cx="2468880"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QUÉ DEBE NOTAR EL ALUMNO</a:t>
            </a:r>
            <a:endParaRPr lang="en-US" sz="1050" dirty="0"/>
          </a:p>
        </p:txBody>
      </p:sp>
      <p:sp>
        <p:nvSpPr>
          <p:cNvPr id="10" name="Text 7"/>
          <p:cNvSpPr txBox="1"/>
          <p:nvPr/>
        </p:nvSpPr>
        <p:spPr>
          <a:xfrm>
            <a:off x="8138160" y="4114800"/>
            <a:ext cx="3474720" cy="1828800"/>
          </a:xfrm>
          <a:prstGeom prst="rect">
            <a:avLst/>
          </a:prstGeom>
          <a:noFill/>
          <a:ln/>
        </p:spPr>
        <p:txBody>
          <a:bodyPr wrap="square" lIns="0" tIns="0" rIns="0" bIns="0" rtlCol="0" anchor="t"/>
          <a:lstStyle/>
          <a:p>
            <a:pPr indent="0" marL="0">
              <a:buNone/>
            </a:pPr>
            <a:r>
              <a:rPr lang="en-US" sz="1200" dirty="0">
                <a:solidFill>
                  <a:srgbClr val="F3F4F6"/>
                </a:solidFill>
                <a:latin typeface="Calibri" pitchFamily="34" charset="0"/>
                <a:ea typeface="Calibri" pitchFamily="34" charset="-122"/>
                <a:cs typeface="Calibri" pitchFamily="34" charset="-120"/>
              </a:rPr>
              <a:t>Esta sección es instrumental; sirve para contextualizar el inicio de la grabación de pantalla del software de planificación.</a:t>
            </a:r>
            <a:endParaRPr lang="en-US" sz="1200" dirty="0"/>
          </a:p>
        </p:txBody>
      </p:sp>
      <p:sp>
        <p:nvSpPr>
          <p:cNvPr id="11" name="Text 8"/>
          <p:cNvSpPr txBox="1"/>
          <p:nvPr/>
        </p:nvSpPr>
        <p:spPr>
          <a:xfrm>
            <a:off x="8138160" y="5989320"/>
            <a:ext cx="3474720" cy="365760"/>
          </a:xfrm>
          <a:prstGeom prst="rect">
            <a:avLst/>
          </a:prstGeom>
          <a:noFill/>
          <a:ln/>
        </p:spPr>
        <p:txBody>
          <a:bodyPr wrap="square" lIns="0" tIns="0" rIns="0" bIns="0" rtlCol="0" anchor="ctr"/>
          <a:lstStyle/>
          <a:p>
            <a:pPr indent="0" marL="0">
              <a:buNone/>
            </a:pPr>
            <a:r>
              <a:rPr lang="en-US" sz="1000" dirty="0">
                <a:solidFill>
                  <a:srgbClr val="A9B4C7"/>
                </a:solidFill>
                <a:latin typeface="Calibri" pitchFamily="34" charset="0"/>
                <a:ea typeface="Calibri" pitchFamily="34" charset="-122"/>
                <a:cs typeface="Calibri" pitchFamily="34" charset="-120"/>
              </a:rPr>
              <a:t>3 s de video · axial · otro</a:t>
            </a:r>
            <a:endParaRPr lang="en-US" sz="1000" dirty="0"/>
          </a:p>
        </p:txBody>
      </p:sp>
      <p:sp>
        <p:nvSpPr>
          <p:cNvPr id="12" name="Text 9"/>
          <p:cNvSpPr txBox="1"/>
          <p:nvPr/>
        </p:nvSpPr>
        <p:spPr>
          <a:xfrm>
            <a:off x="548640" y="6419088"/>
            <a:ext cx="11064240" cy="274320"/>
          </a:xfrm>
          <a:prstGeom prst="rect">
            <a:avLst/>
          </a:prstGeom>
          <a:noFill/>
          <a:ln/>
        </p:spPr>
        <p:txBody>
          <a:bodyPr wrap="square" lIns="0" tIns="0" rIns="0" bIns="0" rtlCol="0" anchor="ctr"/>
          <a:lstStyle/>
          <a:p>
            <a:pPr indent="0" marL="0">
              <a:buNone/>
            </a:pPr>
            <a:r>
              <a:rPr lang="en-US" sz="900" dirty="0">
                <a:solidFill>
                  <a:srgbClr val="A9B4C7"/>
                </a:solidFill>
                <a:latin typeface="Calibri" pitchFamily="34" charset="0"/>
                <a:ea typeface="Calibri" pitchFamily="34" charset="-122"/>
                <a:cs typeface="Calibri" pitchFamily="34" charset="-120"/>
              </a:rPr>
              <a:t>Clic sobre la imagen para reproducir el clip. Grabación de pantalla de Eclipse (Varian), INC 2026, anonimizada. Uso docente.</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E1726"/>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320040"/>
          </a:xfrm>
          <a:prstGeom prst="rect">
            <a:avLst/>
          </a:prstGeom>
          <a:noFill/>
          <a:ln/>
        </p:spPr>
        <p:txBody>
          <a:bodyPr wrap="square" lIns="0" tIns="0" rIns="0" bIns="0" rtlCol="0" anchor="ctr"/>
          <a:lstStyle/>
          <a:p>
            <a:pPr indent="0" marL="0">
              <a:buNone/>
            </a:pPr>
            <a:r>
              <a:rPr lang="en-US" sz="1200" b="1" spc="200" kern="0" dirty="0">
                <a:solidFill>
                  <a:srgbClr val="F2C14E"/>
                </a:solidFill>
                <a:latin typeface="Calibri" pitchFamily="34" charset="0"/>
                <a:ea typeface="Calibri" pitchFamily="34" charset="-122"/>
                <a:cs typeface="Calibri" pitchFamily="34" charset="-120"/>
              </a:rPr>
              <a:t>RECTO · OAR · CONTORNEO</a:t>
            </a:r>
            <a:endParaRPr lang="en-US" sz="1200" dirty="0"/>
          </a:p>
        </p:txBody>
      </p:sp>
      <p:sp>
        <p:nvSpPr>
          <p:cNvPr id="3" name="Text 1"/>
          <p:cNvSpPr txBox="1"/>
          <p:nvPr/>
        </p:nvSpPr>
        <p:spPr>
          <a:xfrm>
            <a:off x="548640" y="685800"/>
            <a:ext cx="11064240" cy="822960"/>
          </a:xfrm>
          <a:prstGeom prst="rect">
            <a:avLst/>
          </a:prstGeom>
          <a:noFill/>
          <a:ln/>
        </p:spPr>
        <p:txBody>
          <a:bodyPr wrap="square" lIns="0" tIns="0" rIns="0" bIns="0" rtlCol="0" anchor="t"/>
          <a:lstStyle/>
          <a:p>
            <a:pPr indent="0" marL="0">
              <a:buNone/>
            </a:pPr>
            <a:r>
              <a:rPr lang="en-US" sz="3000" b="1" dirty="0">
                <a:solidFill>
                  <a:srgbClr val="F3F4F6"/>
                </a:solidFill>
                <a:latin typeface="Calibri" pitchFamily="34" charset="0"/>
                <a:ea typeface="Calibri" pitchFamily="34" charset="-122"/>
                <a:cs typeface="Calibri" pitchFamily="34" charset="-120"/>
              </a:rPr>
              <a:t>Recto</a:t>
            </a:r>
            <a:endParaRPr lang="en-US" sz="3000" dirty="0"/>
          </a:p>
        </p:txBody>
      </p:sp>
      <p:pic>
        <p:nvPicPr>
          <p:cNvPr id="3" name="Media 0">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548640" y="1600200"/>
            <a:ext cx="7315200" cy="4754880"/>
          </a:xfrm>
          <a:prstGeom prst="rect">
            <a:avLst/>
          </a:prstGeom>
        </p:spPr>
      </p:pic>
      <p:sp>
        <p:nvSpPr>
          <p:cNvPr id="5" name="Shape 2"/>
          <p:cNvSpPr/>
          <p:nvPr/>
        </p:nvSpPr>
        <p:spPr>
          <a:xfrm>
            <a:off x="8138160" y="1600200"/>
            <a:ext cx="1371600" cy="292608"/>
          </a:xfrm>
          <a:prstGeom prst="roundRect">
            <a:avLst>
              <a:gd name="adj" fmla="val 50000"/>
            </a:avLst>
          </a:prstGeom>
          <a:solidFill>
            <a:srgbClr val="1C2B47"/>
          </a:solidFill>
          <a:ln w="12700">
            <a:solidFill>
              <a:srgbClr val="1C2B47"/>
            </a:solidFill>
            <a:prstDash val="solid"/>
          </a:ln>
        </p:spPr>
      </p:sp>
      <p:sp>
        <p:nvSpPr>
          <p:cNvPr id="6" name="Text 3"/>
          <p:cNvSpPr txBox="1"/>
          <p:nvPr/>
        </p:nvSpPr>
        <p:spPr>
          <a:xfrm>
            <a:off x="8138160" y="1600200"/>
            <a:ext cx="1371600"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QUÉ SE VE</a:t>
            </a:r>
            <a:endParaRPr lang="en-US" sz="1050" dirty="0"/>
          </a:p>
        </p:txBody>
      </p:sp>
      <p:sp>
        <p:nvSpPr>
          <p:cNvPr id="7" name="Text 4"/>
          <p:cNvSpPr txBox="1"/>
          <p:nvPr/>
        </p:nvSpPr>
        <p:spPr>
          <a:xfrm>
            <a:off x="8138160" y="1965960"/>
            <a:ext cx="3474720" cy="1737360"/>
          </a:xfrm>
          <a:prstGeom prst="rect">
            <a:avLst/>
          </a:prstGeom>
          <a:noFill/>
          <a:ln/>
        </p:spPr>
        <p:txBody>
          <a:bodyPr wrap="square" lIns="0" tIns="0" rIns="0" bIns="0" rtlCol="0" anchor="t"/>
          <a:lstStyle/>
          <a:p>
            <a:pPr indent="0" marL="0">
              <a:buNone/>
            </a:pPr>
            <a:r>
              <a:rPr lang="en-US" sz="1200" dirty="0">
                <a:solidFill>
                  <a:srgbClr val="F3F4F6"/>
                </a:solidFill>
                <a:latin typeface="Calibri" pitchFamily="34" charset="0"/>
                <a:ea typeface="Calibri" pitchFamily="34" charset="-122"/>
                <a:cs typeface="Calibri" pitchFamily="34" charset="-120"/>
              </a:rPr>
              <a:t>Se recorre el recto inferior y medio en la vista axial Se recorre el recto medio y superior hasta la transición rectosigmoidea El operador vuelve a descender por los cortes axiales mostrando la extensión inferior del recto Se cambia a la vista multiplanar, mostrando cortes coronal, sagital, axial y 3D Se amplía la vista sagital para evaluar el contorneo del recto Se regresa a la vista multiplanar de 4 cuadrantes</a:t>
            </a:r>
            <a:endParaRPr lang="en-US" sz="1200" dirty="0"/>
          </a:p>
        </p:txBody>
      </p:sp>
      <p:sp>
        <p:nvSpPr>
          <p:cNvPr id="8" name="Shape 5"/>
          <p:cNvSpPr/>
          <p:nvPr/>
        </p:nvSpPr>
        <p:spPr>
          <a:xfrm>
            <a:off x="8138160" y="3749040"/>
            <a:ext cx="2468880" cy="292608"/>
          </a:xfrm>
          <a:prstGeom prst="roundRect">
            <a:avLst>
              <a:gd name="adj" fmla="val 50000"/>
            </a:avLst>
          </a:prstGeom>
          <a:solidFill>
            <a:srgbClr val="E63946"/>
          </a:solidFill>
          <a:ln w="12700">
            <a:solidFill>
              <a:srgbClr val="E63946"/>
            </a:solidFill>
            <a:prstDash val="solid"/>
          </a:ln>
        </p:spPr>
      </p:sp>
      <p:sp>
        <p:nvSpPr>
          <p:cNvPr id="9" name="Text 6"/>
          <p:cNvSpPr txBox="1"/>
          <p:nvPr/>
        </p:nvSpPr>
        <p:spPr>
          <a:xfrm>
            <a:off x="8138160" y="3749040"/>
            <a:ext cx="2468880"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QUÉ DEBE NOTAR EL ALUMNO</a:t>
            </a:r>
            <a:endParaRPr lang="en-US" sz="1050" dirty="0"/>
          </a:p>
        </p:txBody>
      </p:sp>
      <p:sp>
        <p:nvSpPr>
          <p:cNvPr id="10" name="Text 7"/>
          <p:cNvSpPr txBox="1"/>
          <p:nvPr/>
        </p:nvSpPr>
        <p:spPr>
          <a:xfrm>
            <a:off x="8138160" y="4114800"/>
            <a:ext cx="3474720" cy="1828800"/>
          </a:xfrm>
          <a:prstGeom prst="rect">
            <a:avLst/>
          </a:prstGeom>
          <a:noFill/>
          <a:ln/>
        </p:spPr>
        <p:txBody>
          <a:bodyPr wrap="square" lIns="0" tIns="0" rIns="0" bIns="0" rtlCol="0" anchor="t"/>
          <a:lstStyle/>
          <a:p>
            <a:pPr indent="0" marL="0">
              <a:buNone/>
            </a:pPr>
            <a:r>
              <a:rPr lang="en-US" sz="1200" dirty="0">
                <a:solidFill>
                  <a:srgbClr val="F3F4F6"/>
                </a:solidFill>
                <a:latin typeface="Calibri" pitchFamily="34" charset="0"/>
                <a:ea typeface="Calibri" pitchFamily="34" charset="-122"/>
                <a:cs typeface="Calibri" pitchFamily="34" charset="-120"/>
              </a:rPr>
              <a:t>Observar la forma circular o semi-ovalada del recto en la pelvis baja y su cercanía con la próstata/vesículas (o canal anal en cortes más inferiores). Identificar el límite superior del recto, que comúnmente se define donde el órgano pierde su forma fija y se orienta anteriormente para formar el sigmoides. Es útil notar que el recto se continúa inferiormente con el canal anal al nivel donde el músculo puborrectal abraza el tubo digestivo. La vista multiplanar es esencial para corroborar la consistencia espacial del contorneo de estructuras cilíndricas como el recto. En el plano sagital se aprecia claramente la curvatura sacra que sigue el recto, y la separación anterior con la vejiga y próstata/vagina. Las transiciones de vista ayudan a verificar la coherencia anatómica en los tres ejes antes de focalizarse en un nuevo OAR.</a:t>
            </a:r>
            <a:endParaRPr lang="en-US" sz="1200" dirty="0"/>
          </a:p>
        </p:txBody>
      </p:sp>
      <p:sp>
        <p:nvSpPr>
          <p:cNvPr id="11" name="Text 8"/>
          <p:cNvSpPr txBox="1"/>
          <p:nvPr/>
        </p:nvSpPr>
        <p:spPr>
          <a:xfrm>
            <a:off x="8138160" y="5989320"/>
            <a:ext cx="3474720" cy="365760"/>
          </a:xfrm>
          <a:prstGeom prst="rect">
            <a:avLst/>
          </a:prstGeom>
          <a:noFill/>
          <a:ln/>
        </p:spPr>
        <p:txBody>
          <a:bodyPr wrap="square" lIns="0" tIns="0" rIns="0" bIns="0" rtlCol="0" anchor="ctr"/>
          <a:lstStyle/>
          <a:p>
            <a:pPr indent="0" marL="0">
              <a:buNone/>
            </a:pPr>
            <a:r>
              <a:rPr lang="en-US" sz="1000" dirty="0">
                <a:solidFill>
                  <a:srgbClr val="A9B4C7"/>
                </a:solidFill>
                <a:latin typeface="Calibri" pitchFamily="34" charset="0"/>
                <a:ea typeface="Calibri" pitchFamily="34" charset="-122"/>
                <a:cs typeface="Calibri" pitchFamily="34" charset="-120"/>
              </a:rPr>
              <a:t>34 s de video a x3 · axial/multiplanar/sagital · cambia vista, recorre cortes, zoom</a:t>
            </a:r>
            <a:endParaRPr lang="en-US" sz="1000" dirty="0"/>
          </a:p>
        </p:txBody>
      </p:sp>
      <p:sp>
        <p:nvSpPr>
          <p:cNvPr id="12" name="Text 9"/>
          <p:cNvSpPr txBox="1"/>
          <p:nvPr/>
        </p:nvSpPr>
        <p:spPr>
          <a:xfrm>
            <a:off x="548640" y="6419088"/>
            <a:ext cx="11064240" cy="274320"/>
          </a:xfrm>
          <a:prstGeom prst="rect">
            <a:avLst/>
          </a:prstGeom>
          <a:noFill/>
          <a:ln/>
        </p:spPr>
        <p:txBody>
          <a:bodyPr wrap="square" lIns="0" tIns="0" rIns="0" bIns="0" rtlCol="0" anchor="ctr"/>
          <a:lstStyle/>
          <a:p>
            <a:pPr indent="0" marL="0">
              <a:buNone/>
            </a:pPr>
            <a:r>
              <a:rPr lang="en-US" sz="900" dirty="0">
                <a:solidFill>
                  <a:srgbClr val="A9B4C7"/>
                </a:solidFill>
                <a:latin typeface="Calibri" pitchFamily="34" charset="0"/>
                <a:ea typeface="Calibri" pitchFamily="34" charset="-122"/>
                <a:cs typeface="Calibri" pitchFamily="34" charset="-120"/>
              </a:rPr>
              <a:t>Clic sobre la imagen para reproducir el clip. Grabación de pantalla de Eclipse (Varian), INC 2026, anonimizada. Uso docente.</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E1726"/>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320040"/>
          </a:xfrm>
          <a:prstGeom prst="rect">
            <a:avLst/>
          </a:prstGeom>
          <a:noFill/>
          <a:ln/>
        </p:spPr>
        <p:txBody>
          <a:bodyPr wrap="square" lIns="0" tIns="0" rIns="0" bIns="0" rtlCol="0" anchor="ctr"/>
          <a:lstStyle/>
          <a:p>
            <a:pPr indent="0" marL="0">
              <a:buNone/>
            </a:pPr>
            <a:r>
              <a:rPr lang="en-US" sz="1200" b="1" spc="200" kern="0" dirty="0">
                <a:solidFill>
                  <a:srgbClr val="F2C14E"/>
                </a:solidFill>
                <a:latin typeface="Calibri" pitchFamily="34" charset="0"/>
                <a:ea typeface="Calibri" pitchFamily="34" charset="-122"/>
                <a:cs typeface="Calibri" pitchFamily="34" charset="-120"/>
              </a:rPr>
              <a:t>RECTO · OAR · CONTORNEO</a:t>
            </a:r>
            <a:endParaRPr lang="en-US" sz="1200" dirty="0"/>
          </a:p>
        </p:txBody>
      </p:sp>
      <p:sp>
        <p:nvSpPr>
          <p:cNvPr id="3" name="Text 1"/>
          <p:cNvSpPr txBox="1"/>
          <p:nvPr/>
        </p:nvSpPr>
        <p:spPr>
          <a:xfrm>
            <a:off x="548640" y="685800"/>
            <a:ext cx="11064240" cy="822960"/>
          </a:xfrm>
          <a:prstGeom prst="rect">
            <a:avLst/>
          </a:prstGeom>
          <a:noFill/>
          <a:ln/>
        </p:spPr>
        <p:txBody>
          <a:bodyPr wrap="square" lIns="0" tIns="0" rIns="0" bIns="0" rtlCol="0" anchor="t"/>
          <a:lstStyle/>
          <a:p>
            <a:pPr indent="0" marL="0">
              <a:buNone/>
            </a:pPr>
            <a:r>
              <a:rPr lang="en-US" sz="3000" b="1" dirty="0">
                <a:solidFill>
                  <a:srgbClr val="F3F4F6"/>
                </a:solidFill>
                <a:latin typeface="Calibri" pitchFamily="34" charset="0"/>
                <a:ea typeface="Calibri" pitchFamily="34" charset="-122"/>
                <a:cs typeface="Calibri" pitchFamily="34" charset="-120"/>
              </a:rPr>
              <a:t>Pene</a:t>
            </a:r>
            <a:endParaRPr lang="en-US" sz="3000" dirty="0"/>
          </a:p>
        </p:txBody>
      </p:sp>
      <p:pic>
        <p:nvPicPr>
          <p:cNvPr id="3" name="Media 0">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548640" y="1600200"/>
            <a:ext cx="7315200" cy="4754880"/>
          </a:xfrm>
          <a:prstGeom prst="rect">
            <a:avLst/>
          </a:prstGeom>
        </p:spPr>
      </p:pic>
      <p:sp>
        <p:nvSpPr>
          <p:cNvPr id="5" name="Shape 2"/>
          <p:cNvSpPr/>
          <p:nvPr/>
        </p:nvSpPr>
        <p:spPr>
          <a:xfrm>
            <a:off x="8138160" y="1600200"/>
            <a:ext cx="1371600" cy="292608"/>
          </a:xfrm>
          <a:prstGeom prst="roundRect">
            <a:avLst>
              <a:gd name="adj" fmla="val 50000"/>
            </a:avLst>
          </a:prstGeom>
          <a:solidFill>
            <a:srgbClr val="1C2B47"/>
          </a:solidFill>
          <a:ln w="12700">
            <a:solidFill>
              <a:srgbClr val="1C2B47"/>
            </a:solidFill>
            <a:prstDash val="solid"/>
          </a:ln>
        </p:spPr>
      </p:sp>
      <p:sp>
        <p:nvSpPr>
          <p:cNvPr id="6" name="Text 3"/>
          <p:cNvSpPr txBox="1"/>
          <p:nvPr/>
        </p:nvSpPr>
        <p:spPr>
          <a:xfrm>
            <a:off x="8138160" y="1600200"/>
            <a:ext cx="1371600"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QUÉ SE VE</a:t>
            </a:r>
            <a:endParaRPr lang="en-US" sz="1050" dirty="0"/>
          </a:p>
        </p:txBody>
      </p:sp>
      <p:sp>
        <p:nvSpPr>
          <p:cNvPr id="7" name="Text 4"/>
          <p:cNvSpPr txBox="1"/>
          <p:nvPr/>
        </p:nvSpPr>
        <p:spPr>
          <a:xfrm>
            <a:off x="8138160" y="1965960"/>
            <a:ext cx="3474720" cy="1737360"/>
          </a:xfrm>
          <a:prstGeom prst="rect">
            <a:avLst/>
          </a:prstGeom>
          <a:noFill/>
          <a:ln/>
        </p:spPr>
        <p:txBody>
          <a:bodyPr wrap="square" lIns="0" tIns="0" rIns="0" bIns="0" rtlCol="0" anchor="t"/>
          <a:lstStyle/>
          <a:p>
            <a:pPr indent="0" marL="0">
              <a:buNone/>
            </a:pPr>
            <a:r>
              <a:rPr lang="en-US" sz="1200" dirty="0">
                <a:solidFill>
                  <a:srgbClr val="F3F4F6"/>
                </a:solidFill>
                <a:latin typeface="Calibri" pitchFamily="34" charset="0"/>
                <a:ea typeface="Calibri" pitchFamily="34" charset="-122"/>
                <a:cs typeface="Calibri" pitchFamily="34" charset="-120"/>
              </a:rPr>
              <a:t>Se maximiza el plano axial y se enciende la estructura Pene en la lista</a:t>
            </a:r>
            <a:endParaRPr lang="en-US" sz="1200" dirty="0"/>
          </a:p>
        </p:txBody>
      </p:sp>
      <p:sp>
        <p:nvSpPr>
          <p:cNvPr id="8" name="Shape 5"/>
          <p:cNvSpPr/>
          <p:nvPr/>
        </p:nvSpPr>
        <p:spPr>
          <a:xfrm>
            <a:off x="8138160" y="3749040"/>
            <a:ext cx="2468880" cy="292608"/>
          </a:xfrm>
          <a:prstGeom prst="roundRect">
            <a:avLst>
              <a:gd name="adj" fmla="val 50000"/>
            </a:avLst>
          </a:prstGeom>
          <a:solidFill>
            <a:srgbClr val="E63946"/>
          </a:solidFill>
          <a:ln w="12700">
            <a:solidFill>
              <a:srgbClr val="E63946"/>
            </a:solidFill>
            <a:prstDash val="solid"/>
          </a:ln>
        </p:spPr>
      </p:sp>
      <p:sp>
        <p:nvSpPr>
          <p:cNvPr id="9" name="Text 6"/>
          <p:cNvSpPr txBox="1"/>
          <p:nvPr/>
        </p:nvSpPr>
        <p:spPr>
          <a:xfrm>
            <a:off x="8138160" y="3749040"/>
            <a:ext cx="2468880"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QUÉ DEBE NOTAR EL ALUMNO</a:t>
            </a:r>
            <a:endParaRPr lang="en-US" sz="1050" dirty="0"/>
          </a:p>
        </p:txBody>
      </p:sp>
      <p:sp>
        <p:nvSpPr>
          <p:cNvPr id="10" name="Text 7"/>
          <p:cNvSpPr txBox="1"/>
          <p:nvPr/>
        </p:nvSpPr>
        <p:spPr>
          <a:xfrm>
            <a:off x="8138160" y="4114800"/>
            <a:ext cx="3474720" cy="1828800"/>
          </a:xfrm>
          <a:prstGeom prst="rect">
            <a:avLst/>
          </a:prstGeom>
          <a:noFill/>
          <a:ln/>
        </p:spPr>
        <p:txBody>
          <a:bodyPr wrap="square" lIns="0" tIns="0" rIns="0" bIns="0" rtlCol="0" anchor="t"/>
          <a:lstStyle/>
          <a:p>
            <a:pPr indent="0" marL="0">
              <a:buNone/>
            </a:pPr>
            <a:r>
              <a:rPr lang="en-US" sz="1200" dirty="0">
                <a:solidFill>
                  <a:srgbClr val="F3F4F6"/>
                </a:solidFill>
                <a:latin typeface="Calibri" pitchFamily="34" charset="0"/>
                <a:ea typeface="Calibri" pitchFamily="34" charset="-122"/>
                <a:cs typeface="Calibri" pitchFamily="34" charset="-120"/>
              </a:rPr>
              <a:t>El pene se contornea como OAR para evaluar la dosis en tratamientos de pelvis (ej. próstata) y prevenir disfunción eréctil.</a:t>
            </a:r>
            <a:endParaRPr lang="en-US" sz="1200" dirty="0"/>
          </a:p>
        </p:txBody>
      </p:sp>
      <p:sp>
        <p:nvSpPr>
          <p:cNvPr id="11" name="Text 8"/>
          <p:cNvSpPr txBox="1"/>
          <p:nvPr/>
        </p:nvSpPr>
        <p:spPr>
          <a:xfrm>
            <a:off x="8138160" y="5989320"/>
            <a:ext cx="3474720" cy="365760"/>
          </a:xfrm>
          <a:prstGeom prst="rect">
            <a:avLst/>
          </a:prstGeom>
          <a:noFill/>
          <a:ln/>
        </p:spPr>
        <p:txBody>
          <a:bodyPr wrap="square" lIns="0" tIns="0" rIns="0" bIns="0" rtlCol="0" anchor="ctr"/>
          <a:lstStyle/>
          <a:p>
            <a:pPr indent="0" marL="0">
              <a:buNone/>
            </a:pPr>
            <a:r>
              <a:rPr lang="en-US" sz="1000" dirty="0">
                <a:solidFill>
                  <a:srgbClr val="A9B4C7"/>
                </a:solidFill>
                <a:latin typeface="Calibri" pitchFamily="34" charset="0"/>
                <a:ea typeface="Calibri" pitchFamily="34" charset="-122"/>
                <a:cs typeface="Calibri" pitchFamily="34" charset="-120"/>
              </a:rPr>
              <a:t>7 s de video · axial · muestra</a:t>
            </a:r>
            <a:endParaRPr lang="en-US" sz="1000" dirty="0"/>
          </a:p>
        </p:txBody>
      </p:sp>
      <p:sp>
        <p:nvSpPr>
          <p:cNvPr id="12" name="Text 9"/>
          <p:cNvSpPr txBox="1"/>
          <p:nvPr/>
        </p:nvSpPr>
        <p:spPr>
          <a:xfrm>
            <a:off x="548640" y="6419088"/>
            <a:ext cx="11064240" cy="274320"/>
          </a:xfrm>
          <a:prstGeom prst="rect">
            <a:avLst/>
          </a:prstGeom>
          <a:noFill/>
          <a:ln/>
        </p:spPr>
        <p:txBody>
          <a:bodyPr wrap="square" lIns="0" tIns="0" rIns="0" bIns="0" rtlCol="0" anchor="ctr"/>
          <a:lstStyle/>
          <a:p>
            <a:pPr indent="0" marL="0">
              <a:buNone/>
            </a:pPr>
            <a:r>
              <a:rPr lang="en-US" sz="900" dirty="0">
                <a:solidFill>
                  <a:srgbClr val="A9B4C7"/>
                </a:solidFill>
                <a:latin typeface="Calibri" pitchFamily="34" charset="0"/>
                <a:ea typeface="Calibri" pitchFamily="34" charset="-122"/>
                <a:cs typeface="Calibri" pitchFamily="34" charset="-120"/>
              </a:rPr>
              <a:t>Clic sobre la imagen para reproducir el clip. Grabación de pantalla de Eclipse (Varian), INC 2026, anonimizada. Uso docente.</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E1726"/>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320040"/>
          </a:xfrm>
          <a:prstGeom prst="rect">
            <a:avLst/>
          </a:prstGeom>
          <a:noFill/>
          <a:ln/>
        </p:spPr>
        <p:txBody>
          <a:bodyPr wrap="square" lIns="0" tIns="0" rIns="0" bIns="0" rtlCol="0" anchor="ctr"/>
          <a:lstStyle/>
          <a:p>
            <a:pPr indent="0" marL="0">
              <a:buNone/>
            </a:pPr>
            <a:r>
              <a:rPr lang="en-US" sz="1200" b="1" spc="200" kern="0" dirty="0">
                <a:solidFill>
                  <a:srgbClr val="F2C14E"/>
                </a:solidFill>
                <a:latin typeface="Calibri" pitchFamily="34" charset="0"/>
                <a:ea typeface="Calibri" pitchFamily="34" charset="-122"/>
                <a:cs typeface="Calibri" pitchFamily="34" charset="-120"/>
              </a:rPr>
              <a:t>RECTO · OAR · CONTORNEO</a:t>
            </a:r>
            <a:endParaRPr lang="en-US" sz="1200" dirty="0"/>
          </a:p>
        </p:txBody>
      </p:sp>
      <p:sp>
        <p:nvSpPr>
          <p:cNvPr id="3" name="Text 1"/>
          <p:cNvSpPr txBox="1"/>
          <p:nvPr/>
        </p:nvSpPr>
        <p:spPr>
          <a:xfrm>
            <a:off x="548640" y="685800"/>
            <a:ext cx="11064240" cy="822960"/>
          </a:xfrm>
          <a:prstGeom prst="rect">
            <a:avLst/>
          </a:prstGeom>
          <a:noFill/>
          <a:ln/>
        </p:spPr>
        <p:txBody>
          <a:bodyPr wrap="square" lIns="0" tIns="0" rIns="0" bIns="0" rtlCol="0" anchor="t"/>
          <a:lstStyle/>
          <a:p>
            <a:pPr indent="0" marL="0">
              <a:buNone/>
            </a:pPr>
            <a:r>
              <a:rPr lang="en-US" sz="3000" b="1" dirty="0">
                <a:solidFill>
                  <a:srgbClr val="F3F4F6"/>
                </a:solidFill>
                <a:latin typeface="Calibri" pitchFamily="34" charset="0"/>
                <a:ea typeface="Calibri" pitchFamily="34" charset="-122"/>
                <a:cs typeface="Calibri" pitchFamily="34" charset="-120"/>
              </a:rPr>
              <a:t>Canal Anal</a:t>
            </a:r>
            <a:endParaRPr lang="en-US" sz="3000" dirty="0"/>
          </a:p>
        </p:txBody>
      </p:sp>
      <p:pic>
        <p:nvPicPr>
          <p:cNvPr id="3" name="Media 0">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548640" y="1600200"/>
            <a:ext cx="7315200" cy="4754880"/>
          </a:xfrm>
          <a:prstGeom prst="rect">
            <a:avLst/>
          </a:prstGeom>
        </p:spPr>
      </p:pic>
      <p:sp>
        <p:nvSpPr>
          <p:cNvPr id="5" name="Shape 2"/>
          <p:cNvSpPr/>
          <p:nvPr/>
        </p:nvSpPr>
        <p:spPr>
          <a:xfrm>
            <a:off x="8138160" y="1600200"/>
            <a:ext cx="1371600" cy="292608"/>
          </a:xfrm>
          <a:prstGeom prst="roundRect">
            <a:avLst>
              <a:gd name="adj" fmla="val 50000"/>
            </a:avLst>
          </a:prstGeom>
          <a:solidFill>
            <a:srgbClr val="1C2B47"/>
          </a:solidFill>
          <a:ln w="12700">
            <a:solidFill>
              <a:srgbClr val="1C2B47"/>
            </a:solidFill>
            <a:prstDash val="solid"/>
          </a:ln>
        </p:spPr>
      </p:sp>
      <p:sp>
        <p:nvSpPr>
          <p:cNvPr id="6" name="Text 3"/>
          <p:cNvSpPr txBox="1"/>
          <p:nvPr/>
        </p:nvSpPr>
        <p:spPr>
          <a:xfrm>
            <a:off x="8138160" y="1600200"/>
            <a:ext cx="1371600"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QUÉ SE VE</a:t>
            </a:r>
            <a:endParaRPr lang="en-US" sz="1050" dirty="0"/>
          </a:p>
        </p:txBody>
      </p:sp>
      <p:sp>
        <p:nvSpPr>
          <p:cNvPr id="7" name="Text 4"/>
          <p:cNvSpPr txBox="1"/>
          <p:nvPr/>
        </p:nvSpPr>
        <p:spPr>
          <a:xfrm>
            <a:off x="8138160" y="1965960"/>
            <a:ext cx="3474720" cy="1737360"/>
          </a:xfrm>
          <a:prstGeom prst="rect">
            <a:avLst/>
          </a:prstGeom>
          <a:noFill/>
          <a:ln/>
        </p:spPr>
        <p:txBody>
          <a:bodyPr wrap="square" lIns="0" tIns="0" rIns="0" bIns="0" rtlCol="0" anchor="t"/>
          <a:lstStyle/>
          <a:p>
            <a:pPr indent="0" marL="0">
              <a:buNone/>
            </a:pPr>
            <a:r>
              <a:rPr lang="en-US" sz="1200" dirty="0">
                <a:solidFill>
                  <a:srgbClr val="F3F4F6"/>
                </a:solidFill>
                <a:latin typeface="Calibri" pitchFamily="34" charset="0"/>
                <a:ea typeface="Calibri" pitchFamily="34" charset="-122"/>
                <a:cs typeface="Calibri" pitchFamily="34" charset="-120"/>
              </a:rPr>
              <a:t>Se activa la estructura Canal Anal, visualizándose en el centro de la pelvis inferior Se abre la vista multiplanar para verificar el contorneo del Canal Anal Se maximiza la vista axial y se recorre el Canal Anal en dirección superior</a:t>
            </a:r>
            <a:endParaRPr lang="en-US" sz="1200" dirty="0"/>
          </a:p>
        </p:txBody>
      </p:sp>
      <p:sp>
        <p:nvSpPr>
          <p:cNvPr id="8" name="Shape 5"/>
          <p:cNvSpPr/>
          <p:nvPr/>
        </p:nvSpPr>
        <p:spPr>
          <a:xfrm>
            <a:off x="8138160" y="3749040"/>
            <a:ext cx="2468880" cy="292608"/>
          </a:xfrm>
          <a:prstGeom prst="roundRect">
            <a:avLst>
              <a:gd name="adj" fmla="val 50000"/>
            </a:avLst>
          </a:prstGeom>
          <a:solidFill>
            <a:srgbClr val="E63946"/>
          </a:solidFill>
          <a:ln w="12700">
            <a:solidFill>
              <a:srgbClr val="E63946"/>
            </a:solidFill>
            <a:prstDash val="solid"/>
          </a:ln>
        </p:spPr>
      </p:sp>
      <p:sp>
        <p:nvSpPr>
          <p:cNvPr id="9" name="Text 6"/>
          <p:cNvSpPr txBox="1"/>
          <p:nvPr/>
        </p:nvSpPr>
        <p:spPr>
          <a:xfrm>
            <a:off x="8138160" y="3749040"/>
            <a:ext cx="2468880"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QUÉ DEBE NOTAR EL ALUMNO</a:t>
            </a:r>
            <a:endParaRPr lang="en-US" sz="1050" dirty="0"/>
          </a:p>
        </p:txBody>
      </p:sp>
      <p:sp>
        <p:nvSpPr>
          <p:cNvPr id="10" name="Text 7"/>
          <p:cNvSpPr txBox="1"/>
          <p:nvPr/>
        </p:nvSpPr>
        <p:spPr>
          <a:xfrm>
            <a:off x="8138160" y="4114800"/>
            <a:ext cx="3474720" cy="1828800"/>
          </a:xfrm>
          <a:prstGeom prst="rect">
            <a:avLst/>
          </a:prstGeom>
          <a:noFill/>
          <a:ln/>
        </p:spPr>
        <p:txBody>
          <a:bodyPr wrap="square" lIns="0" tIns="0" rIns="0" bIns="0" rtlCol="0" anchor="t"/>
          <a:lstStyle/>
          <a:p>
            <a:pPr indent="0" marL="0">
              <a:buNone/>
            </a:pPr>
            <a:r>
              <a:rPr lang="en-US" sz="1200" dirty="0">
                <a:solidFill>
                  <a:srgbClr val="F3F4F6"/>
                </a:solidFill>
                <a:latin typeface="Calibri" pitchFamily="34" charset="0"/>
                <a:ea typeface="Calibri" pitchFamily="34" charset="-122"/>
                <a:cs typeface="Calibri" pitchFamily="34" charset="-120"/>
              </a:rPr>
              <a:t>El canal anal es un OAR crítico independiente del recto. Se ubica en los cortes más inferiores, rodeado por el complejo esfinteriano. En sagital y coronal se distingue claramente la separación entre el canal anal (inferior) y el recto (superior). Notar la transición donde el canal anal se convierte en el recto, justo por encima de la inserción del músculo elevador del ano.</a:t>
            </a:r>
            <a:endParaRPr lang="en-US" sz="1200" dirty="0"/>
          </a:p>
        </p:txBody>
      </p:sp>
      <p:sp>
        <p:nvSpPr>
          <p:cNvPr id="11" name="Text 8"/>
          <p:cNvSpPr txBox="1"/>
          <p:nvPr/>
        </p:nvSpPr>
        <p:spPr>
          <a:xfrm>
            <a:off x="8138160" y="5989320"/>
            <a:ext cx="3474720" cy="365760"/>
          </a:xfrm>
          <a:prstGeom prst="rect">
            <a:avLst/>
          </a:prstGeom>
          <a:noFill/>
          <a:ln/>
        </p:spPr>
        <p:txBody>
          <a:bodyPr wrap="square" lIns="0" tIns="0" rIns="0" bIns="0" rtlCol="0" anchor="ctr"/>
          <a:lstStyle/>
          <a:p>
            <a:pPr indent="0" marL="0">
              <a:buNone/>
            </a:pPr>
            <a:r>
              <a:rPr lang="en-US" sz="1000" dirty="0">
                <a:solidFill>
                  <a:srgbClr val="A9B4C7"/>
                </a:solidFill>
                <a:latin typeface="Calibri" pitchFamily="34" charset="0"/>
                <a:ea typeface="Calibri" pitchFamily="34" charset="-122"/>
                <a:cs typeface="Calibri" pitchFamily="34" charset="-120"/>
              </a:rPr>
              <a:t>17 s de video a x1 · axial/multiplanar · cambia vista, muestra, recorre cortes</a:t>
            </a:r>
            <a:endParaRPr lang="en-US" sz="1000" dirty="0"/>
          </a:p>
        </p:txBody>
      </p:sp>
      <p:sp>
        <p:nvSpPr>
          <p:cNvPr id="12" name="Text 9"/>
          <p:cNvSpPr txBox="1"/>
          <p:nvPr/>
        </p:nvSpPr>
        <p:spPr>
          <a:xfrm>
            <a:off x="548640" y="6419088"/>
            <a:ext cx="11064240" cy="274320"/>
          </a:xfrm>
          <a:prstGeom prst="rect">
            <a:avLst/>
          </a:prstGeom>
          <a:noFill/>
          <a:ln/>
        </p:spPr>
        <p:txBody>
          <a:bodyPr wrap="square" lIns="0" tIns="0" rIns="0" bIns="0" rtlCol="0" anchor="ctr"/>
          <a:lstStyle/>
          <a:p>
            <a:pPr indent="0" marL="0">
              <a:buNone/>
            </a:pPr>
            <a:r>
              <a:rPr lang="en-US" sz="900" dirty="0">
                <a:solidFill>
                  <a:srgbClr val="A9B4C7"/>
                </a:solidFill>
                <a:latin typeface="Calibri" pitchFamily="34" charset="0"/>
                <a:ea typeface="Calibri" pitchFamily="34" charset="-122"/>
                <a:cs typeface="Calibri" pitchFamily="34" charset="-120"/>
              </a:rPr>
              <a:t>Clic sobre la imagen para reproducir el clip. Grabación de pantalla de Eclipse (Varian), INC 2026, anonimizada. Uso docente.</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E1726"/>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320040"/>
          </a:xfrm>
          <a:prstGeom prst="rect">
            <a:avLst/>
          </a:prstGeom>
          <a:noFill/>
          <a:ln/>
        </p:spPr>
        <p:txBody>
          <a:bodyPr wrap="square" lIns="0" tIns="0" rIns="0" bIns="0" rtlCol="0" anchor="ctr"/>
          <a:lstStyle/>
          <a:p>
            <a:pPr indent="0" marL="0">
              <a:buNone/>
            </a:pPr>
            <a:r>
              <a:rPr lang="en-US" sz="1200" b="1" spc="200" kern="0" dirty="0">
                <a:solidFill>
                  <a:srgbClr val="F2C14E"/>
                </a:solidFill>
                <a:latin typeface="Calibri" pitchFamily="34" charset="0"/>
                <a:ea typeface="Calibri" pitchFamily="34" charset="-122"/>
                <a:cs typeface="Calibri" pitchFamily="34" charset="-120"/>
              </a:rPr>
              <a:t>RECTO · OAR · CONTORNEO</a:t>
            </a:r>
            <a:endParaRPr lang="en-US" sz="1200" dirty="0"/>
          </a:p>
        </p:txBody>
      </p:sp>
      <p:sp>
        <p:nvSpPr>
          <p:cNvPr id="3" name="Text 1"/>
          <p:cNvSpPr txBox="1"/>
          <p:nvPr/>
        </p:nvSpPr>
        <p:spPr>
          <a:xfrm>
            <a:off x="548640" y="685800"/>
            <a:ext cx="11064240" cy="822960"/>
          </a:xfrm>
          <a:prstGeom prst="rect">
            <a:avLst/>
          </a:prstGeom>
          <a:noFill/>
          <a:ln/>
        </p:spPr>
        <p:txBody>
          <a:bodyPr wrap="square" lIns="0" tIns="0" rIns="0" bIns="0" rtlCol="0" anchor="t"/>
          <a:lstStyle/>
          <a:p>
            <a:pPr indent="0" marL="0">
              <a:buNone/>
            </a:pPr>
            <a:r>
              <a:rPr lang="en-US" sz="3000" b="1" dirty="0">
                <a:solidFill>
                  <a:srgbClr val="F3F4F6"/>
                </a:solidFill>
                <a:latin typeface="Calibri" pitchFamily="34" charset="0"/>
                <a:ea typeface="Calibri" pitchFamily="34" charset="-122"/>
                <a:cs typeface="Calibri" pitchFamily="34" charset="-120"/>
              </a:rPr>
              <a:t>Pene</a:t>
            </a:r>
            <a:endParaRPr lang="en-US" sz="3000" dirty="0"/>
          </a:p>
        </p:txBody>
      </p:sp>
      <p:pic>
        <p:nvPicPr>
          <p:cNvPr id="3" name="Media 0">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548640" y="1600200"/>
            <a:ext cx="7315200" cy="4754880"/>
          </a:xfrm>
          <a:prstGeom prst="rect">
            <a:avLst/>
          </a:prstGeom>
        </p:spPr>
      </p:pic>
      <p:sp>
        <p:nvSpPr>
          <p:cNvPr id="5" name="Shape 2"/>
          <p:cNvSpPr/>
          <p:nvPr/>
        </p:nvSpPr>
        <p:spPr>
          <a:xfrm>
            <a:off x="8138160" y="1600200"/>
            <a:ext cx="1371600" cy="292608"/>
          </a:xfrm>
          <a:prstGeom prst="roundRect">
            <a:avLst>
              <a:gd name="adj" fmla="val 50000"/>
            </a:avLst>
          </a:prstGeom>
          <a:solidFill>
            <a:srgbClr val="1C2B47"/>
          </a:solidFill>
          <a:ln w="12700">
            <a:solidFill>
              <a:srgbClr val="1C2B47"/>
            </a:solidFill>
            <a:prstDash val="solid"/>
          </a:ln>
        </p:spPr>
      </p:sp>
      <p:sp>
        <p:nvSpPr>
          <p:cNvPr id="6" name="Text 3"/>
          <p:cNvSpPr txBox="1"/>
          <p:nvPr/>
        </p:nvSpPr>
        <p:spPr>
          <a:xfrm>
            <a:off x="8138160" y="1600200"/>
            <a:ext cx="1371600"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QUÉ SE VE</a:t>
            </a:r>
            <a:endParaRPr lang="en-US" sz="1050" dirty="0"/>
          </a:p>
        </p:txBody>
      </p:sp>
      <p:sp>
        <p:nvSpPr>
          <p:cNvPr id="7" name="Text 4"/>
          <p:cNvSpPr txBox="1"/>
          <p:nvPr/>
        </p:nvSpPr>
        <p:spPr>
          <a:xfrm>
            <a:off x="8138160" y="1965960"/>
            <a:ext cx="3474720" cy="1737360"/>
          </a:xfrm>
          <a:prstGeom prst="rect">
            <a:avLst/>
          </a:prstGeom>
          <a:noFill/>
          <a:ln/>
        </p:spPr>
        <p:txBody>
          <a:bodyPr wrap="square" lIns="0" tIns="0" rIns="0" bIns="0" rtlCol="0" anchor="t"/>
          <a:lstStyle/>
          <a:p>
            <a:pPr indent="0" marL="0">
              <a:buNone/>
            </a:pPr>
            <a:r>
              <a:rPr lang="en-US" sz="1200" dirty="0">
                <a:solidFill>
                  <a:srgbClr val="F3F4F6"/>
                </a:solidFill>
                <a:latin typeface="Calibri" pitchFamily="34" charset="0"/>
                <a:ea typeface="Calibri" pitchFamily="34" charset="-122"/>
                <a:cs typeface="Calibri" pitchFamily="34" charset="-120"/>
              </a:rPr>
              <a:t>Se vuelve a seleccionar y recorrer la estructura Pene en los cortes inferiores de la tomografía</a:t>
            </a:r>
            <a:endParaRPr lang="en-US" sz="1200" dirty="0"/>
          </a:p>
        </p:txBody>
      </p:sp>
      <p:sp>
        <p:nvSpPr>
          <p:cNvPr id="8" name="Shape 5"/>
          <p:cNvSpPr/>
          <p:nvPr/>
        </p:nvSpPr>
        <p:spPr>
          <a:xfrm>
            <a:off x="8138160" y="3749040"/>
            <a:ext cx="2468880" cy="292608"/>
          </a:xfrm>
          <a:prstGeom prst="roundRect">
            <a:avLst>
              <a:gd name="adj" fmla="val 50000"/>
            </a:avLst>
          </a:prstGeom>
          <a:solidFill>
            <a:srgbClr val="E63946"/>
          </a:solidFill>
          <a:ln w="12700">
            <a:solidFill>
              <a:srgbClr val="E63946"/>
            </a:solidFill>
            <a:prstDash val="solid"/>
          </a:ln>
        </p:spPr>
      </p:sp>
      <p:sp>
        <p:nvSpPr>
          <p:cNvPr id="9" name="Text 6"/>
          <p:cNvSpPr txBox="1"/>
          <p:nvPr/>
        </p:nvSpPr>
        <p:spPr>
          <a:xfrm>
            <a:off x="8138160" y="3749040"/>
            <a:ext cx="2468880"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QUÉ DEBE NOTAR EL ALUMNO</a:t>
            </a:r>
            <a:endParaRPr lang="en-US" sz="1050" dirty="0"/>
          </a:p>
        </p:txBody>
      </p:sp>
      <p:sp>
        <p:nvSpPr>
          <p:cNvPr id="10" name="Text 7"/>
          <p:cNvSpPr txBox="1"/>
          <p:nvPr/>
        </p:nvSpPr>
        <p:spPr>
          <a:xfrm>
            <a:off x="8138160" y="4114800"/>
            <a:ext cx="3474720" cy="1828800"/>
          </a:xfrm>
          <a:prstGeom prst="rect">
            <a:avLst/>
          </a:prstGeom>
          <a:noFill/>
          <a:ln/>
        </p:spPr>
        <p:txBody>
          <a:bodyPr wrap="square" lIns="0" tIns="0" rIns="0" bIns="0" rtlCol="0" anchor="t"/>
          <a:lstStyle/>
          <a:p>
            <a:pPr indent="0" marL="0">
              <a:buNone/>
            </a:pPr>
            <a:r>
              <a:rPr lang="en-US" sz="1200" dirty="0">
                <a:solidFill>
                  <a:srgbClr val="F3F4F6"/>
                </a:solidFill>
                <a:latin typeface="Calibri" pitchFamily="34" charset="0"/>
                <a:ea typeface="Calibri" pitchFamily="34" charset="-122"/>
                <a:cs typeface="Calibri" pitchFamily="34" charset="-120"/>
              </a:rPr>
              <a:t>El bulbo y el cuerpo del pene deben delimitarse con precisión; su contorneo se extiende desde la sínfisis púbica hacia la parte externa libre.</a:t>
            </a:r>
            <a:endParaRPr lang="en-US" sz="1200" dirty="0"/>
          </a:p>
        </p:txBody>
      </p:sp>
      <p:sp>
        <p:nvSpPr>
          <p:cNvPr id="11" name="Text 8"/>
          <p:cNvSpPr txBox="1"/>
          <p:nvPr/>
        </p:nvSpPr>
        <p:spPr>
          <a:xfrm>
            <a:off x="8138160" y="5989320"/>
            <a:ext cx="3474720" cy="365760"/>
          </a:xfrm>
          <a:prstGeom prst="rect">
            <a:avLst/>
          </a:prstGeom>
          <a:noFill/>
          <a:ln/>
        </p:spPr>
        <p:txBody>
          <a:bodyPr wrap="square" lIns="0" tIns="0" rIns="0" bIns="0" rtlCol="0" anchor="ctr"/>
          <a:lstStyle/>
          <a:p>
            <a:pPr indent="0" marL="0">
              <a:buNone/>
            </a:pPr>
            <a:r>
              <a:rPr lang="en-US" sz="1000" dirty="0">
                <a:solidFill>
                  <a:srgbClr val="A9B4C7"/>
                </a:solidFill>
                <a:latin typeface="Calibri" pitchFamily="34" charset="0"/>
                <a:ea typeface="Calibri" pitchFamily="34" charset="-122"/>
                <a:cs typeface="Calibri" pitchFamily="34" charset="-120"/>
              </a:rPr>
              <a:t>9 s de video · axial · recorre cortes</a:t>
            </a:r>
            <a:endParaRPr lang="en-US" sz="1000" dirty="0"/>
          </a:p>
        </p:txBody>
      </p:sp>
      <p:sp>
        <p:nvSpPr>
          <p:cNvPr id="12" name="Text 9"/>
          <p:cNvSpPr txBox="1"/>
          <p:nvPr/>
        </p:nvSpPr>
        <p:spPr>
          <a:xfrm>
            <a:off x="548640" y="6419088"/>
            <a:ext cx="11064240" cy="274320"/>
          </a:xfrm>
          <a:prstGeom prst="rect">
            <a:avLst/>
          </a:prstGeom>
          <a:noFill/>
          <a:ln/>
        </p:spPr>
        <p:txBody>
          <a:bodyPr wrap="square" lIns="0" tIns="0" rIns="0" bIns="0" rtlCol="0" anchor="ctr"/>
          <a:lstStyle/>
          <a:p>
            <a:pPr indent="0" marL="0">
              <a:buNone/>
            </a:pPr>
            <a:r>
              <a:rPr lang="en-US" sz="900" dirty="0">
                <a:solidFill>
                  <a:srgbClr val="A9B4C7"/>
                </a:solidFill>
                <a:latin typeface="Calibri" pitchFamily="34" charset="0"/>
                <a:ea typeface="Calibri" pitchFamily="34" charset="-122"/>
                <a:cs typeface="Calibri" pitchFamily="34" charset="-120"/>
              </a:rPr>
              <a:t>Clic sobre la imagen para reproducir el clip. Grabación de pantalla de Eclipse (Varian), INC 2026, anonimizada. Uso docente.</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E1726"/>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320040"/>
          </a:xfrm>
          <a:prstGeom prst="rect">
            <a:avLst/>
          </a:prstGeom>
          <a:noFill/>
          <a:ln/>
        </p:spPr>
        <p:txBody>
          <a:bodyPr wrap="square" lIns="0" tIns="0" rIns="0" bIns="0" rtlCol="0" anchor="ctr"/>
          <a:lstStyle/>
          <a:p>
            <a:pPr indent="0" marL="0">
              <a:buNone/>
            </a:pPr>
            <a:r>
              <a:rPr lang="en-US" sz="1200" b="1" spc="200" kern="0" dirty="0">
                <a:solidFill>
                  <a:srgbClr val="F2C14E"/>
                </a:solidFill>
                <a:latin typeface="Calibri" pitchFamily="34" charset="0"/>
                <a:ea typeface="Calibri" pitchFamily="34" charset="-122"/>
                <a:cs typeface="Calibri" pitchFamily="34" charset="-120"/>
              </a:rPr>
              <a:t>RECTO · GENERAL · CONTORNEO</a:t>
            </a:r>
            <a:endParaRPr lang="en-US" sz="1200" dirty="0"/>
          </a:p>
        </p:txBody>
      </p:sp>
      <p:sp>
        <p:nvSpPr>
          <p:cNvPr id="3" name="Text 1"/>
          <p:cNvSpPr txBox="1"/>
          <p:nvPr/>
        </p:nvSpPr>
        <p:spPr>
          <a:xfrm>
            <a:off x="548640" y="685800"/>
            <a:ext cx="11064240" cy="822960"/>
          </a:xfrm>
          <a:prstGeom prst="rect">
            <a:avLst/>
          </a:prstGeom>
          <a:noFill/>
          <a:ln/>
        </p:spPr>
        <p:txBody>
          <a:bodyPr wrap="square" lIns="0" tIns="0" rIns="0" bIns="0" rtlCol="0" anchor="t"/>
          <a:lstStyle/>
          <a:p>
            <a:pPr indent="0" marL="0">
              <a:buNone/>
            </a:pPr>
            <a:r>
              <a:rPr lang="en-US" sz="3000" b="1" dirty="0">
                <a:solidFill>
                  <a:srgbClr val="F3F4F6"/>
                </a:solidFill>
                <a:latin typeface="Calibri" pitchFamily="34" charset="0"/>
                <a:ea typeface="Calibri" pitchFamily="34" charset="-122"/>
                <a:cs typeface="Calibri" pitchFamily="34" charset="-120"/>
              </a:rPr>
              <a:t>general</a:t>
            </a:r>
            <a:endParaRPr lang="en-US" sz="3000" dirty="0"/>
          </a:p>
        </p:txBody>
      </p:sp>
      <p:pic>
        <p:nvPicPr>
          <p:cNvPr id="3" name="Media 0">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548640" y="1600200"/>
            <a:ext cx="7315200" cy="4754880"/>
          </a:xfrm>
          <a:prstGeom prst="rect">
            <a:avLst/>
          </a:prstGeom>
        </p:spPr>
      </p:pic>
      <p:sp>
        <p:nvSpPr>
          <p:cNvPr id="5" name="Shape 2"/>
          <p:cNvSpPr/>
          <p:nvPr/>
        </p:nvSpPr>
        <p:spPr>
          <a:xfrm>
            <a:off x="8138160" y="1600200"/>
            <a:ext cx="1371600" cy="292608"/>
          </a:xfrm>
          <a:prstGeom prst="roundRect">
            <a:avLst>
              <a:gd name="adj" fmla="val 50000"/>
            </a:avLst>
          </a:prstGeom>
          <a:solidFill>
            <a:srgbClr val="1C2B47"/>
          </a:solidFill>
          <a:ln w="12700">
            <a:solidFill>
              <a:srgbClr val="1C2B47"/>
            </a:solidFill>
            <a:prstDash val="solid"/>
          </a:ln>
        </p:spPr>
      </p:sp>
      <p:sp>
        <p:nvSpPr>
          <p:cNvPr id="6" name="Text 3"/>
          <p:cNvSpPr txBox="1"/>
          <p:nvPr/>
        </p:nvSpPr>
        <p:spPr>
          <a:xfrm>
            <a:off x="8138160" y="1600200"/>
            <a:ext cx="1371600"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QUÉ SE VE</a:t>
            </a:r>
            <a:endParaRPr lang="en-US" sz="1050" dirty="0"/>
          </a:p>
        </p:txBody>
      </p:sp>
      <p:sp>
        <p:nvSpPr>
          <p:cNvPr id="7" name="Text 4"/>
          <p:cNvSpPr txBox="1"/>
          <p:nvPr/>
        </p:nvSpPr>
        <p:spPr>
          <a:xfrm>
            <a:off x="8138160" y="1965960"/>
            <a:ext cx="3474720" cy="1737360"/>
          </a:xfrm>
          <a:prstGeom prst="rect">
            <a:avLst/>
          </a:prstGeom>
          <a:noFill/>
          <a:ln/>
        </p:spPr>
        <p:txBody>
          <a:bodyPr wrap="square" lIns="0" tIns="0" rIns="0" bIns="0" rtlCol="0" anchor="t"/>
          <a:lstStyle/>
          <a:p>
            <a:pPr indent="0" marL="0">
              <a:buNone/>
            </a:pPr>
            <a:r>
              <a:rPr lang="en-US" sz="1200" dirty="0">
                <a:solidFill>
                  <a:srgbClr val="F3F4F6"/>
                </a:solidFill>
                <a:latin typeface="Calibri" pitchFamily="34" charset="0"/>
                <a:ea typeface="Calibri" pitchFamily="34" charset="-122"/>
                <a:cs typeface="Calibri" pitchFamily="34" charset="-120"/>
              </a:rPr>
              <a:t>El operador abre el software OBS para finalizar la grabación de pantalla</a:t>
            </a:r>
            <a:endParaRPr lang="en-US" sz="1200" dirty="0"/>
          </a:p>
        </p:txBody>
      </p:sp>
      <p:sp>
        <p:nvSpPr>
          <p:cNvPr id="8" name="Shape 5"/>
          <p:cNvSpPr/>
          <p:nvPr/>
        </p:nvSpPr>
        <p:spPr>
          <a:xfrm>
            <a:off x="8138160" y="3749040"/>
            <a:ext cx="2468880" cy="292608"/>
          </a:xfrm>
          <a:prstGeom prst="roundRect">
            <a:avLst>
              <a:gd name="adj" fmla="val 50000"/>
            </a:avLst>
          </a:prstGeom>
          <a:solidFill>
            <a:srgbClr val="E63946"/>
          </a:solidFill>
          <a:ln w="12700">
            <a:solidFill>
              <a:srgbClr val="E63946"/>
            </a:solidFill>
            <a:prstDash val="solid"/>
          </a:ln>
        </p:spPr>
      </p:sp>
      <p:sp>
        <p:nvSpPr>
          <p:cNvPr id="9" name="Text 6"/>
          <p:cNvSpPr txBox="1"/>
          <p:nvPr/>
        </p:nvSpPr>
        <p:spPr>
          <a:xfrm>
            <a:off x="8138160" y="3749040"/>
            <a:ext cx="2468880"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QUÉ DEBE NOTAR EL ALUMNO</a:t>
            </a:r>
            <a:endParaRPr lang="en-US" sz="1050" dirty="0"/>
          </a:p>
        </p:txBody>
      </p:sp>
      <p:sp>
        <p:nvSpPr>
          <p:cNvPr id="10" name="Text 7"/>
          <p:cNvSpPr txBox="1"/>
          <p:nvPr/>
        </p:nvSpPr>
        <p:spPr>
          <a:xfrm>
            <a:off x="8138160" y="4114800"/>
            <a:ext cx="3474720" cy="1828800"/>
          </a:xfrm>
          <a:prstGeom prst="rect">
            <a:avLst/>
          </a:prstGeom>
          <a:noFill/>
          <a:ln/>
        </p:spPr>
        <p:txBody>
          <a:bodyPr wrap="square" lIns="0" tIns="0" rIns="0" bIns="0" rtlCol="0" anchor="t"/>
          <a:lstStyle/>
          <a:p>
            <a:pPr indent="0" marL="0">
              <a:buNone/>
            </a:pPr>
            <a:r>
              <a:rPr lang="en-US" sz="1200" dirty="0">
                <a:solidFill>
                  <a:srgbClr val="F3F4F6"/>
                </a:solidFill>
                <a:latin typeface="Calibri" pitchFamily="34" charset="0"/>
                <a:ea typeface="Calibri" pitchFamily="34" charset="-122"/>
                <a:cs typeface="Calibri" pitchFamily="34" charset="-120"/>
              </a:rPr>
              <a:t>Fin de la demostración práctica de segmentación de OARs pélvicos inferiores.</a:t>
            </a:r>
            <a:endParaRPr lang="en-US" sz="1200" dirty="0"/>
          </a:p>
        </p:txBody>
      </p:sp>
      <p:sp>
        <p:nvSpPr>
          <p:cNvPr id="11" name="Text 8"/>
          <p:cNvSpPr txBox="1"/>
          <p:nvPr/>
        </p:nvSpPr>
        <p:spPr>
          <a:xfrm>
            <a:off x="8138160" y="5989320"/>
            <a:ext cx="3474720" cy="365760"/>
          </a:xfrm>
          <a:prstGeom prst="rect">
            <a:avLst/>
          </a:prstGeom>
          <a:noFill/>
          <a:ln/>
        </p:spPr>
        <p:txBody>
          <a:bodyPr wrap="square" lIns="0" tIns="0" rIns="0" bIns="0" rtlCol="0" anchor="ctr"/>
          <a:lstStyle/>
          <a:p>
            <a:pPr indent="0" marL="0">
              <a:buNone/>
            </a:pPr>
            <a:r>
              <a:rPr lang="en-US" sz="1000" dirty="0">
                <a:solidFill>
                  <a:srgbClr val="A9B4C7"/>
                </a:solidFill>
                <a:latin typeface="Calibri" pitchFamily="34" charset="0"/>
                <a:ea typeface="Calibri" pitchFamily="34" charset="-122"/>
                <a:cs typeface="Calibri" pitchFamily="34" charset="-120"/>
              </a:rPr>
              <a:t>3 s de video · axial · otro</a:t>
            </a:r>
            <a:endParaRPr lang="en-US" sz="1000" dirty="0"/>
          </a:p>
        </p:txBody>
      </p:sp>
      <p:sp>
        <p:nvSpPr>
          <p:cNvPr id="12" name="Text 9"/>
          <p:cNvSpPr txBox="1"/>
          <p:nvPr/>
        </p:nvSpPr>
        <p:spPr>
          <a:xfrm>
            <a:off x="548640" y="6419088"/>
            <a:ext cx="11064240" cy="274320"/>
          </a:xfrm>
          <a:prstGeom prst="rect">
            <a:avLst/>
          </a:prstGeom>
          <a:noFill/>
          <a:ln/>
        </p:spPr>
        <p:txBody>
          <a:bodyPr wrap="square" lIns="0" tIns="0" rIns="0" bIns="0" rtlCol="0" anchor="ctr"/>
          <a:lstStyle/>
          <a:p>
            <a:pPr indent="0" marL="0">
              <a:buNone/>
            </a:pPr>
            <a:r>
              <a:rPr lang="en-US" sz="900" dirty="0">
                <a:solidFill>
                  <a:srgbClr val="A9B4C7"/>
                </a:solidFill>
                <a:latin typeface="Calibri" pitchFamily="34" charset="0"/>
                <a:ea typeface="Calibri" pitchFamily="34" charset="-122"/>
                <a:cs typeface="Calibri" pitchFamily="34" charset="-120"/>
              </a:rPr>
              <a:t>Clic sobre la imagen para reproducir el clip. Grabación de pantalla de Eclipse (Varian), INC 2026, anonimizada. Uso docente.</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E1726"/>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320040"/>
          </a:xfrm>
          <a:prstGeom prst="rect">
            <a:avLst/>
          </a:prstGeom>
          <a:noFill/>
          <a:ln/>
        </p:spPr>
        <p:txBody>
          <a:bodyPr wrap="square" lIns="0" tIns="0" rIns="0" bIns="0" rtlCol="0" anchor="ctr"/>
          <a:lstStyle/>
          <a:p>
            <a:pPr indent="0" marL="0">
              <a:buNone/>
            </a:pPr>
            <a:r>
              <a:rPr lang="en-US" sz="1200" b="1" spc="200" kern="0" dirty="0">
                <a:solidFill>
                  <a:srgbClr val="F2C14E"/>
                </a:solidFill>
                <a:latin typeface="Calibri" pitchFamily="34" charset="0"/>
                <a:ea typeface="Calibri" pitchFamily="34" charset="-122"/>
                <a:cs typeface="Calibri" pitchFamily="34" charset="-120"/>
              </a:rPr>
              <a:t>CASO · RECTO · 3D</a:t>
            </a:r>
            <a:endParaRPr lang="en-US" sz="1200" dirty="0"/>
          </a:p>
        </p:txBody>
      </p:sp>
      <p:sp>
        <p:nvSpPr>
          <p:cNvPr id="3" name="Text 1"/>
          <p:cNvSpPr txBox="1"/>
          <p:nvPr/>
        </p:nvSpPr>
        <p:spPr>
          <a:xfrm>
            <a:off x="548640" y="685800"/>
            <a:ext cx="11064240" cy="822960"/>
          </a:xfrm>
          <a:prstGeom prst="rect">
            <a:avLst/>
          </a:prstGeom>
          <a:noFill/>
          <a:ln/>
        </p:spPr>
        <p:txBody>
          <a:bodyPr wrap="square" lIns="0" tIns="0" rIns="0" bIns="0" rtlCol="0" anchor="t"/>
          <a:lstStyle/>
          <a:p>
            <a:pPr indent="0" marL="0">
              <a:buNone/>
            </a:pPr>
            <a:r>
              <a:rPr lang="en-US" sz="2600" b="1" dirty="0">
                <a:solidFill>
                  <a:srgbClr val="F3F4F6"/>
                </a:solidFill>
                <a:latin typeface="Calibri" pitchFamily="34" charset="0"/>
                <a:ea typeface="Calibri" pitchFamily="34" charset="-122"/>
                <a:cs typeface="Calibri" pitchFamily="34" charset="-120"/>
              </a:rPr>
              <a:t>Revisión de Estructuras y Planificación de Haz Externo para Recto en Eclipse</a:t>
            </a:r>
            <a:endParaRPr lang="en-US" sz="2600" dirty="0"/>
          </a:p>
        </p:txBody>
      </p:sp>
      <p:sp>
        <p:nvSpPr>
          <p:cNvPr id="4" name="Text 2"/>
          <p:cNvSpPr txBox="1"/>
          <p:nvPr/>
        </p:nvSpPr>
        <p:spPr>
          <a:xfrm>
            <a:off x="548640" y="1600200"/>
            <a:ext cx="6766560" cy="2194560"/>
          </a:xfrm>
          <a:prstGeom prst="rect">
            <a:avLst/>
          </a:prstGeom>
          <a:noFill/>
          <a:ln/>
        </p:spPr>
        <p:txBody>
          <a:bodyPr wrap="square" lIns="0" tIns="0" rIns="0" bIns="0" rtlCol="0" anchor="t"/>
          <a:lstStyle/>
          <a:p>
            <a:pPr indent="0" marL="0">
              <a:buNone/>
            </a:pPr>
            <a:r>
              <a:rPr lang="en-US" sz="1350" dirty="0">
                <a:solidFill>
                  <a:srgbClr val="F3F4F6"/>
                </a:solidFill>
                <a:latin typeface="Calibri" pitchFamily="34" charset="0"/>
                <a:ea typeface="Calibri" pitchFamily="34" charset="-122"/>
                <a:cs typeface="Calibri" pitchFamily="34" charset="-120"/>
              </a:rPr>
              <a:t>El video muestra a un docente navegando por las estructuras anatómicas previamente segmentadas en un TC para un caso de cáncer de recto utilizando el módulo de Contorneo de Eclipse. Posteriormente, se traslada al módulo de Planificación de haz externo para cargar y evaluar un plan de radioterapia 3D ya calculado, analizando la disposición de los campos de tratamiento y las curvas de isodosis.</a:t>
            </a:r>
            <a:endParaRPr lang="en-US" sz="1350" dirty="0"/>
          </a:p>
        </p:txBody>
      </p:sp>
      <p:sp>
        <p:nvSpPr>
          <p:cNvPr id="5" name="Shape 3"/>
          <p:cNvSpPr/>
          <p:nvPr/>
        </p:nvSpPr>
        <p:spPr>
          <a:xfrm>
            <a:off x="548640" y="3886200"/>
            <a:ext cx="2377440" cy="292608"/>
          </a:xfrm>
          <a:prstGeom prst="roundRect">
            <a:avLst>
              <a:gd name="adj" fmla="val 50000"/>
            </a:avLst>
          </a:prstGeom>
          <a:solidFill>
            <a:srgbClr val="1C2B47"/>
          </a:solidFill>
          <a:ln w="12700">
            <a:solidFill>
              <a:srgbClr val="1C2B47"/>
            </a:solidFill>
            <a:prstDash val="solid"/>
          </a:ln>
        </p:spPr>
      </p:sp>
      <p:sp>
        <p:nvSpPr>
          <p:cNvPr id="6" name="Text 4"/>
          <p:cNvSpPr txBox="1"/>
          <p:nvPr/>
        </p:nvSpPr>
        <p:spPr>
          <a:xfrm>
            <a:off x="548640" y="3886200"/>
            <a:ext cx="2377440"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ESTRUCTURAS DEL CASO</a:t>
            </a:r>
            <a:endParaRPr lang="en-US" sz="1050" dirty="0"/>
          </a:p>
        </p:txBody>
      </p:sp>
      <p:sp>
        <p:nvSpPr>
          <p:cNvPr id="7" name="Text 5"/>
          <p:cNvSpPr txBox="1"/>
          <p:nvPr/>
        </p:nvSpPr>
        <p:spPr>
          <a:xfrm>
            <a:off x="548640" y="4251960"/>
            <a:ext cx="6766560" cy="2011680"/>
          </a:xfrm>
          <a:prstGeom prst="rect">
            <a:avLst/>
          </a:prstGeom>
          <a:noFill/>
          <a:ln/>
        </p:spPr>
        <p:txBody>
          <a:bodyPr wrap="square" lIns="0" tIns="0" rIns="0" bIns="0" rtlCol="0" anchor="t"/>
          <a:lstStyle/>
          <a:p>
            <a:pPr indent="0" marL="0">
              <a:buNone/>
            </a:pPr>
            <a:r>
              <a:rPr lang="en-US" sz="1150" dirty="0">
                <a:solidFill>
                  <a:srgbClr val="A9B4C7"/>
                </a:solidFill>
                <a:latin typeface="Calibri" pitchFamily="34" charset="0"/>
                <a:ea typeface="Calibri" pitchFamily="34" charset="-122"/>
                <a:cs typeface="Calibri" pitchFamily="34" charset="-120"/>
              </a:rPr>
              <a:t>CTV · GTV · PTV · BODY · Bolsa Intestinal · Cabeza Femoral D · Cabeza Femoral I · Testículos · Vejiga</a:t>
            </a:r>
            <a:endParaRPr lang="en-US" sz="1150" dirty="0"/>
          </a:p>
        </p:txBody>
      </p:sp>
      <p:sp>
        <p:nvSpPr>
          <p:cNvPr id="8" name="Shape 6"/>
          <p:cNvSpPr/>
          <p:nvPr/>
        </p:nvSpPr>
        <p:spPr>
          <a:xfrm>
            <a:off x="7589520" y="1600200"/>
            <a:ext cx="3291840" cy="292608"/>
          </a:xfrm>
          <a:prstGeom prst="roundRect">
            <a:avLst>
              <a:gd name="adj" fmla="val 50000"/>
            </a:avLst>
          </a:prstGeom>
          <a:solidFill>
            <a:srgbClr val="E63946"/>
          </a:solidFill>
          <a:ln w="12700">
            <a:solidFill>
              <a:srgbClr val="E63946"/>
            </a:solidFill>
            <a:prstDash val="solid"/>
          </a:ln>
        </p:spPr>
      </p:sp>
      <p:sp>
        <p:nvSpPr>
          <p:cNvPr id="9" name="Text 7"/>
          <p:cNvSpPr txBox="1"/>
          <p:nvPr/>
        </p:nvSpPr>
        <p:spPr>
          <a:xfrm>
            <a:off x="7589520" y="1600200"/>
            <a:ext cx="3291840"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CONCEPTOS QUE PERMITE ENSEÑAR</a:t>
            </a:r>
            <a:endParaRPr lang="en-US" sz="1050" dirty="0"/>
          </a:p>
        </p:txBody>
      </p:sp>
      <p:sp>
        <p:nvSpPr>
          <p:cNvPr id="10" name="Text 8"/>
          <p:cNvSpPr txBox="1"/>
          <p:nvPr/>
        </p:nvSpPr>
        <p:spPr>
          <a:xfrm>
            <a:off x="7589520" y="1965960"/>
            <a:ext cx="4023360" cy="4297680"/>
          </a:xfrm>
          <a:prstGeom prst="rect">
            <a:avLst/>
          </a:prstGeom>
          <a:noFill/>
          <a:ln/>
        </p:spPr>
        <p:txBody>
          <a:bodyPr wrap="square" lIns="0" tIns="0" rIns="0" bIns="0" rtlCol="0" anchor="t"/>
          <a:lstStyle/>
          <a:p>
            <a:pPr marL="177800" indent="-177800">
              <a:spcAft>
                <a:spcPts val="600"/>
              </a:spcAft>
              <a:buSzPct val="100000"/>
              <a:buChar char="•"/>
            </a:pPr>
            <a:r>
              <a:rPr lang="en-US" sz="1200" dirty="0">
                <a:solidFill>
                  <a:srgbClr val="F3F4F6"/>
                </a:solidFill>
                <a:latin typeface="Calibri" pitchFamily="34" charset="0"/>
                <a:ea typeface="Calibri" pitchFamily="34" charset="-122"/>
                <a:cs typeface="Calibri" pitchFamily="34" charset="-120"/>
              </a:rPr>
              <a:t>Definición y límites del volumen blanco clínico (CTV) en cáncer de recto según guías internacionales.</a:t>
            </a:r>
            <a:endParaRPr lang="en-US" sz="1200" dirty="0"/>
          </a:p>
          <a:p>
            <a:pPr marL="177800" indent="-177800">
              <a:spcAft>
                <a:spcPts val="600"/>
              </a:spcAft>
              <a:buSzPct val="100000"/>
              <a:buChar char="•"/>
            </a:pPr>
            <a:r>
              <a:rPr lang="en-US" sz="1200" dirty="0">
                <a:solidFill>
                  <a:srgbClr val="F3F4F6"/>
                </a:solidFill>
                <a:latin typeface="Calibri" pitchFamily="34" charset="0"/>
                <a:ea typeface="Calibri" pitchFamily="34" charset="-122"/>
                <a:cs typeface="Calibri" pitchFamily="34" charset="-120"/>
              </a:rPr>
              <a:t>Importancia de la preparación del paciente (protocolo de llenado de vejiga y vaciado de recto) en la variabilidad anatómica inter-fracción.</a:t>
            </a:r>
            <a:endParaRPr lang="en-US" sz="1200" dirty="0"/>
          </a:p>
          <a:p>
            <a:pPr marL="177800" indent="-177800">
              <a:spcAft>
                <a:spcPts val="600"/>
              </a:spcAft>
              <a:buSzPct val="100000"/>
              <a:buChar char="•"/>
            </a:pPr>
            <a:r>
              <a:rPr lang="en-US" sz="1200" dirty="0">
                <a:solidFill>
                  <a:srgbClr val="F3F4F6"/>
                </a:solidFill>
                <a:latin typeface="Calibri" pitchFamily="34" charset="0"/>
                <a:ea typeface="Calibri" pitchFamily="34" charset="-122"/>
                <a:cs typeface="Calibri" pitchFamily="34" charset="-120"/>
              </a:rPr>
              <a:t>Estructuración de órganos de riesgo pélvicos: vejiga, cabezas femorales, testículos y bolsa intestinal.</a:t>
            </a:r>
            <a:endParaRPr lang="en-US" sz="1200" dirty="0"/>
          </a:p>
          <a:p>
            <a:pPr marL="177800" indent="-177800">
              <a:spcAft>
                <a:spcPts val="600"/>
              </a:spcAft>
              <a:buSzPct val="100000"/>
              <a:buChar char="•"/>
            </a:pPr>
            <a:r>
              <a:rPr lang="en-US" sz="1200" dirty="0">
                <a:solidFill>
                  <a:srgbClr val="F3F4F6"/>
                </a:solidFill>
                <a:latin typeface="Calibri" pitchFamily="34" charset="0"/>
                <a:ea typeface="Calibri" pitchFamily="34" charset="-122"/>
                <a:cs typeface="Calibri" pitchFamily="34" charset="-120"/>
              </a:rPr>
              <a:t>Diseño y evaluación de la técnica de 4 campos conformados (caja pélvica) para la protección de estructuras sanas.</a:t>
            </a:r>
            <a:endParaRPr lang="en-US" sz="1200" dirty="0"/>
          </a:p>
          <a:p>
            <a:pPr marL="177800" indent="-177800">
              <a:spcAft>
                <a:spcPts val="600"/>
              </a:spcAft>
              <a:buSzPct val="100000"/>
              <a:buChar char="•"/>
            </a:pPr>
            <a:r>
              <a:rPr lang="en-US" sz="1200" dirty="0">
                <a:solidFill>
                  <a:srgbClr val="F3F4F6"/>
                </a:solidFill>
                <a:latin typeface="Calibri" pitchFamily="34" charset="0"/>
                <a:ea typeface="Calibri" pitchFamily="34" charset="-122"/>
                <a:cs typeface="Calibri" pitchFamily="34" charset="-120"/>
              </a:rPr>
              <a:t>Análisis de la distribución tridimensional de dosis utilizando curvas de isodosis en las tres reconstrucciones ortogonales.</a:t>
            </a:r>
            <a:endParaRPr lang="en-US" sz="1200" dirty="0"/>
          </a:p>
        </p:txBody>
      </p:sp>
      <p:sp>
        <p:nvSpPr>
          <p:cNvPr id="11" name="Text 9"/>
          <p:cNvSpPr txBox="1"/>
          <p:nvPr/>
        </p:nvSpPr>
        <p:spPr>
          <a:xfrm>
            <a:off x="548640" y="6419088"/>
            <a:ext cx="11064240" cy="274320"/>
          </a:xfrm>
          <a:prstGeom prst="rect">
            <a:avLst/>
          </a:prstGeom>
          <a:noFill/>
          <a:ln/>
        </p:spPr>
        <p:txBody>
          <a:bodyPr wrap="square" lIns="0" tIns="0" rIns="0" bIns="0" rtlCol="0" anchor="ctr"/>
          <a:lstStyle/>
          <a:p>
            <a:pPr indent="0" marL="0">
              <a:buNone/>
            </a:pPr>
            <a:r>
              <a:rPr lang="en-US" sz="900" dirty="0">
                <a:solidFill>
                  <a:srgbClr val="A9B4C7"/>
                </a:solidFill>
                <a:latin typeface="Calibri" pitchFamily="34" charset="0"/>
                <a:ea typeface="Calibri" pitchFamily="34" charset="-122"/>
                <a:cs typeface="Calibri" pitchFamily="34" charset="-120"/>
              </a:rPr>
              <a:t>Clips de este caso: ICRU Recto, general, general. Grabación de pantalla de Eclipse (Varian), INC 2026, anonimizada. Uso docente.</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E1726"/>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320040"/>
          </a:xfrm>
          <a:prstGeom prst="rect">
            <a:avLst/>
          </a:prstGeom>
          <a:noFill/>
          <a:ln/>
        </p:spPr>
        <p:txBody>
          <a:bodyPr wrap="square" lIns="0" tIns="0" rIns="0" bIns="0" rtlCol="0" anchor="ctr"/>
          <a:lstStyle/>
          <a:p>
            <a:pPr indent="0" marL="0">
              <a:buNone/>
            </a:pPr>
            <a:r>
              <a:rPr lang="en-US" sz="1200" b="1" spc="200" kern="0" dirty="0">
                <a:solidFill>
                  <a:srgbClr val="F2C14E"/>
                </a:solidFill>
                <a:latin typeface="Calibri" pitchFamily="34" charset="0"/>
                <a:ea typeface="Calibri" pitchFamily="34" charset="-122"/>
                <a:cs typeface="Calibri" pitchFamily="34" charset="-120"/>
              </a:rPr>
              <a:t>RECTO · OAR · CONTORNEO</a:t>
            </a:r>
            <a:endParaRPr lang="en-US" sz="1200" dirty="0"/>
          </a:p>
        </p:txBody>
      </p:sp>
      <p:sp>
        <p:nvSpPr>
          <p:cNvPr id="3" name="Text 1"/>
          <p:cNvSpPr txBox="1"/>
          <p:nvPr/>
        </p:nvSpPr>
        <p:spPr>
          <a:xfrm>
            <a:off x="548640" y="685800"/>
            <a:ext cx="11064240" cy="822960"/>
          </a:xfrm>
          <a:prstGeom prst="rect">
            <a:avLst/>
          </a:prstGeom>
          <a:noFill/>
          <a:ln/>
        </p:spPr>
        <p:txBody>
          <a:bodyPr wrap="square" lIns="0" tIns="0" rIns="0" bIns="0" rtlCol="0" anchor="t"/>
          <a:lstStyle/>
          <a:p>
            <a:pPr indent="0" marL="0">
              <a:buNone/>
            </a:pPr>
            <a:r>
              <a:rPr lang="en-US" sz="3000" b="1" dirty="0">
                <a:solidFill>
                  <a:srgbClr val="F3F4F6"/>
                </a:solidFill>
                <a:latin typeface="Calibri" pitchFamily="34" charset="0"/>
                <a:ea typeface="Calibri" pitchFamily="34" charset="-122"/>
                <a:cs typeface="Calibri" pitchFamily="34" charset="-120"/>
              </a:rPr>
              <a:t>ICRU Recto</a:t>
            </a:r>
            <a:endParaRPr lang="en-US" sz="3000" dirty="0"/>
          </a:p>
        </p:txBody>
      </p:sp>
      <p:pic>
        <p:nvPicPr>
          <p:cNvPr id="3" name="Media 0">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548640" y="1600200"/>
            <a:ext cx="7315200" cy="4754880"/>
          </a:xfrm>
          <a:prstGeom prst="rect">
            <a:avLst/>
          </a:prstGeom>
        </p:spPr>
      </p:pic>
      <p:sp>
        <p:nvSpPr>
          <p:cNvPr id="5" name="Shape 2"/>
          <p:cNvSpPr/>
          <p:nvPr/>
        </p:nvSpPr>
        <p:spPr>
          <a:xfrm>
            <a:off x="8138160" y="1600200"/>
            <a:ext cx="1371600" cy="292608"/>
          </a:xfrm>
          <a:prstGeom prst="roundRect">
            <a:avLst>
              <a:gd name="adj" fmla="val 50000"/>
            </a:avLst>
          </a:prstGeom>
          <a:solidFill>
            <a:srgbClr val="1C2B47"/>
          </a:solidFill>
          <a:ln w="12700">
            <a:solidFill>
              <a:srgbClr val="1C2B47"/>
            </a:solidFill>
            <a:prstDash val="solid"/>
          </a:ln>
        </p:spPr>
      </p:sp>
      <p:sp>
        <p:nvSpPr>
          <p:cNvPr id="6" name="Text 3"/>
          <p:cNvSpPr txBox="1"/>
          <p:nvPr/>
        </p:nvSpPr>
        <p:spPr>
          <a:xfrm>
            <a:off x="8138160" y="1600200"/>
            <a:ext cx="1371600"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QUÉ SE VE</a:t>
            </a:r>
            <a:endParaRPr lang="en-US" sz="1050" dirty="0"/>
          </a:p>
        </p:txBody>
      </p:sp>
      <p:sp>
        <p:nvSpPr>
          <p:cNvPr id="7" name="Text 4"/>
          <p:cNvSpPr txBox="1"/>
          <p:nvPr/>
        </p:nvSpPr>
        <p:spPr>
          <a:xfrm>
            <a:off x="8138160" y="1965960"/>
            <a:ext cx="3474720" cy="1737360"/>
          </a:xfrm>
          <a:prstGeom prst="rect">
            <a:avLst/>
          </a:prstGeom>
          <a:noFill/>
          <a:ln/>
        </p:spPr>
        <p:txBody>
          <a:bodyPr wrap="square" lIns="0" tIns="0" rIns="0" bIns="0" rtlCol="0" anchor="t"/>
          <a:lstStyle/>
          <a:p>
            <a:pPr indent="0" marL="0">
              <a:buNone/>
            </a:pPr>
            <a:r>
              <a:rPr lang="en-US" sz="1200" dirty="0">
                <a:solidFill>
                  <a:srgbClr val="F3F4F6"/>
                </a:solidFill>
                <a:latin typeface="Calibri" pitchFamily="34" charset="0"/>
                <a:ea typeface="Calibri" pitchFamily="34" charset="-122"/>
                <a:cs typeface="Calibri" pitchFamily="34" charset="-120"/>
              </a:rPr>
              <a:t>El operador recorre los cortes axiales en la zona de la pelvis mostrando las estructuras contorneadas. El operador continúa el recorrido caudalmente, visualizando las cabezas femorales y los testículos. Se desplaza de nuevo en dirección craneal evaluando la extensión superior del recto y el CTV.</a:t>
            </a:r>
            <a:endParaRPr lang="en-US" sz="1200" dirty="0"/>
          </a:p>
        </p:txBody>
      </p:sp>
      <p:sp>
        <p:nvSpPr>
          <p:cNvPr id="8" name="Shape 5"/>
          <p:cNvSpPr/>
          <p:nvPr/>
        </p:nvSpPr>
        <p:spPr>
          <a:xfrm>
            <a:off x="8138160" y="3749040"/>
            <a:ext cx="2468880" cy="292608"/>
          </a:xfrm>
          <a:prstGeom prst="roundRect">
            <a:avLst>
              <a:gd name="adj" fmla="val 50000"/>
            </a:avLst>
          </a:prstGeom>
          <a:solidFill>
            <a:srgbClr val="E63946"/>
          </a:solidFill>
          <a:ln w="12700">
            <a:solidFill>
              <a:srgbClr val="E63946"/>
            </a:solidFill>
            <a:prstDash val="solid"/>
          </a:ln>
        </p:spPr>
      </p:sp>
      <p:sp>
        <p:nvSpPr>
          <p:cNvPr id="9" name="Text 6"/>
          <p:cNvSpPr txBox="1"/>
          <p:nvPr/>
        </p:nvSpPr>
        <p:spPr>
          <a:xfrm>
            <a:off x="8138160" y="3749040"/>
            <a:ext cx="2468880"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QUÉ DEBE NOTAR EL ALUMNO</a:t>
            </a:r>
            <a:endParaRPr lang="en-US" sz="1050" dirty="0"/>
          </a:p>
        </p:txBody>
      </p:sp>
      <p:sp>
        <p:nvSpPr>
          <p:cNvPr id="10" name="Text 7"/>
          <p:cNvSpPr txBox="1"/>
          <p:nvPr/>
        </p:nvSpPr>
        <p:spPr>
          <a:xfrm>
            <a:off x="8138160" y="4114800"/>
            <a:ext cx="3474720" cy="1828800"/>
          </a:xfrm>
          <a:prstGeom prst="rect">
            <a:avLst/>
          </a:prstGeom>
          <a:noFill/>
          <a:ln/>
        </p:spPr>
        <p:txBody>
          <a:bodyPr wrap="square" lIns="0" tIns="0" rIns="0" bIns="0" rtlCol="0" anchor="t"/>
          <a:lstStyle/>
          <a:p>
            <a:pPr indent="0" marL="0">
              <a:buNone/>
            </a:pPr>
            <a:r>
              <a:rPr lang="en-US" sz="1200" dirty="0">
                <a:solidFill>
                  <a:srgbClr val="F3F4F6"/>
                </a:solidFill>
                <a:latin typeface="Calibri" pitchFamily="34" charset="0"/>
                <a:ea typeface="Calibri" pitchFamily="34" charset="-122"/>
                <a:cs typeface="Calibri" pitchFamily="34" charset="-120"/>
              </a:rPr>
              <a:t>Observe la delimitación del recto y el volumen de tratamiento adyacente (en rojo) en la región pélvica. Identifique la vejiga por delante y las cabezas femorales lateralmente como OAR críticos a proteger. La correcta definición de los límites superior e inferior del recto es crucial para el cálculo de la dosis del plan.</a:t>
            </a:r>
            <a:endParaRPr lang="en-US" sz="1200" dirty="0"/>
          </a:p>
        </p:txBody>
      </p:sp>
      <p:sp>
        <p:nvSpPr>
          <p:cNvPr id="11" name="Text 8"/>
          <p:cNvSpPr txBox="1"/>
          <p:nvPr/>
        </p:nvSpPr>
        <p:spPr>
          <a:xfrm>
            <a:off x="8138160" y="5989320"/>
            <a:ext cx="3474720" cy="365760"/>
          </a:xfrm>
          <a:prstGeom prst="rect">
            <a:avLst/>
          </a:prstGeom>
          <a:noFill/>
          <a:ln/>
        </p:spPr>
        <p:txBody>
          <a:bodyPr wrap="square" lIns="0" tIns="0" rIns="0" bIns="0" rtlCol="0" anchor="ctr"/>
          <a:lstStyle/>
          <a:p>
            <a:pPr indent="0" marL="0">
              <a:buNone/>
            </a:pPr>
            <a:r>
              <a:rPr lang="en-US" sz="1000" dirty="0">
                <a:solidFill>
                  <a:srgbClr val="A9B4C7"/>
                </a:solidFill>
                <a:latin typeface="Calibri" pitchFamily="34" charset="0"/>
                <a:ea typeface="Calibri" pitchFamily="34" charset="-122"/>
                <a:cs typeface="Calibri" pitchFamily="34" charset="-120"/>
              </a:rPr>
              <a:t>45 s de video a x4 · axial · recorre cortes</a:t>
            </a:r>
            <a:endParaRPr lang="en-US" sz="1000" dirty="0"/>
          </a:p>
        </p:txBody>
      </p:sp>
      <p:sp>
        <p:nvSpPr>
          <p:cNvPr id="12" name="Text 9"/>
          <p:cNvSpPr txBox="1"/>
          <p:nvPr/>
        </p:nvSpPr>
        <p:spPr>
          <a:xfrm>
            <a:off x="548640" y="6419088"/>
            <a:ext cx="11064240" cy="274320"/>
          </a:xfrm>
          <a:prstGeom prst="rect">
            <a:avLst/>
          </a:prstGeom>
          <a:noFill/>
          <a:ln/>
        </p:spPr>
        <p:txBody>
          <a:bodyPr wrap="square" lIns="0" tIns="0" rIns="0" bIns="0" rtlCol="0" anchor="ctr"/>
          <a:lstStyle/>
          <a:p>
            <a:pPr indent="0" marL="0">
              <a:buNone/>
            </a:pPr>
            <a:r>
              <a:rPr lang="en-US" sz="900" dirty="0">
                <a:solidFill>
                  <a:srgbClr val="A9B4C7"/>
                </a:solidFill>
                <a:latin typeface="Calibri" pitchFamily="34" charset="0"/>
                <a:ea typeface="Calibri" pitchFamily="34" charset="-122"/>
                <a:cs typeface="Calibri" pitchFamily="34" charset="-120"/>
              </a:rPr>
              <a:t>Clic sobre la imagen para reproducir el clip. Grabación de pantalla de Eclipse (Varian), INC 2026, anonimizada. Uso docente.</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E1726"/>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320040"/>
          </a:xfrm>
          <a:prstGeom prst="rect">
            <a:avLst/>
          </a:prstGeom>
          <a:noFill/>
          <a:ln/>
        </p:spPr>
        <p:txBody>
          <a:bodyPr wrap="square" lIns="0" tIns="0" rIns="0" bIns="0" rtlCol="0" anchor="ctr"/>
          <a:lstStyle/>
          <a:p>
            <a:pPr indent="0" marL="0">
              <a:buNone/>
            </a:pPr>
            <a:r>
              <a:rPr lang="en-US" sz="1200" b="1" spc="200" kern="0" dirty="0">
                <a:solidFill>
                  <a:srgbClr val="F2C14E"/>
                </a:solidFill>
                <a:latin typeface="Calibri" pitchFamily="34" charset="0"/>
                <a:ea typeface="Calibri" pitchFamily="34" charset="-122"/>
                <a:cs typeface="Calibri" pitchFamily="34" charset="-120"/>
              </a:rPr>
              <a:t>RECTO · GENERAL · CONTORNEO</a:t>
            </a:r>
            <a:endParaRPr lang="en-US" sz="1200" dirty="0"/>
          </a:p>
        </p:txBody>
      </p:sp>
      <p:sp>
        <p:nvSpPr>
          <p:cNvPr id="3" name="Text 1"/>
          <p:cNvSpPr txBox="1"/>
          <p:nvPr/>
        </p:nvSpPr>
        <p:spPr>
          <a:xfrm>
            <a:off x="548640" y="685800"/>
            <a:ext cx="11064240" cy="822960"/>
          </a:xfrm>
          <a:prstGeom prst="rect">
            <a:avLst/>
          </a:prstGeom>
          <a:noFill/>
          <a:ln/>
        </p:spPr>
        <p:txBody>
          <a:bodyPr wrap="square" lIns="0" tIns="0" rIns="0" bIns="0" rtlCol="0" anchor="t"/>
          <a:lstStyle/>
          <a:p>
            <a:pPr indent="0" marL="0">
              <a:buNone/>
            </a:pPr>
            <a:r>
              <a:rPr lang="en-US" sz="3000" b="1" dirty="0">
                <a:solidFill>
                  <a:srgbClr val="F3F4F6"/>
                </a:solidFill>
                <a:latin typeface="Calibri" pitchFamily="34" charset="0"/>
                <a:ea typeface="Calibri" pitchFamily="34" charset="-122"/>
                <a:cs typeface="Calibri" pitchFamily="34" charset="-120"/>
              </a:rPr>
              <a:t>general</a:t>
            </a:r>
            <a:endParaRPr lang="en-US" sz="3000" dirty="0"/>
          </a:p>
        </p:txBody>
      </p:sp>
      <p:pic>
        <p:nvPicPr>
          <p:cNvPr id="3" name="Media 0">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548640" y="1600200"/>
            <a:ext cx="7315200" cy="4754880"/>
          </a:xfrm>
          <a:prstGeom prst="rect">
            <a:avLst/>
          </a:prstGeom>
        </p:spPr>
      </p:pic>
      <p:sp>
        <p:nvSpPr>
          <p:cNvPr id="5" name="Shape 2"/>
          <p:cNvSpPr/>
          <p:nvPr/>
        </p:nvSpPr>
        <p:spPr>
          <a:xfrm>
            <a:off x="8138160" y="1600200"/>
            <a:ext cx="1371600" cy="292608"/>
          </a:xfrm>
          <a:prstGeom prst="roundRect">
            <a:avLst>
              <a:gd name="adj" fmla="val 50000"/>
            </a:avLst>
          </a:prstGeom>
          <a:solidFill>
            <a:srgbClr val="1C2B47"/>
          </a:solidFill>
          <a:ln w="12700">
            <a:solidFill>
              <a:srgbClr val="1C2B47"/>
            </a:solidFill>
            <a:prstDash val="solid"/>
          </a:ln>
        </p:spPr>
      </p:sp>
      <p:sp>
        <p:nvSpPr>
          <p:cNvPr id="6" name="Text 3"/>
          <p:cNvSpPr txBox="1"/>
          <p:nvPr/>
        </p:nvSpPr>
        <p:spPr>
          <a:xfrm>
            <a:off x="8138160" y="1600200"/>
            <a:ext cx="1371600"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QUÉ SE VE</a:t>
            </a:r>
            <a:endParaRPr lang="en-US" sz="1050" dirty="0"/>
          </a:p>
        </p:txBody>
      </p:sp>
      <p:sp>
        <p:nvSpPr>
          <p:cNvPr id="7" name="Text 4"/>
          <p:cNvSpPr txBox="1"/>
          <p:nvPr/>
        </p:nvSpPr>
        <p:spPr>
          <a:xfrm>
            <a:off x="8138160" y="1965960"/>
            <a:ext cx="3474720" cy="1737360"/>
          </a:xfrm>
          <a:prstGeom prst="rect">
            <a:avLst/>
          </a:prstGeom>
          <a:noFill/>
          <a:ln/>
        </p:spPr>
        <p:txBody>
          <a:bodyPr wrap="square" lIns="0" tIns="0" rIns="0" bIns="0" rtlCol="0" anchor="t"/>
          <a:lstStyle/>
          <a:p>
            <a:pPr indent="0" marL="0">
              <a:buNone/>
            </a:pPr>
            <a:r>
              <a:rPr lang="en-US" sz="1200" dirty="0">
                <a:solidFill>
                  <a:srgbClr val="F3F4F6"/>
                </a:solidFill>
                <a:latin typeface="Calibri" pitchFamily="34" charset="0"/>
                <a:ea typeface="Calibri" pitchFamily="34" charset="-122"/>
                <a:cs typeface="Calibri" pitchFamily="34" charset="-120"/>
              </a:rPr>
              <a:t>El operador cambia de la vista axial maximizada a la vista multiplanar estándar de Eclipse.</a:t>
            </a:r>
            <a:endParaRPr lang="en-US" sz="1200" dirty="0"/>
          </a:p>
        </p:txBody>
      </p:sp>
      <p:sp>
        <p:nvSpPr>
          <p:cNvPr id="8" name="Shape 5"/>
          <p:cNvSpPr/>
          <p:nvPr/>
        </p:nvSpPr>
        <p:spPr>
          <a:xfrm>
            <a:off x="8138160" y="3749040"/>
            <a:ext cx="2468880" cy="292608"/>
          </a:xfrm>
          <a:prstGeom prst="roundRect">
            <a:avLst>
              <a:gd name="adj" fmla="val 50000"/>
            </a:avLst>
          </a:prstGeom>
          <a:solidFill>
            <a:srgbClr val="E63946"/>
          </a:solidFill>
          <a:ln w="12700">
            <a:solidFill>
              <a:srgbClr val="E63946"/>
            </a:solidFill>
            <a:prstDash val="solid"/>
          </a:ln>
        </p:spPr>
      </p:sp>
      <p:sp>
        <p:nvSpPr>
          <p:cNvPr id="9" name="Text 6"/>
          <p:cNvSpPr txBox="1"/>
          <p:nvPr/>
        </p:nvSpPr>
        <p:spPr>
          <a:xfrm>
            <a:off x="8138160" y="3749040"/>
            <a:ext cx="2468880"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QUÉ DEBE NOTAR EL ALUMNO</a:t>
            </a:r>
            <a:endParaRPr lang="en-US" sz="1050" dirty="0"/>
          </a:p>
        </p:txBody>
      </p:sp>
      <p:sp>
        <p:nvSpPr>
          <p:cNvPr id="10" name="Text 7"/>
          <p:cNvSpPr txBox="1"/>
          <p:nvPr/>
        </p:nvSpPr>
        <p:spPr>
          <a:xfrm>
            <a:off x="8138160" y="4114800"/>
            <a:ext cx="3474720" cy="1828800"/>
          </a:xfrm>
          <a:prstGeom prst="rect">
            <a:avLst/>
          </a:prstGeom>
          <a:noFill/>
          <a:ln/>
        </p:spPr>
        <p:txBody>
          <a:bodyPr wrap="square" lIns="0" tIns="0" rIns="0" bIns="0" rtlCol="0" anchor="t"/>
          <a:lstStyle/>
          <a:p>
            <a:pPr indent="0" marL="0">
              <a:buNone/>
            </a:pPr>
            <a:r>
              <a:rPr lang="en-US" sz="1200" dirty="0">
                <a:solidFill>
                  <a:srgbClr val="F3F4F6"/>
                </a:solidFill>
                <a:latin typeface="Calibri" pitchFamily="34" charset="0"/>
                <a:ea typeface="Calibri" pitchFamily="34" charset="-122"/>
                <a:cs typeface="Calibri" pitchFamily="34" charset="-120"/>
              </a:rPr>
              <a:t>La vista multiplanar (axial, sagital, coronal y 3D) permite verificar la consistencia tridimensional del contorneo.</a:t>
            </a:r>
            <a:endParaRPr lang="en-US" sz="1200" dirty="0"/>
          </a:p>
        </p:txBody>
      </p:sp>
      <p:sp>
        <p:nvSpPr>
          <p:cNvPr id="11" name="Text 8"/>
          <p:cNvSpPr txBox="1"/>
          <p:nvPr/>
        </p:nvSpPr>
        <p:spPr>
          <a:xfrm>
            <a:off x="8138160" y="5989320"/>
            <a:ext cx="3474720" cy="365760"/>
          </a:xfrm>
          <a:prstGeom prst="rect">
            <a:avLst/>
          </a:prstGeom>
          <a:noFill/>
          <a:ln/>
        </p:spPr>
        <p:txBody>
          <a:bodyPr wrap="square" lIns="0" tIns="0" rIns="0" bIns="0" rtlCol="0" anchor="ctr"/>
          <a:lstStyle/>
          <a:p>
            <a:pPr indent="0" marL="0">
              <a:buNone/>
            </a:pPr>
            <a:r>
              <a:rPr lang="en-US" sz="1000" dirty="0">
                <a:solidFill>
                  <a:srgbClr val="A9B4C7"/>
                </a:solidFill>
                <a:latin typeface="Calibri" pitchFamily="34" charset="0"/>
                <a:ea typeface="Calibri" pitchFamily="34" charset="-122"/>
                <a:cs typeface="Calibri" pitchFamily="34" charset="-120"/>
              </a:rPr>
              <a:t>8 s de video · multiplanar · cambia vista</a:t>
            </a:r>
            <a:endParaRPr lang="en-US" sz="1000" dirty="0"/>
          </a:p>
        </p:txBody>
      </p:sp>
      <p:sp>
        <p:nvSpPr>
          <p:cNvPr id="12" name="Text 9"/>
          <p:cNvSpPr txBox="1"/>
          <p:nvPr/>
        </p:nvSpPr>
        <p:spPr>
          <a:xfrm>
            <a:off x="548640" y="6419088"/>
            <a:ext cx="11064240" cy="274320"/>
          </a:xfrm>
          <a:prstGeom prst="rect">
            <a:avLst/>
          </a:prstGeom>
          <a:noFill/>
          <a:ln/>
        </p:spPr>
        <p:txBody>
          <a:bodyPr wrap="square" lIns="0" tIns="0" rIns="0" bIns="0" rtlCol="0" anchor="ctr"/>
          <a:lstStyle/>
          <a:p>
            <a:pPr indent="0" marL="0">
              <a:buNone/>
            </a:pPr>
            <a:r>
              <a:rPr lang="en-US" sz="900" dirty="0">
                <a:solidFill>
                  <a:srgbClr val="A9B4C7"/>
                </a:solidFill>
                <a:latin typeface="Calibri" pitchFamily="34" charset="0"/>
                <a:ea typeface="Calibri" pitchFamily="34" charset="-122"/>
                <a:cs typeface="Calibri" pitchFamily="34" charset="-120"/>
              </a:rPr>
              <a:t>Clic sobre la imagen para reproducir el clip. Grabación de pantalla de Eclipse (Varian), INC 2026, anonimizada. Uso docente.</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E1726"/>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320040"/>
          </a:xfrm>
          <a:prstGeom prst="rect">
            <a:avLst/>
          </a:prstGeom>
          <a:noFill/>
          <a:ln/>
        </p:spPr>
        <p:txBody>
          <a:bodyPr wrap="square" lIns="0" tIns="0" rIns="0" bIns="0" rtlCol="0" anchor="ctr"/>
          <a:lstStyle/>
          <a:p>
            <a:pPr indent="0" marL="0">
              <a:buNone/>
            </a:pPr>
            <a:r>
              <a:rPr lang="en-US" sz="1200" b="1" spc="200" kern="0" dirty="0">
                <a:solidFill>
                  <a:srgbClr val="F2C14E"/>
                </a:solidFill>
                <a:latin typeface="Calibri" pitchFamily="34" charset="0"/>
                <a:ea typeface="Calibri" pitchFamily="34" charset="-122"/>
                <a:cs typeface="Calibri" pitchFamily="34" charset="-120"/>
              </a:rPr>
              <a:t>RECTO · DOSIS · PLANIFICACIÓN DEL HAZ EXTERNO</a:t>
            </a:r>
            <a:endParaRPr lang="en-US" sz="1200" dirty="0"/>
          </a:p>
        </p:txBody>
      </p:sp>
      <p:sp>
        <p:nvSpPr>
          <p:cNvPr id="3" name="Text 1"/>
          <p:cNvSpPr txBox="1"/>
          <p:nvPr/>
        </p:nvSpPr>
        <p:spPr>
          <a:xfrm>
            <a:off x="548640" y="685800"/>
            <a:ext cx="11064240" cy="822960"/>
          </a:xfrm>
          <a:prstGeom prst="rect">
            <a:avLst/>
          </a:prstGeom>
          <a:noFill/>
          <a:ln/>
        </p:spPr>
        <p:txBody>
          <a:bodyPr wrap="square" lIns="0" tIns="0" rIns="0" bIns="0" rtlCol="0" anchor="t"/>
          <a:lstStyle/>
          <a:p>
            <a:pPr indent="0" marL="0">
              <a:buNone/>
            </a:pPr>
            <a:r>
              <a:rPr lang="en-US" sz="3000" b="1" dirty="0">
                <a:solidFill>
                  <a:srgbClr val="F3F4F6"/>
                </a:solidFill>
                <a:latin typeface="Calibri" pitchFamily="34" charset="0"/>
                <a:ea typeface="Calibri" pitchFamily="34" charset="-122"/>
                <a:cs typeface="Calibri" pitchFamily="34" charset="-120"/>
              </a:rPr>
              <a:t>general</a:t>
            </a:r>
            <a:endParaRPr lang="en-US" sz="3000" dirty="0"/>
          </a:p>
        </p:txBody>
      </p:sp>
      <p:pic>
        <p:nvPicPr>
          <p:cNvPr id="3" name="Media 0">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548640" y="1600200"/>
            <a:ext cx="7315200" cy="4754880"/>
          </a:xfrm>
          <a:prstGeom prst="rect">
            <a:avLst/>
          </a:prstGeom>
        </p:spPr>
      </p:pic>
      <p:sp>
        <p:nvSpPr>
          <p:cNvPr id="5" name="Shape 2"/>
          <p:cNvSpPr/>
          <p:nvPr/>
        </p:nvSpPr>
        <p:spPr>
          <a:xfrm>
            <a:off x="8138160" y="1600200"/>
            <a:ext cx="1371600" cy="292608"/>
          </a:xfrm>
          <a:prstGeom prst="roundRect">
            <a:avLst>
              <a:gd name="adj" fmla="val 50000"/>
            </a:avLst>
          </a:prstGeom>
          <a:solidFill>
            <a:srgbClr val="1C2B47"/>
          </a:solidFill>
          <a:ln w="12700">
            <a:solidFill>
              <a:srgbClr val="1C2B47"/>
            </a:solidFill>
            <a:prstDash val="solid"/>
          </a:ln>
        </p:spPr>
      </p:sp>
      <p:sp>
        <p:nvSpPr>
          <p:cNvPr id="6" name="Text 3"/>
          <p:cNvSpPr txBox="1"/>
          <p:nvPr/>
        </p:nvSpPr>
        <p:spPr>
          <a:xfrm>
            <a:off x="8138160" y="1600200"/>
            <a:ext cx="1371600"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QUÉ SE VE</a:t>
            </a:r>
            <a:endParaRPr lang="en-US" sz="1050" dirty="0"/>
          </a:p>
        </p:txBody>
      </p:sp>
      <p:sp>
        <p:nvSpPr>
          <p:cNvPr id="7" name="Text 4"/>
          <p:cNvSpPr txBox="1"/>
          <p:nvPr/>
        </p:nvSpPr>
        <p:spPr>
          <a:xfrm>
            <a:off x="8138160" y="1965960"/>
            <a:ext cx="3474720" cy="1737360"/>
          </a:xfrm>
          <a:prstGeom prst="rect">
            <a:avLst/>
          </a:prstGeom>
          <a:noFill/>
          <a:ln/>
        </p:spPr>
        <p:txBody>
          <a:bodyPr wrap="square" lIns="0" tIns="0" rIns="0" bIns="0" rtlCol="0" anchor="t"/>
          <a:lstStyle/>
          <a:p>
            <a:pPr indent="0" marL="0">
              <a:buNone/>
            </a:pPr>
            <a:r>
              <a:rPr lang="en-US" sz="1200" dirty="0">
                <a:solidFill>
                  <a:srgbClr val="F3F4F6"/>
                </a:solidFill>
                <a:latin typeface="Calibri" pitchFamily="34" charset="0"/>
                <a:ea typeface="Calibri" pitchFamily="34" charset="-122"/>
                <a:cs typeface="Calibri" pitchFamily="34" charset="-120"/>
              </a:rPr>
              <a:t>Se cargan los campos del plan de recto en la vista multiplanar con las isodosis mostradas. El operador abre el menú contextual en la vista sagital para cambiar la visualización (BEV u otras opciones).</a:t>
            </a:r>
            <a:endParaRPr lang="en-US" sz="1200" dirty="0"/>
          </a:p>
        </p:txBody>
      </p:sp>
      <p:sp>
        <p:nvSpPr>
          <p:cNvPr id="8" name="Shape 5"/>
          <p:cNvSpPr/>
          <p:nvPr/>
        </p:nvSpPr>
        <p:spPr>
          <a:xfrm>
            <a:off x="8138160" y="3749040"/>
            <a:ext cx="2468880" cy="292608"/>
          </a:xfrm>
          <a:prstGeom prst="roundRect">
            <a:avLst>
              <a:gd name="adj" fmla="val 50000"/>
            </a:avLst>
          </a:prstGeom>
          <a:solidFill>
            <a:srgbClr val="E63946"/>
          </a:solidFill>
          <a:ln w="12700">
            <a:solidFill>
              <a:srgbClr val="E63946"/>
            </a:solidFill>
            <a:prstDash val="solid"/>
          </a:ln>
        </p:spPr>
      </p:sp>
      <p:sp>
        <p:nvSpPr>
          <p:cNvPr id="9" name="Text 6"/>
          <p:cNvSpPr txBox="1"/>
          <p:nvPr/>
        </p:nvSpPr>
        <p:spPr>
          <a:xfrm>
            <a:off x="8138160" y="3749040"/>
            <a:ext cx="2468880"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QUÉ DEBE NOTAR EL ALUMNO</a:t>
            </a:r>
            <a:endParaRPr lang="en-US" sz="1050" dirty="0"/>
          </a:p>
        </p:txBody>
      </p:sp>
      <p:sp>
        <p:nvSpPr>
          <p:cNvPr id="10" name="Text 7"/>
          <p:cNvSpPr txBox="1"/>
          <p:nvPr/>
        </p:nvSpPr>
        <p:spPr>
          <a:xfrm>
            <a:off x="8138160" y="4114800"/>
            <a:ext cx="3474720" cy="1828800"/>
          </a:xfrm>
          <a:prstGeom prst="rect">
            <a:avLst/>
          </a:prstGeom>
          <a:noFill/>
          <a:ln/>
        </p:spPr>
        <p:txBody>
          <a:bodyPr wrap="square" lIns="0" tIns="0" rIns="0" bIns="0" rtlCol="0" anchor="t"/>
          <a:lstStyle/>
          <a:p>
            <a:pPr indent="0" marL="0">
              <a:buNone/>
            </a:pPr>
            <a:r>
              <a:rPr lang="en-US" sz="1200" dirty="0">
                <a:solidFill>
                  <a:srgbClr val="F3F4F6"/>
                </a:solidFill>
                <a:latin typeface="Calibri" pitchFamily="34" charset="0"/>
                <a:ea typeface="Calibri" pitchFamily="34" charset="-122"/>
                <a:cs typeface="Calibri" pitchFamily="34" charset="-120"/>
              </a:rPr>
              <a:t>Observe la distribución tridimensional de las isodosis envolviendo el volumen blanco planificado. La vista de haz (BEV) ayuda a evaluar la cobertura del campo respecto a la anatomía del paciente y los colimadores.</a:t>
            </a:r>
            <a:endParaRPr lang="en-US" sz="1200" dirty="0"/>
          </a:p>
        </p:txBody>
      </p:sp>
      <p:sp>
        <p:nvSpPr>
          <p:cNvPr id="11" name="Text 8"/>
          <p:cNvSpPr txBox="1"/>
          <p:nvPr/>
        </p:nvSpPr>
        <p:spPr>
          <a:xfrm>
            <a:off x="8138160" y="5989320"/>
            <a:ext cx="3474720" cy="365760"/>
          </a:xfrm>
          <a:prstGeom prst="rect">
            <a:avLst/>
          </a:prstGeom>
          <a:noFill/>
          <a:ln/>
        </p:spPr>
        <p:txBody>
          <a:bodyPr wrap="square" lIns="0" tIns="0" rIns="0" bIns="0" rtlCol="0" anchor="ctr"/>
          <a:lstStyle/>
          <a:p>
            <a:pPr indent="0" marL="0">
              <a:buNone/>
            </a:pPr>
            <a:r>
              <a:rPr lang="en-US" sz="1000" dirty="0">
                <a:solidFill>
                  <a:srgbClr val="A9B4C7"/>
                </a:solidFill>
                <a:latin typeface="Calibri" pitchFamily="34" charset="0"/>
                <a:ea typeface="Calibri" pitchFamily="34" charset="-122"/>
                <a:cs typeface="Calibri" pitchFamily="34" charset="-120"/>
              </a:rPr>
              <a:t>30 s de video a x3 · multiplanar · cambia vista, revisa dosis</a:t>
            </a:r>
            <a:endParaRPr lang="en-US" sz="1000" dirty="0"/>
          </a:p>
        </p:txBody>
      </p:sp>
      <p:sp>
        <p:nvSpPr>
          <p:cNvPr id="12" name="Text 9"/>
          <p:cNvSpPr txBox="1"/>
          <p:nvPr/>
        </p:nvSpPr>
        <p:spPr>
          <a:xfrm>
            <a:off x="548640" y="6419088"/>
            <a:ext cx="11064240" cy="274320"/>
          </a:xfrm>
          <a:prstGeom prst="rect">
            <a:avLst/>
          </a:prstGeom>
          <a:noFill/>
          <a:ln/>
        </p:spPr>
        <p:txBody>
          <a:bodyPr wrap="square" lIns="0" tIns="0" rIns="0" bIns="0" rtlCol="0" anchor="ctr"/>
          <a:lstStyle/>
          <a:p>
            <a:pPr indent="0" marL="0">
              <a:buNone/>
            </a:pPr>
            <a:r>
              <a:rPr lang="en-US" sz="900" dirty="0">
                <a:solidFill>
                  <a:srgbClr val="A9B4C7"/>
                </a:solidFill>
                <a:latin typeface="Calibri" pitchFamily="34" charset="0"/>
                <a:ea typeface="Calibri" pitchFamily="34" charset="-122"/>
                <a:cs typeface="Calibri" pitchFamily="34" charset="-120"/>
              </a:rPr>
              <a:t>Clic sobre la imagen para reproducir el clip. Grabación de pantalla de Eclipse (Varian), INC 2026, anonimizada. Uso docente.</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E1726"/>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320040"/>
          </a:xfrm>
          <a:prstGeom prst="rect">
            <a:avLst/>
          </a:prstGeom>
          <a:noFill/>
          <a:ln/>
        </p:spPr>
        <p:txBody>
          <a:bodyPr wrap="square" lIns="0" tIns="0" rIns="0" bIns="0" rtlCol="0" anchor="ctr"/>
          <a:lstStyle/>
          <a:p>
            <a:pPr indent="0" marL="0">
              <a:buNone/>
            </a:pPr>
            <a:r>
              <a:rPr lang="en-US" sz="1200" b="1" spc="200" kern="0" dirty="0">
                <a:solidFill>
                  <a:srgbClr val="F2C14E"/>
                </a:solidFill>
                <a:latin typeface="Calibri" pitchFamily="34" charset="0"/>
                <a:ea typeface="Calibri" pitchFamily="34" charset="-122"/>
                <a:cs typeface="Calibri" pitchFamily="34" charset="-120"/>
              </a:rPr>
              <a:t>CASO · RECTO · 3D</a:t>
            </a:r>
            <a:endParaRPr lang="en-US" sz="1200" dirty="0"/>
          </a:p>
        </p:txBody>
      </p:sp>
      <p:sp>
        <p:nvSpPr>
          <p:cNvPr id="3" name="Text 1"/>
          <p:cNvSpPr txBox="1"/>
          <p:nvPr/>
        </p:nvSpPr>
        <p:spPr>
          <a:xfrm>
            <a:off x="548640" y="685800"/>
            <a:ext cx="11064240" cy="822960"/>
          </a:xfrm>
          <a:prstGeom prst="rect">
            <a:avLst/>
          </a:prstGeom>
          <a:noFill/>
          <a:ln/>
        </p:spPr>
        <p:txBody>
          <a:bodyPr wrap="square" lIns="0" tIns="0" rIns="0" bIns="0" rtlCol="0" anchor="t"/>
          <a:lstStyle/>
          <a:p>
            <a:pPr indent="0" marL="0">
              <a:buNone/>
            </a:pPr>
            <a:r>
              <a:rPr lang="en-US" sz="2600" b="1" dirty="0">
                <a:solidFill>
                  <a:srgbClr val="F3F4F6"/>
                </a:solidFill>
                <a:latin typeface="Calibri" pitchFamily="34" charset="0"/>
                <a:ea typeface="Calibri" pitchFamily="34" charset="-122"/>
                <a:cs typeface="Calibri" pitchFamily="34" charset="-120"/>
              </a:rPr>
              <a:t>Revisión de contornos y visualización de campos 3D para Pelvis/Recto</a:t>
            </a:r>
            <a:endParaRPr lang="en-US" sz="2600" dirty="0"/>
          </a:p>
        </p:txBody>
      </p:sp>
      <p:sp>
        <p:nvSpPr>
          <p:cNvPr id="4" name="Text 2"/>
          <p:cNvSpPr txBox="1"/>
          <p:nvPr/>
        </p:nvSpPr>
        <p:spPr>
          <a:xfrm>
            <a:off x="548640" y="1600200"/>
            <a:ext cx="6766560" cy="2194560"/>
          </a:xfrm>
          <a:prstGeom prst="rect">
            <a:avLst/>
          </a:prstGeom>
          <a:noFill/>
          <a:ln/>
        </p:spPr>
        <p:txBody>
          <a:bodyPr wrap="square" lIns="0" tIns="0" rIns="0" bIns="0" rtlCol="0" anchor="t"/>
          <a:lstStyle/>
          <a:p>
            <a:pPr indent="0" marL="0">
              <a:buNone/>
            </a:pPr>
            <a:r>
              <a:rPr lang="en-US" sz="1350" dirty="0">
                <a:solidFill>
                  <a:srgbClr val="F3F4F6"/>
                </a:solidFill>
                <a:latin typeface="Calibri" pitchFamily="34" charset="0"/>
                <a:ea typeface="Calibri" pitchFamily="34" charset="-122"/>
                <a:cs typeface="Calibri" pitchFamily="34" charset="-120"/>
              </a:rPr>
              <a:t>El video muestra al docente navegando y revisando los contornos en el módulo de Contorneo de Eclipse para un caso de recto/pelvis, para luego abrir el módulo de Planificación de Haz Externo y cargar un plan de tratamiento 3D aprobado. Se detallan las estructuras de riesgo, los volúmenes blanco y la visualización de los haces de radiación en las diferentes vistas, incluyendo la proyección de campos (BEV).</a:t>
            </a:r>
            <a:endParaRPr lang="en-US" sz="1350" dirty="0"/>
          </a:p>
        </p:txBody>
      </p:sp>
      <p:sp>
        <p:nvSpPr>
          <p:cNvPr id="5" name="Shape 3"/>
          <p:cNvSpPr/>
          <p:nvPr/>
        </p:nvSpPr>
        <p:spPr>
          <a:xfrm>
            <a:off x="548640" y="3886200"/>
            <a:ext cx="2377440" cy="292608"/>
          </a:xfrm>
          <a:prstGeom prst="roundRect">
            <a:avLst>
              <a:gd name="adj" fmla="val 50000"/>
            </a:avLst>
          </a:prstGeom>
          <a:solidFill>
            <a:srgbClr val="1C2B47"/>
          </a:solidFill>
          <a:ln w="12700">
            <a:solidFill>
              <a:srgbClr val="1C2B47"/>
            </a:solidFill>
            <a:prstDash val="solid"/>
          </a:ln>
        </p:spPr>
      </p:sp>
      <p:sp>
        <p:nvSpPr>
          <p:cNvPr id="6" name="Text 4"/>
          <p:cNvSpPr txBox="1"/>
          <p:nvPr/>
        </p:nvSpPr>
        <p:spPr>
          <a:xfrm>
            <a:off x="548640" y="3886200"/>
            <a:ext cx="2377440"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ESTRUCTURAS DEL CASO</a:t>
            </a:r>
            <a:endParaRPr lang="en-US" sz="1050" dirty="0"/>
          </a:p>
        </p:txBody>
      </p:sp>
      <p:sp>
        <p:nvSpPr>
          <p:cNvPr id="7" name="Text 5"/>
          <p:cNvSpPr txBox="1"/>
          <p:nvPr/>
        </p:nvSpPr>
        <p:spPr>
          <a:xfrm>
            <a:off x="548640" y="4251960"/>
            <a:ext cx="6766560" cy="2011680"/>
          </a:xfrm>
          <a:prstGeom prst="rect">
            <a:avLst/>
          </a:prstGeom>
          <a:noFill/>
          <a:ln/>
        </p:spPr>
        <p:txBody>
          <a:bodyPr wrap="square" lIns="0" tIns="0" rIns="0" bIns="0" rtlCol="0" anchor="t"/>
          <a:lstStyle/>
          <a:p>
            <a:pPr indent="0" marL="0">
              <a:buNone/>
            </a:pPr>
            <a:r>
              <a:rPr lang="en-US" sz="1150" dirty="0">
                <a:solidFill>
                  <a:srgbClr val="A9B4C7"/>
                </a:solidFill>
                <a:latin typeface="Calibri" pitchFamily="34" charset="0"/>
                <a:ea typeface="Calibri" pitchFamily="34" charset="-122"/>
                <a:cs typeface="Calibri" pitchFamily="34" charset="-120"/>
              </a:rPr>
              <a:t>CTV · PTV · BODY · Bolsa Intestinal · Cabeza Femoral D · Cabeza Femoral I · Cauda Equina · Testiculos · Vasos · Vejiga · icru_pelvis</a:t>
            </a:r>
            <a:endParaRPr lang="en-US" sz="1150" dirty="0"/>
          </a:p>
        </p:txBody>
      </p:sp>
      <p:sp>
        <p:nvSpPr>
          <p:cNvPr id="8" name="Shape 6"/>
          <p:cNvSpPr/>
          <p:nvPr/>
        </p:nvSpPr>
        <p:spPr>
          <a:xfrm>
            <a:off x="7589520" y="1600200"/>
            <a:ext cx="3291840" cy="292608"/>
          </a:xfrm>
          <a:prstGeom prst="roundRect">
            <a:avLst>
              <a:gd name="adj" fmla="val 50000"/>
            </a:avLst>
          </a:prstGeom>
          <a:solidFill>
            <a:srgbClr val="E63946"/>
          </a:solidFill>
          <a:ln w="12700">
            <a:solidFill>
              <a:srgbClr val="E63946"/>
            </a:solidFill>
            <a:prstDash val="solid"/>
          </a:ln>
        </p:spPr>
      </p:sp>
      <p:sp>
        <p:nvSpPr>
          <p:cNvPr id="9" name="Text 7"/>
          <p:cNvSpPr txBox="1"/>
          <p:nvPr/>
        </p:nvSpPr>
        <p:spPr>
          <a:xfrm>
            <a:off x="7589520" y="1600200"/>
            <a:ext cx="3291840"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CONCEPTOS QUE PERMITE ENSEÑAR</a:t>
            </a:r>
            <a:endParaRPr lang="en-US" sz="1050" dirty="0"/>
          </a:p>
        </p:txBody>
      </p:sp>
      <p:sp>
        <p:nvSpPr>
          <p:cNvPr id="10" name="Text 8"/>
          <p:cNvSpPr txBox="1"/>
          <p:nvPr/>
        </p:nvSpPr>
        <p:spPr>
          <a:xfrm>
            <a:off x="7589520" y="1965960"/>
            <a:ext cx="4023360" cy="4297680"/>
          </a:xfrm>
          <a:prstGeom prst="rect">
            <a:avLst/>
          </a:prstGeom>
          <a:noFill/>
          <a:ln/>
        </p:spPr>
        <p:txBody>
          <a:bodyPr wrap="square" lIns="0" tIns="0" rIns="0" bIns="0" rtlCol="0" anchor="t"/>
          <a:lstStyle/>
          <a:p>
            <a:pPr marL="177800" indent="-177800">
              <a:spcAft>
                <a:spcPts val="600"/>
              </a:spcAft>
              <a:buSzPct val="100000"/>
              <a:buChar char="•"/>
            </a:pPr>
            <a:r>
              <a:rPr lang="en-US" sz="1200" dirty="0">
                <a:solidFill>
                  <a:srgbClr val="F3F4F6"/>
                </a:solidFill>
                <a:latin typeface="Calibri" pitchFamily="34" charset="0"/>
                <a:ea typeface="Calibri" pitchFamily="34" charset="-122"/>
                <a:cs typeface="Calibri" pitchFamily="34" charset="-120"/>
              </a:rPr>
              <a:t>Revisión sistemática de volúmenes en ventanas multiplanares para garantizar consistencia interobservador.</a:t>
            </a:r>
            <a:endParaRPr lang="en-US" sz="1200" dirty="0"/>
          </a:p>
          <a:p>
            <a:pPr marL="177800" indent="-177800">
              <a:spcAft>
                <a:spcPts val="600"/>
              </a:spcAft>
              <a:buSzPct val="100000"/>
              <a:buChar char="•"/>
            </a:pPr>
            <a:r>
              <a:rPr lang="en-US" sz="1200" dirty="0">
                <a:solidFill>
                  <a:srgbClr val="F3F4F6"/>
                </a:solidFill>
                <a:latin typeface="Calibri" pitchFamily="34" charset="0"/>
                <a:ea typeface="Calibri" pitchFamily="34" charset="-122"/>
                <a:cs typeface="Calibri" pitchFamily="34" charset="-120"/>
              </a:rPr>
              <a:t>Importancia de la delimitación precisa de las cabezas femorales como OAR crítico en irradiación de pelvis.</a:t>
            </a:r>
            <a:endParaRPr lang="en-US" sz="1200" dirty="0"/>
          </a:p>
          <a:p>
            <a:pPr marL="177800" indent="-177800">
              <a:spcAft>
                <a:spcPts val="600"/>
              </a:spcAft>
              <a:buSzPct val="100000"/>
              <a:buChar char="•"/>
            </a:pPr>
            <a:r>
              <a:rPr lang="en-US" sz="1200" dirty="0">
                <a:solidFill>
                  <a:srgbClr val="F3F4F6"/>
                </a:solidFill>
                <a:latin typeface="Calibri" pitchFamily="34" charset="0"/>
                <a:ea typeface="Calibri" pitchFamily="34" charset="-122"/>
                <a:cs typeface="Calibri" pitchFamily="34" charset="-120"/>
              </a:rPr>
              <a:t>Transición entre el módulo de contorneo y planificación en Eclipse.</a:t>
            </a:r>
            <a:endParaRPr lang="en-US" sz="1200" dirty="0"/>
          </a:p>
          <a:p>
            <a:pPr marL="177800" indent="-177800">
              <a:spcAft>
                <a:spcPts val="600"/>
              </a:spcAft>
              <a:buSzPct val="100000"/>
              <a:buChar char="•"/>
            </a:pPr>
            <a:r>
              <a:rPr lang="en-US" sz="1200" dirty="0">
                <a:solidFill>
                  <a:srgbClr val="F3F4F6"/>
                </a:solidFill>
                <a:latin typeface="Calibri" pitchFamily="34" charset="0"/>
                <a:ea typeface="Calibri" pitchFamily="34" charset="-122"/>
                <a:cs typeface="Calibri" pitchFamily="34" charset="-120"/>
              </a:rPr>
              <a:t>Visualización de haces y conformación del colimador multiláminas (MLC) mediante vista BEV (Beam's Eye View).</a:t>
            </a:r>
            <a:endParaRPr lang="en-US" sz="1200" dirty="0"/>
          </a:p>
          <a:p>
            <a:pPr marL="177800" indent="-177800">
              <a:spcAft>
                <a:spcPts val="600"/>
              </a:spcAft>
              <a:buSzPct val="100000"/>
              <a:buChar char="•"/>
            </a:pPr>
            <a:r>
              <a:rPr lang="en-US" sz="1200" dirty="0">
                <a:solidFill>
                  <a:srgbClr val="F3F4F6"/>
                </a:solidFill>
                <a:latin typeface="Calibri" pitchFamily="34" charset="0"/>
                <a:ea typeface="Calibri" pitchFamily="34" charset="-122"/>
                <a:cs typeface="Calibri" pitchFamily="34" charset="-120"/>
              </a:rPr>
              <a:t>Análisis de dosis máxima y mínima en el volumen blanco para planes conformacionales 3D.</a:t>
            </a:r>
            <a:endParaRPr lang="en-US" sz="1200" dirty="0"/>
          </a:p>
        </p:txBody>
      </p:sp>
      <p:sp>
        <p:nvSpPr>
          <p:cNvPr id="11" name="Text 9"/>
          <p:cNvSpPr txBox="1"/>
          <p:nvPr/>
        </p:nvSpPr>
        <p:spPr>
          <a:xfrm>
            <a:off x="548640" y="6419088"/>
            <a:ext cx="11064240" cy="274320"/>
          </a:xfrm>
          <a:prstGeom prst="rect">
            <a:avLst/>
          </a:prstGeom>
          <a:noFill/>
          <a:ln/>
        </p:spPr>
        <p:txBody>
          <a:bodyPr wrap="square" lIns="0" tIns="0" rIns="0" bIns="0" rtlCol="0" anchor="ctr"/>
          <a:lstStyle/>
          <a:p>
            <a:pPr indent="0" marL="0">
              <a:buNone/>
            </a:pPr>
            <a:r>
              <a:rPr lang="en-US" sz="900" dirty="0">
                <a:solidFill>
                  <a:srgbClr val="A9B4C7"/>
                </a:solidFill>
                <a:latin typeface="Calibri" pitchFamily="34" charset="0"/>
                <a:ea typeface="Calibri" pitchFamily="34" charset="-122"/>
                <a:cs typeface="Calibri" pitchFamily="34" charset="-120"/>
              </a:rPr>
              <a:t>Clips de este caso: icru_pelvis, Cabeza Femoral D, general. Grabación de pantalla de Eclipse (Varian), INC 2026, anonimizada. Uso docente.</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E1726"/>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320040"/>
          </a:xfrm>
          <a:prstGeom prst="rect">
            <a:avLst/>
          </a:prstGeom>
          <a:noFill/>
          <a:ln/>
        </p:spPr>
        <p:txBody>
          <a:bodyPr wrap="square" lIns="0" tIns="0" rIns="0" bIns="0" rtlCol="0" anchor="ctr"/>
          <a:lstStyle/>
          <a:p>
            <a:pPr indent="0" marL="0">
              <a:buNone/>
            </a:pPr>
            <a:r>
              <a:rPr lang="en-US" sz="1200" b="1" spc="200" kern="0" dirty="0">
                <a:solidFill>
                  <a:srgbClr val="F2C14E"/>
                </a:solidFill>
                <a:latin typeface="Calibri" pitchFamily="34" charset="0"/>
                <a:ea typeface="Calibri" pitchFamily="34" charset="-122"/>
                <a:cs typeface="Calibri" pitchFamily="34" charset="-120"/>
              </a:rPr>
              <a:t>RECTO · AYUDA · CONTORNEO</a:t>
            </a:r>
            <a:endParaRPr lang="en-US" sz="1200" dirty="0"/>
          </a:p>
        </p:txBody>
      </p:sp>
      <p:sp>
        <p:nvSpPr>
          <p:cNvPr id="3" name="Text 1"/>
          <p:cNvSpPr txBox="1"/>
          <p:nvPr/>
        </p:nvSpPr>
        <p:spPr>
          <a:xfrm>
            <a:off x="548640" y="685800"/>
            <a:ext cx="11064240" cy="822960"/>
          </a:xfrm>
          <a:prstGeom prst="rect">
            <a:avLst/>
          </a:prstGeom>
          <a:noFill/>
          <a:ln/>
        </p:spPr>
        <p:txBody>
          <a:bodyPr wrap="square" lIns="0" tIns="0" rIns="0" bIns="0" rtlCol="0" anchor="t"/>
          <a:lstStyle/>
          <a:p>
            <a:pPr indent="0" marL="0">
              <a:buNone/>
            </a:pPr>
            <a:r>
              <a:rPr lang="en-US" sz="3000" b="1" dirty="0">
                <a:solidFill>
                  <a:srgbClr val="F3F4F6"/>
                </a:solidFill>
                <a:latin typeface="Calibri" pitchFamily="34" charset="0"/>
                <a:ea typeface="Calibri" pitchFamily="34" charset="-122"/>
                <a:cs typeface="Calibri" pitchFamily="34" charset="-120"/>
              </a:rPr>
              <a:t>icru_pelvis</a:t>
            </a:r>
            <a:endParaRPr lang="en-US" sz="3000" dirty="0"/>
          </a:p>
        </p:txBody>
      </p:sp>
      <p:pic>
        <p:nvPicPr>
          <p:cNvPr id="3" name="Media 0">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548640" y="1600200"/>
            <a:ext cx="7315200" cy="4754880"/>
          </a:xfrm>
          <a:prstGeom prst="rect">
            <a:avLst/>
          </a:prstGeom>
        </p:spPr>
      </p:pic>
      <p:sp>
        <p:nvSpPr>
          <p:cNvPr id="5" name="Shape 2"/>
          <p:cNvSpPr/>
          <p:nvPr/>
        </p:nvSpPr>
        <p:spPr>
          <a:xfrm>
            <a:off x="8138160" y="1600200"/>
            <a:ext cx="1371600" cy="292608"/>
          </a:xfrm>
          <a:prstGeom prst="roundRect">
            <a:avLst>
              <a:gd name="adj" fmla="val 50000"/>
            </a:avLst>
          </a:prstGeom>
          <a:solidFill>
            <a:srgbClr val="1C2B47"/>
          </a:solidFill>
          <a:ln w="12700">
            <a:solidFill>
              <a:srgbClr val="1C2B47"/>
            </a:solidFill>
            <a:prstDash val="solid"/>
          </a:ln>
        </p:spPr>
      </p:sp>
      <p:sp>
        <p:nvSpPr>
          <p:cNvPr id="6" name="Text 3"/>
          <p:cNvSpPr txBox="1"/>
          <p:nvPr/>
        </p:nvSpPr>
        <p:spPr>
          <a:xfrm>
            <a:off x="8138160" y="1600200"/>
            <a:ext cx="1371600"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QUÉ SE VE</a:t>
            </a:r>
            <a:endParaRPr lang="en-US" sz="1050" dirty="0"/>
          </a:p>
        </p:txBody>
      </p:sp>
      <p:sp>
        <p:nvSpPr>
          <p:cNvPr id="7" name="Text 4"/>
          <p:cNvSpPr txBox="1"/>
          <p:nvPr/>
        </p:nvSpPr>
        <p:spPr>
          <a:xfrm>
            <a:off x="8138160" y="1965960"/>
            <a:ext cx="3474720" cy="1737360"/>
          </a:xfrm>
          <a:prstGeom prst="rect">
            <a:avLst/>
          </a:prstGeom>
          <a:noFill/>
          <a:ln/>
        </p:spPr>
        <p:txBody>
          <a:bodyPr wrap="square" lIns="0" tIns="0" rIns="0" bIns="0" rtlCol="0" anchor="t"/>
          <a:lstStyle/>
          <a:p>
            <a:pPr indent="0" marL="0">
              <a:buNone/>
            </a:pPr>
            <a:r>
              <a:rPr lang="en-US" sz="1200" dirty="0">
                <a:solidFill>
                  <a:srgbClr val="F3F4F6"/>
                </a:solidFill>
                <a:latin typeface="Calibri" pitchFamily="34" charset="0"/>
                <a:ea typeface="Calibri" pitchFamily="34" charset="-122"/>
                <a:cs typeface="Calibri" pitchFamily="34" charset="-120"/>
              </a:rPr>
              <a:t>El operador oculta la ventana del grabador de pantalla. El operador recorre los cortes axiales de la pelvis en sentido caudal. El operador continúa recorriendo hacia craneal los cortes axiales mostrando la extensión superior de las estructuras.</a:t>
            </a:r>
            <a:endParaRPr lang="en-US" sz="1200" dirty="0"/>
          </a:p>
        </p:txBody>
      </p:sp>
      <p:sp>
        <p:nvSpPr>
          <p:cNvPr id="8" name="Shape 5"/>
          <p:cNvSpPr/>
          <p:nvPr/>
        </p:nvSpPr>
        <p:spPr>
          <a:xfrm>
            <a:off x="8138160" y="3749040"/>
            <a:ext cx="2468880" cy="292608"/>
          </a:xfrm>
          <a:prstGeom prst="roundRect">
            <a:avLst>
              <a:gd name="adj" fmla="val 50000"/>
            </a:avLst>
          </a:prstGeom>
          <a:solidFill>
            <a:srgbClr val="E63946"/>
          </a:solidFill>
          <a:ln w="12700">
            <a:solidFill>
              <a:srgbClr val="E63946"/>
            </a:solidFill>
            <a:prstDash val="solid"/>
          </a:ln>
        </p:spPr>
      </p:sp>
      <p:sp>
        <p:nvSpPr>
          <p:cNvPr id="9" name="Text 6"/>
          <p:cNvSpPr txBox="1"/>
          <p:nvPr/>
        </p:nvSpPr>
        <p:spPr>
          <a:xfrm>
            <a:off x="8138160" y="3749040"/>
            <a:ext cx="2468880"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QUÉ DEBE NOTAR EL ALUMNO</a:t>
            </a:r>
            <a:endParaRPr lang="en-US" sz="1050" dirty="0"/>
          </a:p>
        </p:txBody>
      </p:sp>
      <p:sp>
        <p:nvSpPr>
          <p:cNvPr id="10" name="Text 7"/>
          <p:cNvSpPr txBox="1"/>
          <p:nvPr/>
        </p:nvSpPr>
        <p:spPr>
          <a:xfrm>
            <a:off x="8138160" y="4114800"/>
            <a:ext cx="3474720" cy="1828800"/>
          </a:xfrm>
          <a:prstGeom prst="rect">
            <a:avLst/>
          </a:prstGeom>
          <a:noFill/>
          <a:ln/>
        </p:spPr>
        <p:txBody>
          <a:bodyPr wrap="square" lIns="0" tIns="0" rIns="0" bIns="0" rtlCol="0" anchor="t"/>
          <a:lstStyle/>
          <a:p>
            <a:pPr indent="0" marL="0">
              <a:buNone/>
            </a:pPr>
            <a:r>
              <a:rPr lang="en-US" sz="1200" dirty="0">
                <a:solidFill>
                  <a:srgbClr val="F3F4F6"/>
                </a:solidFill>
                <a:latin typeface="Calibri" pitchFamily="34" charset="0"/>
                <a:ea typeface="Calibri" pitchFamily="34" charset="-122"/>
                <a:cs typeface="Calibri" pitchFamily="34" charset="-120"/>
              </a:rPr>
              <a:t>En el módulo de Contorneo vemos primero un plano general de la pelvis con las estructuras del caso ya delimitadas. Fíjense cómo la estructura de ayuda 'icru_pelvis' delimita la zona de interés para la dosimetría de referencia, englobando los volúmenes blanco en el área pélvica. Hacia craneal, la estructura de ayuda llega hasta los grandes vasos y el inicio de la bifurcación, marcando el límite superior de planificación convencional.</a:t>
            </a:r>
            <a:endParaRPr lang="en-US" sz="1200" dirty="0"/>
          </a:p>
        </p:txBody>
      </p:sp>
      <p:sp>
        <p:nvSpPr>
          <p:cNvPr id="11" name="Text 8"/>
          <p:cNvSpPr txBox="1"/>
          <p:nvPr/>
        </p:nvSpPr>
        <p:spPr>
          <a:xfrm>
            <a:off x="8138160" y="5989320"/>
            <a:ext cx="3474720" cy="365760"/>
          </a:xfrm>
          <a:prstGeom prst="rect">
            <a:avLst/>
          </a:prstGeom>
          <a:noFill/>
          <a:ln/>
        </p:spPr>
        <p:txBody>
          <a:bodyPr wrap="square" lIns="0" tIns="0" rIns="0" bIns="0" rtlCol="0" anchor="ctr"/>
          <a:lstStyle/>
          <a:p>
            <a:pPr indent="0" marL="0">
              <a:buNone/>
            </a:pPr>
            <a:r>
              <a:rPr lang="en-US" sz="1000" dirty="0">
                <a:solidFill>
                  <a:srgbClr val="A9B4C7"/>
                </a:solidFill>
                <a:latin typeface="Calibri" pitchFamily="34" charset="0"/>
                <a:ea typeface="Calibri" pitchFamily="34" charset="-122"/>
                <a:cs typeface="Calibri" pitchFamily="34" charset="-120"/>
              </a:rPr>
              <a:t>30 s de video a x3 · multiplanar · otro, recorre cortes</a:t>
            </a:r>
            <a:endParaRPr lang="en-US" sz="1000" dirty="0"/>
          </a:p>
        </p:txBody>
      </p:sp>
      <p:sp>
        <p:nvSpPr>
          <p:cNvPr id="12" name="Text 9"/>
          <p:cNvSpPr txBox="1"/>
          <p:nvPr/>
        </p:nvSpPr>
        <p:spPr>
          <a:xfrm>
            <a:off x="548640" y="6419088"/>
            <a:ext cx="11064240" cy="274320"/>
          </a:xfrm>
          <a:prstGeom prst="rect">
            <a:avLst/>
          </a:prstGeom>
          <a:noFill/>
          <a:ln/>
        </p:spPr>
        <p:txBody>
          <a:bodyPr wrap="square" lIns="0" tIns="0" rIns="0" bIns="0" rtlCol="0" anchor="ctr"/>
          <a:lstStyle/>
          <a:p>
            <a:pPr indent="0" marL="0">
              <a:buNone/>
            </a:pPr>
            <a:r>
              <a:rPr lang="en-US" sz="900" dirty="0">
                <a:solidFill>
                  <a:srgbClr val="A9B4C7"/>
                </a:solidFill>
                <a:latin typeface="Calibri" pitchFamily="34" charset="0"/>
                <a:ea typeface="Calibri" pitchFamily="34" charset="-122"/>
                <a:cs typeface="Calibri" pitchFamily="34" charset="-120"/>
              </a:rPr>
              <a:t>Clic sobre la imagen para reproducir el clip. Grabación de pantalla de Eclipse (Varian), INC 2026, anonimizada. Uso docente.</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E1726"/>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320040"/>
          </a:xfrm>
          <a:prstGeom prst="rect">
            <a:avLst/>
          </a:prstGeom>
          <a:noFill/>
          <a:ln/>
        </p:spPr>
        <p:txBody>
          <a:bodyPr wrap="square" lIns="0" tIns="0" rIns="0" bIns="0" rtlCol="0" anchor="ctr"/>
          <a:lstStyle/>
          <a:p>
            <a:pPr indent="0" marL="0">
              <a:buNone/>
            </a:pPr>
            <a:r>
              <a:rPr lang="en-US" sz="1200" b="1" spc="200" kern="0" dirty="0">
                <a:solidFill>
                  <a:srgbClr val="F2C14E"/>
                </a:solidFill>
                <a:latin typeface="Calibri" pitchFamily="34" charset="0"/>
                <a:ea typeface="Calibri" pitchFamily="34" charset="-122"/>
                <a:cs typeface="Calibri" pitchFamily="34" charset="-120"/>
              </a:rPr>
              <a:t>RECTO · OAR · CONTORNEO</a:t>
            </a:r>
            <a:endParaRPr lang="en-US" sz="1200" dirty="0"/>
          </a:p>
        </p:txBody>
      </p:sp>
      <p:sp>
        <p:nvSpPr>
          <p:cNvPr id="3" name="Text 1"/>
          <p:cNvSpPr txBox="1"/>
          <p:nvPr/>
        </p:nvSpPr>
        <p:spPr>
          <a:xfrm>
            <a:off x="548640" y="685800"/>
            <a:ext cx="11064240" cy="822960"/>
          </a:xfrm>
          <a:prstGeom prst="rect">
            <a:avLst/>
          </a:prstGeom>
          <a:noFill/>
          <a:ln/>
        </p:spPr>
        <p:txBody>
          <a:bodyPr wrap="square" lIns="0" tIns="0" rIns="0" bIns="0" rtlCol="0" anchor="t"/>
          <a:lstStyle/>
          <a:p>
            <a:pPr indent="0" marL="0">
              <a:buNone/>
            </a:pPr>
            <a:r>
              <a:rPr lang="en-US" sz="3000" b="1" dirty="0">
                <a:solidFill>
                  <a:srgbClr val="F3F4F6"/>
                </a:solidFill>
                <a:latin typeface="Calibri" pitchFamily="34" charset="0"/>
                <a:ea typeface="Calibri" pitchFamily="34" charset="-122"/>
                <a:cs typeface="Calibri" pitchFamily="34" charset="-120"/>
              </a:rPr>
              <a:t>Cabeza Femoral D</a:t>
            </a:r>
            <a:endParaRPr lang="en-US" sz="3000" dirty="0"/>
          </a:p>
        </p:txBody>
      </p:sp>
      <p:pic>
        <p:nvPicPr>
          <p:cNvPr id="3" name="Media 0">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548640" y="1600200"/>
            <a:ext cx="7315200" cy="4754880"/>
          </a:xfrm>
          <a:prstGeom prst="rect">
            <a:avLst/>
          </a:prstGeom>
        </p:spPr>
      </p:pic>
      <p:sp>
        <p:nvSpPr>
          <p:cNvPr id="5" name="Shape 2"/>
          <p:cNvSpPr/>
          <p:nvPr/>
        </p:nvSpPr>
        <p:spPr>
          <a:xfrm>
            <a:off x="8138160" y="1600200"/>
            <a:ext cx="1371600" cy="292608"/>
          </a:xfrm>
          <a:prstGeom prst="roundRect">
            <a:avLst>
              <a:gd name="adj" fmla="val 50000"/>
            </a:avLst>
          </a:prstGeom>
          <a:solidFill>
            <a:srgbClr val="1C2B47"/>
          </a:solidFill>
          <a:ln w="12700">
            <a:solidFill>
              <a:srgbClr val="1C2B47"/>
            </a:solidFill>
            <a:prstDash val="solid"/>
          </a:ln>
        </p:spPr>
      </p:sp>
      <p:sp>
        <p:nvSpPr>
          <p:cNvPr id="6" name="Text 3"/>
          <p:cNvSpPr txBox="1"/>
          <p:nvPr/>
        </p:nvSpPr>
        <p:spPr>
          <a:xfrm>
            <a:off x="8138160" y="1600200"/>
            <a:ext cx="1371600"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QUÉ SE VE</a:t>
            </a:r>
            <a:endParaRPr lang="en-US" sz="1050" dirty="0"/>
          </a:p>
        </p:txBody>
      </p:sp>
      <p:sp>
        <p:nvSpPr>
          <p:cNvPr id="7" name="Text 4"/>
          <p:cNvSpPr txBox="1"/>
          <p:nvPr/>
        </p:nvSpPr>
        <p:spPr>
          <a:xfrm>
            <a:off x="8138160" y="1965960"/>
            <a:ext cx="3474720" cy="1737360"/>
          </a:xfrm>
          <a:prstGeom prst="rect">
            <a:avLst/>
          </a:prstGeom>
          <a:noFill/>
          <a:ln/>
        </p:spPr>
        <p:txBody>
          <a:bodyPr wrap="square" lIns="0" tIns="0" rIns="0" bIns="0" rtlCol="0" anchor="t"/>
          <a:lstStyle/>
          <a:p>
            <a:pPr indent="0" marL="0">
              <a:buNone/>
            </a:pPr>
            <a:r>
              <a:rPr lang="en-US" sz="1200" dirty="0">
                <a:solidFill>
                  <a:srgbClr val="F3F4F6"/>
                </a:solidFill>
                <a:latin typeface="Calibri" pitchFamily="34" charset="0"/>
                <a:ea typeface="Calibri" pitchFamily="34" charset="-122"/>
                <a:cs typeface="Calibri" pitchFamily="34" charset="-120"/>
              </a:rPr>
              <a:t>El operador busca y selecciona en la lista la estructura de la Cabeza Femoral Derecha.</a:t>
            </a:r>
            <a:endParaRPr lang="en-US" sz="1200" dirty="0"/>
          </a:p>
        </p:txBody>
      </p:sp>
      <p:sp>
        <p:nvSpPr>
          <p:cNvPr id="8" name="Shape 5"/>
          <p:cNvSpPr/>
          <p:nvPr/>
        </p:nvSpPr>
        <p:spPr>
          <a:xfrm>
            <a:off x="8138160" y="3749040"/>
            <a:ext cx="2468880" cy="292608"/>
          </a:xfrm>
          <a:prstGeom prst="roundRect">
            <a:avLst>
              <a:gd name="adj" fmla="val 50000"/>
            </a:avLst>
          </a:prstGeom>
          <a:solidFill>
            <a:srgbClr val="E63946"/>
          </a:solidFill>
          <a:ln w="12700">
            <a:solidFill>
              <a:srgbClr val="E63946"/>
            </a:solidFill>
            <a:prstDash val="solid"/>
          </a:ln>
        </p:spPr>
      </p:sp>
      <p:sp>
        <p:nvSpPr>
          <p:cNvPr id="9" name="Text 6"/>
          <p:cNvSpPr txBox="1"/>
          <p:nvPr/>
        </p:nvSpPr>
        <p:spPr>
          <a:xfrm>
            <a:off x="8138160" y="3749040"/>
            <a:ext cx="2468880"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QUÉ DEBE NOTAR EL ALUMNO</a:t>
            </a:r>
            <a:endParaRPr lang="en-US" sz="1050" dirty="0"/>
          </a:p>
        </p:txBody>
      </p:sp>
      <p:sp>
        <p:nvSpPr>
          <p:cNvPr id="10" name="Text 7"/>
          <p:cNvSpPr txBox="1"/>
          <p:nvPr/>
        </p:nvSpPr>
        <p:spPr>
          <a:xfrm>
            <a:off x="8138160" y="4114800"/>
            <a:ext cx="3474720" cy="1828800"/>
          </a:xfrm>
          <a:prstGeom prst="rect">
            <a:avLst/>
          </a:prstGeom>
          <a:noFill/>
          <a:ln/>
        </p:spPr>
        <p:txBody>
          <a:bodyPr wrap="square" lIns="0" tIns="0" rIns="0" bIns="0" rtlCol="0" anchor="t"/>
          <a:lstStyle/>
          <a:p>
            <a:pPr indent="0" marL="0">
              <a:buNone/>
            </a:pPr>
            <a:r>
              <a:rPr lang="en-US" sz="1200" dirty="0">
                <a:solidFill>
                  <a:srgbClr val="F3F4F6"/>
                </a:solidFill>
                <a:latin typeface="Calibri" pitchFamily="34" charset="0"/>
                <a:ea typeface="Calibri" pitchFamily="34" charset="-122"/>
                <a:cs typeface="Calibri" pitchFamily="34" charset="-120"/>
              </a:rPr>
              <a:t>Las cabezas femorales son órganos de riesgo críticos en irradiación pélvica para evitar la necrosis aséptica.</a:t>
            </a:r>
            <a:endParaRPr lang="en-US" sz="1200" dirty="0"/>
          </a:p>
        </p:txBody>
      </p:sp>
      <p:sp>
        <p:nvSpPr>
          <p:cNvPr id="11" name="Text 8"/>
          <p:cNvSpPr txBox="1"/>
          <p:nvPr/>
        </p:nvSpPr>
        <p:spPr>
          <a:xfrm>
            <a:off x="8138160" y="5989320"/>
            <a:ext cx="3474720" cy="365760"/>
          </a:xfrm>
          <a:prstGeom prst="rect">
            <a:avLst/>
          </a:prstGeom>
          <a:noFill/>
          <a:ln/>
        </p:spPr>
        <p:txBody>
          <a:bodyPr wrap="square" lIns="0" tIns="0" rIns="0" bIns="0" rtlCol="0" anchor="ctr"/>
          <a:lstStyle/>
          <a:p>
            <a:pPr indent="0" marL="0">
              <a:buNone/>
            </a:pPr>
            <a:r>
              <a:rPr lang="en-US" sz="1000" dirty="0">
                <a:solidFill>
                  <a:srgbClr val="A9B4C7"/>
                </a:solidFill>
                <a:latin typeface="Calibri" pitchFamily="34" charset="0"/>
                <a:ea typeface="Calibri" pitchFamily="34" charset="-122"/>
                <a:cs typeface="Calibri" pitchFamily="34" charset="-120"/>
              </a:rPr>
              <a:t>6 s de video · multiplanar · muestra</a:t>
            </a:r>
            <a:endParaRPr lang="en-US" sz="1000" dirty="0"/>
          </a:p>
        </p:txBody>
      </p:sp>
      <p:sp>
        <p:nvSpPr>
          <p:cNvPr id="12" name="Text 9"/>
          <p:cNvSpPr txBox="1"/>
          <p:nvPr/>
        </p:nvSpPr>
        <p:spPr>
          <a:xfrm>
            <a:off x="548640" y="6419088"/>
            <a:ext cx="11064240" cy="274320"/>
          </a:xfrm>
          <a:prstGeom prst="rect">
            <a:avLst/>
          </a:prstGeom>
          <a:noFill/>
          <a:ln/>
        </p:spPr>
        <p:txBody>
          <a:bodyPr wrap="square" lIns="0" tIns="0" rIns="0" bIns="0" rtlCol="0" anchor="ctr"/>
          <a:lstStyle/>
          <a:p>
            <a:pPr indent="0" marL="0">
              <a:buNone/>
            </a:pPr>
            <a:r>
              <a:rPr lang="en-US" sz="900" dirty="0">
                <a:solidFill>
                  <a:srgbClr val="A9B4C7"/>
                </a:solidFill>
                <a:latin typeface="Calibri" pitchFamily="34" charset="0"/>
                <a:ea typeface="Calibri" pitchFamily="34" charset="-122"/>
                <a:cs typeface="Calibri" pitchFamily="34" charset="-120"/>
              </a:rPr>
              <a:t>Clic sobre la imagen para reproducir el clip. Grabación de pantalla de Eclipse (Varian), INC 2026, anonimizada. Uso docente.</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E1726"/>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320040"/>
          </a:xfrm>
          <a:prstGeom prst="rect">
            <a:avLst/>
          </a:prstGeom>
          <a:noFill/>
          <a:ln/>
        </p:spPr>
        <p:txBody>
          <a:bodyPr wrap="square" lIns="0" tIns="0" rIns="0" bIns="0" rtlCol="0" anchor="ctr"/>
          <a:lstStyle/>
          <a:p>
            <a:pPr indent="0" marL="0">
              <a:buNone/>
            </a:pPr>
            <a:r>
              <a:rPr lang="en-US" sz="1200" b="1" spc="200" kern="0" dirty="0">
                <a:solidFill>
                  <a:srgbClr val="F2C14E"/>
                </a:solidFill>
                <a:latin typeface="Calibri" pitchFamily="34" charset="0"/>
                <a:ea typeface="Calibri" pitchFamily="34" charset="-122"/>
                <a:cs typeface="Calibri" pitchFamily="34" charset="-120"/>
              </a:rPr>
              <a:t>RECTO · DOSIS · EVALUACIÓN DEL PLAN</a:t>
            </a:r>
            <a:endParaRPr lang="en-US" sz="1200" dirty="0"/>
          </a:p>
        </p:txBody>
      </p:sp>
      <p:sp>
        <p:nvSpPr>
          <p:cNvPr id="3" name="Text 1"/>
          <p:cNvSpPr txBox="1"/>
          <p:nvPr/>
        </p:nvSpPr>
        <p:spPr>
          <a:xfrm>
            <a:off x="548640" y="685800"/>
            <a:ext cx="11064240" cy="822960"/>
          </a:xfrm>
          <a:prstGeom prst="rect">
            <a:avLst/>
          </a:prstGeom>
          <a:noFill/>
          <a:ln/>
        </p:spPr>
        <p:txBody>
          <a:bodyPr wrap="square" lIns="0" tIns="0" rIns="0" bIns="0" rtlCol="0" anchor="t"/>
          <a:lstStyle/>
          <a:p>
            <a:pPr indent="0" marL="0">
              <a:buNone/>
            </a:pPr>
            <a:r>
              <a:rPr lang="en-US" sz="3000" b="1" dirty="0">
                <a:solidFill>
                  <a:srgbClr val="F3F4F6"/>
                </a:solidFill>
                <a:latin typeface="Calibri" pitchFamily="34" charset="0"/>
                <a:ea typeface="Calibri" pitchFamily="34" charset="-122"/>
                <a:cs typeface="Calibri" pitchFamily="34" charset="-120"/>
              </a:rPr>
              <a:t>general</a:t>
            </a:r>
            <a:endParaRPr lang="en-US" sz="3000" dirty="0"/>
          </a:p>
        </p:txBody>
      </p:sp>
      <p:pic>
        <p:nvPicPr>
          <p:cNvPr id="3" name="Media 0">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548640" y="1600200"/>
            <a:ext cx="7315200" cy="4754880"/>
          </a:xfrm>
          <a:prstGeom prst="rect">
            <a:avLst/>
          </a:prstGeom>
        </p:spPr>
      </p:pic>
      <p:sp>
        <p:nvSpPr>
          <p:cNvPr id="5" name="Shape 2"/>
          <p:cNvSpPr/>
          <p:nvPr/>
        </p:nvSpPr>
        <p:spPr>
          <a:xfrm>
            <a:off x="8138160" y="1600200"/>
            <a:ext cx="1371600" cy="292608"/>
          </a:xfrm>
          <a:prstGeom prst="roundRect">
            <a:avLst>
              <a:gd name="adj" fmla="val 50000"/>
            </a:avLst>
          </a:prstGeom>
          <a:solidFill>
            <a:srgbClr val="1C2B47"/>
          </a:solidFill>
          <a:ln w="12700">
            <a:solidFill>
              <a:srgbClr val="1C2B47"/>
            </a:solidFill>
            <a:prstDash val="solid"/>
          </a:ln>
        </p:spPr>
      </p:sp>
      <p:sp>
        <p:nvSpPr>
          <p:cNvPr id="6" name="Text 3"/>
          <p:cNvSpPr txBox="1"/>
          <p:nvPr/>
        </p:nvSpPr>
        <p:spPr>
          <a:xfrm>
            <a:off x="8138160" y="1600200"/>
            <a:ext cx="1371600"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QUÉ SE VE</a:t>
            </a:r>
            <a:endParaRPr lang="en-US" sz="1050" dirty="0"/>
          </a:p>
        </p:txBody>
      </p:sp>
      <p:sp>
        <p:nvSpPr>
          <p:cNvPr id="7" name="Text 4"/>
          <p:cNvSpPr txBox="1"/>
          <p:nvPr/>
        </p:nvSpPr>
        <p:spPr>
          <a:xfrm>
            <a:off x="8138160" y="1965960"/>
            <a:ext cx="3474720" cy="1737360"/>
          </a:xfrm>
          <a:prstGeom prst="rect">
            <a:avLst/>
          </a:prstGeom>
          <a:noFill/>
          <a:ln/>
        </p:spPr>
        <p:txBody>
          <a:bodyPr wrap="square" lIns="0" tIns="0" rIns="0" bIns="0" rtlCol="0" anchor="t"/>
          <a:lstStyle/>
          <a:p>
            <a:pPr indent="0" marL="0">
              <a:buNone/>
            </a:pPr>
            <a:r>
              <a:rPr lang="en-US" sz="1200" dirty="0">
                <a:solidFill>
                  <a:srgbClr val="F3F4F6"/>
                </a:solidFill>
                <a:latin typeface="Calibri" pitchFamily="34" charset="0"/>
                <a:ea typeface="Calibri" pitchFamily="34" charset="-122"/>
                <a:cs typeface="Calibri" pitchFamily="34" charset="-120"/>
              </a:rPr>
              <a:t>El operador recorre los cortes axiales mostrando la distribución de dosis del plan de 4 campos en la pelvis. El operador cambia la visualización en el panel derecho para mostrar la vista del haz (BEV) con el colimador multiláminas (MLC). El operador vuelve a mostrar el software de grabación para finalizar la demostración.</a:t>
            </a:r>
            <a:endParaRPr lang="en-US" sz="1200" dirty="0"/>
          </a:p>
        </p:txBody>
      </p:sp>
      <p:sp>
        <p:nvSpPr>
          <p:cNvPr id="8" name="Shape 5"/>
          <p:cNvSpPr/>
          <p:nvPr/>
        </p:nvSpPr>
        <p:spPr>
          <a:xfrm>
            <a:off x="8138160" y="3749040"/>
            <a:ext cx="2468880" cy="292608"/>
          </a:xfrm>
          <a:prstGeom prst="roundRect">
            <a:avLst>
              <a:gd name="adj" fmla="val 50000"/>
            </a:avLst>
          </a:prstGeom>
          <a:solidFill>
            <a:srgbClr val="E63946"/>
          </a:solidFill>
          <a:ln w="12700">
            <a:solidFill>
              <a:srgbClr val="E63946"/>
            </a:solidFill>
            <a:prstDash val="solid"/>
          </a:ln>
        </p:spPr>
      </p:sp>
      <p:sp>
        <p:nvSpPr>
          <p:cNvPr id="9" name="Text 6"/>
          <p:cNvSpPr txBox="1"/>
          <p:nvPr/>
        </p:nvSpPr>
        <p:spPr>
          <a:xfrm>
            <a:off x="8138160" y="3749040"/>
            <a:ext cx="2468880"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QUÉ DEBE NOTAR EL ALUMNO</a:t>
            </a:r>
            <a:endParaRPr lang="en-US" sz="1050" dirty="0"/>
          </a:p>
        </p:txBody>
      </p:sp>
      <p:sp>
        <p:nvSpPr>
          <p:cNvPr id="10" name="Text 7"/>
          <p:cNvSpPr txBox="1"/>
          <p:nvPr/>
        </p:nvSpPr>
        <p:spPr>
          <a:xfrm>
            <a:off x="8138160" y="4114800"/>
            <a:ext cx="3474720" cy="1828800"/>
          </a:xfrm>
          <a:prstGeom prst="rect">
            <a:avLst/>
          </a:prstGeom>
          <a:noFill/>
          <a:ln/>
        </p:spPr>
        <p:txBody>
          <a:bodyPr wrap="square" lIns="0" tIns="0" rIns="0" bIns="0" rtlCol="0" anchor="t"/>
          <a:lstStyle/>
          <a:p>
            <a:pPr indent="0" marL="0">
              <a:buNone/>
            </a:pPr>
            <a:r>
              <a:rPr lang="en-US" sz="1200" dirty="0">
                <a:solidFill>
                  <a:srgbClr val="F3F4F6"/>
                </a:solidFill>
                <a:latin typeface="Calibri" pitchFamily="34" charset="0"/>
                <a:ea typeface="Calibri" pitchFamily="34" charset="-122"/>
                <a:cs typeface="Calibri" pitchFamily="34" charset="-120"/>
              </a:rPr>
              <a:t>Observen la clásica forma de caja de la técnica de 4 campos (box técnica), que concentra la dosis prescrita en el centro (recto y ganglios) protegiendo parcialmente las cabezas femorales. La vista 'Beams Eye View' (BEV) permite analizar cómo las láminas del colimador (MLC) se adaptan al contorno del PTV protegiendo los OAR circundantes. La correcta integración entre los límites del volumen blanco y la conformación de los campos es la clave para la aprobación de un plan convencional.</a:t>
            </a:r>
            <a:endParaRPr lang="en-US" sz="1200" dirty="0"/>
          </a:p>
        </p:txBody>
      </p:sp>
      <p:sp>
        <p:nvSpPr>
          <p:cNvPr id="11" name="Text 8"/>
          <p:cNvSpPr txBox="1"/>
          <p:nvPr/>
        </p:nvSpPr>
        <p:spPr>
          <a:xfrm>
            <a:off x="8138160" y="5989320"/>
            <a:ext cx="3474720" cy="365760"/>
          </a:xfrm>
          <a:prstGeom prst="rect">
            <a:avLst/>
          </a:prstGeom>
          <a:noFill/>
          <a:ln/>
        </p:spPr>
        <p:txBody>
          <a:bodyPr wrap="square" lIns="0" tIns="0" rIns="0" bIns="0" rtlCol="0" anchor="ctr"/>
          <a:lstStyle/>
          <a:p>
            <a:pPr indent="0" marL="0">
              <a:buNone/>
            </a:pPr>
            <a:r>
              <a:rPr lang="en-US" sz="1000" dirty="0">
                <a:solidFill>
                  <a:srgbClr val="A9B4C7"/>
                </a:solidFill>
                <a:latin typeface="Calibri" pitchFamily="34" charset="0"/>
                <a:ea typeface="Calibri" pitchFamily="34" charset="-122"/>
                <a:cs typeface="Calibri" pitchFamily="34" charset="-120"/>
              </a:rPr>
              <a:t>34 s de video a x3 · multiplanar · cambia vista, otro, recorre cortes</a:t>
            </a:r>
            <a:endParaRPr lang="en-US" sz="1000" dirty="0"/>
          </a:p>
        </p:txBody>
      </p:sp>
      <p:sp>
        <p:nvSpPr>
          <p:cNvPr id="12" name="Text 9"/>
          <p:cNvSpPr txBox="1"/>
          <p:nvPr/>
        </p:nvSpPr>
        <p:spPr>
          <a:xfrm>
            <a:off x="548640" y="6419088"/>
            <a:ext cx="11064240" cy="274320"/>
          </a:xfrm>
          <a:prstGeom prst="rect">
            <a:avLst/>
          </a:prstGeom>
          <a:noFill/>
          <a:ln/>
        </p:spPr>
        <p:txBody>
          <a:bodyPr wrap="square" lIns="0" tIns="0" rIns="0" bIns="0" rtlCol="0" anchor="ctr"/>
          <a:lstStyle/>
          <a:p>
            <a:pPr indent="0" marL="0">
              <a:buNone/>
            </a:pPr>
            <a:r>
              <a:rPr lang="en-US" sz="900" dirty="0">
                <a:solidFill>
                  <a:srgbClr val="A9B4C7"/>
                </a:solidFill>
                <a:latin typeface="Calibri" pitchFamily="34" charset="0"/>
                <a:ea typeface="Calibri" pitchFamily="34" charset="-122"/>
                <a:cs typeface="Calibri" pitchFamily="34" charset="-120"/>
              </a:rPr>
              <a:t>Clic sobre la imagen para reproducir el clip. Grabación de pantalla de Eclipse (Varian), INC 2026, anonimizada. Uso docente.</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Contorneo y planificación · recto</dc:title>
  <dc:subject>PptxGenJS Presentation</dc:subject>
  <dc:creator>PptxGenJS</dc:creator>
  <cp:lastModifiedBy>PptxGenJS</cp:lastModifiedBy>
  <cp:revision>1</cp:revision>
  <dcterms:created xsi:type="dcterms:W3CDTF">2026-10-03T14:32:07Z</dcterms:created>
  <dcterms:modified xsi:type="dcterms:W3CDTF">2026-10-03T14:32:07Z</dcterms:modified>
</cp:coreProperties>
</file>