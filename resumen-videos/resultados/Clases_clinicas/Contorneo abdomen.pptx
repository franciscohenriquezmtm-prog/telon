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Preguntas para los alumnos:
¿Cuál es la dosis prescrita por fracción y el número total de fracciones para este plan de tratamiento? (Dosis de 2.0 Gy por fracción en 15 fracciones para un total de 30 Gy).
¿Qué estructura objetivo fue definida para la normalización de la dosis de este plan? (El PTV_VMAT).
¿Cuál es el valor máximo de la isodosis calculada que se despliega en pantalla? (32.531 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rinones_en_vmat/01_CTV.mp4 (0–18 s del video rinones_en_vmat). Observe la extensión ganglionar retroperitoneal del CTV que sigue los grandes vasos abdominales.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rinones_en_vmat/02_general.mp4 (18–32 s del video rinones_en_vmat). Familiarícese con la interfaz de carga de planes y la organización de imágenes de planificación frente a las de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rinones_en_vmat/03_PTV_VMAT.mp4 (32–54 s del video rinones_en_vmat). Note cómo la isodosis de prescripción (30 Gy, representada en rojo) envuelve adecuadamente el PTV_VMAT.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Clip rinones_en_vmat/04_general.mp4 (54–65 s del video rinones_en_vmat). Confirme que la normalización del plan asegura que el 100% de la dosis prescrita cubra el 95% del volumen del PTV.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video" Target="../media/media-4-1.mp4"/><Relationship Id="rId2" Type="http://schemas.microsoft.com/office/2007/relationships/media" Target="../media/media-4-1.mp4"/><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video" Target="../media/media-5-1.mp4"/><Relationship Id="rId2" Type="http://schemas.microsoft.com/office/2007/relationships/media" Target="../media/media-5-1.mp4"/><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6"/>
        </a:solidFill>
      </p:bgPr>
    </p:bg>
    <p:spTree>
      <p:nvGrpSpPr>
        <p:cNvPr id="1" name=""/>
        <p:cNvGrpSpPr/>
        <p:nvPr/>
      </p:nvGrpSpPr>
      <p:grpSpPr>
        <a:xfrm>
          <a:off x="0" y="0"/>
          <a:ext cx="0" cy="0"/>
          <a:chOff x="0" y="0"/>
          <a:chExt cx="0" cy="0"/>
        </a:xfrm>
      </p:grpSpPr>
      <p:pic>
        <p:nvPicPr>
          <p:cNvPr id="2" name="Image 0" descr="/tmp/claude-0/-home-user-telon/44f4c94a-cd0b-5d39-be5e-ac4d3f8deac5/scratchpad/clin/clips/rinones_en_vmat/01_CTV.jpg">    </p:cNvPr>
          <p:cNvPicPr>
            <a:picLocks noChangeAspect="1"/>
          </p:cNvPicPr>
          <p:nvPr/>
        </p:nvPicPr>
        <p:blipFill>
          <a:blip r:embed="rId1">
            <a:alphaModFix amt="20000"/>
          </a:blip>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726">
              <a:alpha val="65000"/>
            </a:srgbClr>
          </a:solidFill>
          <a:ln w="12700">
            <a:solidFill>
              <a:srgbClr val="0E1726"/>
            </a:solidFill>
            <a:prstDash val="solid"/>
          </a:ln>
        </p:spPr>
      </p:sp>
      <p:sp>
        <p:nvSpPr>
          <p:cNvPr id="4" name="Text 1"/>
          <p:cNvSpPr txBox="1"/>
          <p:nvPr/>
        </p:nvSpPr>
        <p:spPr>
          <a:xfrm>
            <a:off x="731520" y="1280160"/>
            <a:ext cx="10515600" cy="365760"/>
          </a:xfrm>
          <a:prstGeom prst="rect">
            <a:avLst/>
          </a:prstGeom>
          <a:noFill/>
          <a:ln/>
        </p:spPr>
        <p:txBody>
          <a:bodyPr wrap="square" lIns="0" tIns="0" rIns="0" bIns="0" rtlCol="0" anchor="ctr"/>
          <a:lstStyle/>
          <a:p>
            <a:pPr indent="0" marL="0">
              <a:buNone/>
            </a:pPr>
            <a:r>
              <a:rPr lang="en-US" sz="1400" b="1" spc="300" kern="0" dirty="0">
                <a:solidFill>
                  <a:srgbClr val="F2C14E"/>
                </a:solidFill>
                <a:latin typeface="Calibri" pitchFamily="34" charset="0"/>
                <a:ea typeface="Calibri" pitchFamily="34" charset="-122"/>
                <a:cs typeface="Calibri" pitchFamily="34" charset="-120"/>
              </a:rPr>
              <a:t>RADIOTERAPIA · BIBLIOTECA DE CONTORNEO Y PLANIFICACIÓN · INC</a:t>
            </a:r>
            <a:endParaRPr lang="en-US" sz="1400" dirty="0"/>
          </a:p>
        </p:txBody>
      </p:sp>
      <p:sp>
        <p:nvSpPr>
          <p:cNvPr id="5" name="Text 2"/>
          <p:cNvSpPr txBox="1"/>
          <p:nvPr/>
        </p:nvSpPr>
        <p:spPr>
          <a:xfrm>
            <a:off x="731520" y="1737360"/>
            <a:ext cx="10515600" cy="118872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Abdomen</a:t>
            </a:r>
            <a:endParaRPr lang="en-US" sz="5400" dirty="0"/>
          </a:p>
        </p:txBody>
      </p:sp>
      <p:sp>
        <p:nvSpPr>
          <p:cNvPr id="6" name="Text 3"/>
          <p:cNvSpPr txBox="1"/>
          <p:nvPr/>
        </p:nvSpPr>
        <p:spPr>
          <a:xfrm>
            <a:off x="731520" y="3017520"/>
            <a:ext cx="9601200" cy="822960"/>
          </a:xfrm>
          <a:prstGeom prst="rect">
            <a:avLst/>
          </a:prstGeom>
          <a:noFill/>
          <a:ln/>
        </p:spPr>
        <p:txBody>
          <a:bodyPr wrap="square" lIns="0" tIns="0" rIns="0" bIns="0" rtlCol="0" anchor="ctr"/>
          <a:lstStyle/>
          <a:p>
            <a:pPr indent="0" marL="0">
              <a:buNone/>
            </a:pPr>
            <a:r>
              <a:rPr lang="en-US" sz="2000" dirty="0">
                <a:solidFill>
                  <a:srgbClr val="F3F4F6"/>
                </a:solidFill>
                <a:latin typeface="Calibri" pitchFamily="34" charset="0"/>
                <a:ea typeface="Calibri" pitchFamily="34" charset="-122"/>
                <a:cs typeface="Calibri" pitchFamily="34" charset="-120"/>
              </a:rPr>
              <a:t>1 casos · 4 clips de Eclipse: cómo están segmentados los OAR y los targets y cómo se evalúa el plan</a:t>
            </a:r>
            <a:endParaRPr lang="en-US" sz="2000" dirty="0"/>
          </a:p>
        </p:txBody>
      </p:sp>
      <p:sp>
        <p:nvSpPr>
          <p:cNvPr id="7" name="Text 4"/>
          <p:cNvSpPr txBox="1"/>
          <p:nvPr/>
        </p:nvSpPr>
        <p:spPr>
          <a:xfrm>
            <a:off x="731520" y="4023360"/>
            <a:ext cx="9601200" cy="731520"/>
          </a:xfrm>
          <a:prstGeom prst="rect">
            <a:avLst/>
          </a:prstGeom>
          <a:noFill/>
          <a:ln/>
        </p:spPr>
        <p:txBody>
          <a:bodyPr wrap="square" lIns="0" tIns="0" rIns="0" bIns="0" rtlCol="0" anchor="ctr"/>
          <a:lstStyle/>
          <a:p>
            <a:pPr indent="0" marL="0">
              <a:buNone/>
            </a:pPr>
            <a:r>
              <a:rPr lang="en-US" sz="1400" dirty="0">
                <a:solidFill>
                  <a:srgbClr val="A9B4C7"/>
                </a:solidFill>
                <a:latin typeface="Calibri" pitchFamily="34" charset="0"/>
                <a:ea typeface="Calibri" pitchFamily="34" charset="-122"/>
                <a:cs typeface="Calibri" pitchFamily="34" charset="-120"/>
              </a:rPr>
              <a:t>Las imágenes de cada lámina son clips: clic para reproducir. Material para armar clases; los textos de apoyo se revisan antes de usarlos.</a:t>
            </a:r>
            <a:endParaRPr lang="en-US" sz="1400" dirty="0"/>
          </a:p>
        </p:txBody>
      </p:sp>
      <p:sp>
        <p:nvSpPr>
          <p:cNvPr id="8" name="Text 5"/>
          <p:cNvSpPr txBox="1"/>
          <p:nvPr/>
        </p:nvSpPr>
        <p:spPr>
          <a:xfrm>
            <a:off x="731520" y="5852160"/>
            <a:ext cx="9601200" cy="365760"/>
          </a:xfrm>
          <a:prstGeom prst="rect">
            <a:avLst/>
          </a:prstGeom>
          <a:noFill/>
          <a:ln/>
        </p:spPr>
        <p:txBody>
          <a:bodyPr wrap="square" lIns="0" tIns="0" rIns="0" bIns="0" rtlCol="0" anchor="ctr"/>
          <a:lstStyle/>
          <a:p>
            <a:pPr indent="0" marL="0">
              <a:buNone/>
            </a:pPr>
            <a:r>
              <a:rPr lang="en-US" sz="1200" dirty="0">
                <a:solidFill>
                  <a:srgbClr val="A9B4C7"/>
                </a:solidFill>
                <a:latin typeface="Calibri" pitchFamily="34" charset="0"/>
                <a:ea typeface="Calibri" pitchFamily="34" charset="-122"/>
                <a:cs typeface="Calibri" pitchFamily="34" charset="-120"/>
              </a:rPr>
              <a:t>TM Francisco Henríquez M. · Instituto Nacional del Cáncer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CASO · ABDOMEN · VMAT</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2600" b="1" dirty="0">
                <a:solidFill>
                  <a:srgbClr val="F3F4F6"/>
                </a:solidFill>
                <a:latin typeface="Calibri" pitchFamily="34" charset="0"/>
                <a:ea typeface="Calibri" pitchFamily="34" charset="-122"/>
                <a:cs typeface="Calibri" pitchFamily="34" charset="-120"/>
              </a:rPr>
              <a:t>Evaluación de plan VMAT para Linfoma Retroperitoneal</a:t>
            </a:r>
            <a:endParaRPr lang="en-US" sz="2600" dirty="0"/>
          </a:p>
        </p:txBody>
      </p:sp>
      <p:sp>
        <p:nvSpPr>
          <p:cNvPr id="4" name="Text 2"/>
          <p:cNvSpPr txBox="1"/>
          <p:nvPr/>
        </p:nvSpPr>
        <p:spPr>
          <a:xfrm>
            <a:off x="548640" y="1600200"/>
            <a:ext cx="6766560" cy="2194560"/>
          </a:xfrm>
          <a:prstGeom prst="rect">
            <a:avLst/>
          </a:prstGeom>
          <a:noFill/>
          <a:ln/>
        </p:spPr>
        <p:txBody>
          <a:bodyPr wrap="square" lIns="0" tIns="0" rIns="0" bIns="0" rtlCol="0" anchor="t"/>
          <a:lstStyle/>
          <a:p>
            <a:pPr indent="0" marL="0">
              <a:buNone/>
            </a:pPr>
            <a:r>
              <a:rPr lang="en-US" sz="1350" dirty="0">
                <a:solidFill>
                  <a:srgbClr val="F3F4F6"/>
                </a:solidFill>
                <a:latin typeface="Calibri" pitchFamily="34" charset="0"/>
                <a:ea typeface="Calibri" pitchFamily="34" charset="-122"/>
                <a:cs typeface="Calibri" pitchFamily="34" charset="-120"/>
              </a:rPr>
              <a:t>El video muestra la revisión de las estructuras segmentadas y la posterior evaluación de un plan de tratamiento con técnica VMAT para un linfoma retroperitoneal en el software Eclipse de Varian. Se analizan la distribución de dosis y las curvas de isodosis sobre la tomografía computada (CT) de planificación en planos axial, coronal, sagital y reconstrucción 3D, verificando una dosis de 30 Gy en 15 fracciones.</a:t>
            </a:r>
            <a:endParaRPr lang="en-US" sz="1350" dirty="0"/>
          </a:p>
        </p:txBody>
      </p:sp>
      <p:sp>
        <p:nvSpPr>
          <p:cNvPr id="5" name="Shape 3"/>
          <p:cNvSpPr/>
          <p:nvPr/>
        </p:nvSpPr>
        <p:spPr>
          <a:xfrm>
            <a:off x="548640" y="3886200"/>
            <a:ext cx="2377440" cy="292608"/>
          </a:xfrm>
          <a:prstGeom prst="roundRect">
            <a:avLst>
              <a:gd name="adj" fmla="val 50000"/>
            </a:avLst>
          </a:prstGeom>
          <a:solidFill>
            <a:srgbClr val="1C2B47"/>
          </a:solidFill>
          <a:ln w="12700">
            <a:solidFill>
              <a:srgbClr val="1C2B47"/>
            </a:solidFill>
            <a:prstDash val="solid"/>
          </a:ln>
        </p:spPr>
      </p:sp>
      <p:sp>
        <p:nvSpPr>
          <p:cNvPr id="6" name="Text 4"/>
          <p:cNvSpPr txBox="1"/>
          <p:nvPr/>
        </p:nvSpPr>
        <p:spPr>
          <a:xfrm>
            <a:off x="548640" y="3886200"/>
            <a:ext cx="23774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ESTRUCTURAS DEL CASO</a:t>
            </a:r>
            <a:endParaRPr lang="en-US" sz="1050" dirty="0"/>
          </a:p>
        </p:txBody>
      </p:sp>
      <p:sp>
        <p:nvSpPr>
          <p:cNvPr id="7" name="Text 5"/>
          <p:cNvSpPr txBox="1"/>
          <p:nvPr/>
        </p:nvSpPr>
        <p:spPr>
          <a:xfrm>
            <a:off x="548640" y="4251960"/>
            <a:ext cx="6766560" cy="2011680"/>
          </a:xfrm>
          <a:prstGeom prst="rect">
            <a:avLst/>
          </a:prstGeom>
          <a:noFill/>
          <a:ln/>
        </p:spPr>
        <p:txBody>
          <a:bodyPr wrap="square" lIns="0" tIns="0" rIns="0" bIns="0" rtlCol="0" anchor="t"/>
          <a:lstStyle/>
          <a:p>
            <a:pPr indent="0" marL="0">
              <a:buNone/>
            </a:pPr>
            <a:r>
              <a:rPr lang="en-US" sz="1150" dirty="0">
                <a:solidFill>
                  <a:srgbClr val="A9B4C7"/>
                </a:solidFill>
                <a:latin typeface="Calibri" pitchFamily="34" charset="0"/>
                <a:ea typeface="Calibri" pitchFamily="34" charset="-122"/>
                <a:cs typeface="Calibri" pitchFamily="34" charset="-120"/>
              </a:rPr>
              <a:t>CTV · PTV · PTV_VMAT · Artefacto · BODY · Bolsa Intestinal · Cabeza Femoral D · Cabeza Femoral I · Cauda Equina · Corazon · CouchInterior · CouchSurface · FSC · FSC_BODY · FSC_PTV · Higado · Medula Espinal · Pulmon Der · Pulmon Izq · Pulmones · Recto · Rifion Derecho · Rifion Izquierdo · Riñones · Sigmoide · Vejiga</a:t>
            </a:r>
            <a:endParaRPr lang="en-US" sz="1150" dirty="0"/>
          </a:p>
        </p:txBody>
      </p:sp>
      <p:sp>
        <p:nvSpPr>
          <p:cNvPr id="8" name="Shape 6"/>
          <p:cNvSpPr/>
          <p:nvPr/>
        </p:nvSpPr>
        <p:spPr>
          <a:xfrm>
            <a:off x="7589520" y="1600200"/>
            <a:ext cx="3291840" cy="292608"/>
          </a:xfrm>
          <a:prstGeom prst="roundRect">
            <a:avLst>
              <a:gd name="adj" fmla="val 50000"/>
            </a:avLst>
          </a:prstGeom>
          <a:solidFill>
            <a:srgbClr val="E63946"/>
          </a:solidFill>
          <a:ln w="12700">
            <a:solidFill>
              <a:srgbClr val="E63946"/>
            </a:solidFill>
            <a:prstDash val="solid"/>
          </a:ln>
        </p:spPr>
      </p:sp>
      <p:sp>
        <p:nvSpPr>
          <p:cNvPr id="9" name="Text 7"/>
          <p:cNvSpPr txBox="1"/>
          <p:nvPr/>
        </p:nvSpPr>
        <p:spPr>
          <a:xfrm>
            <a:off x="7589520" y="1600200"/>
            <a:ext cx="329184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CONCEPTOS QUE PERMITE ENSEÑAR</a:t>
            </a:r>
            <a:endParaRPr lang="en-US" sz="1050" dirty="0"/>
          </a:p>
        </p:txBody>
      </p:sp>
      <p:sp>
        <p:nvSpPr>
          <p:cNvPr id="10" name="Text 8"/>
          <p:cNvSpPr txBox="1"/>
          <p:nvPr/>
        </p:nvSpPr>
        <p:spPr>
          <a:xfrm>
            <a:off x="7589520" y="1965960"/>
            <a:ext cx="4023360" cy="42976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Planificación de arcoterapia volumétrica modulada (VMAT) para un volumen blanco retroperitoneal extenso.</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Prescripción clásica de radioterapia para Linfoma de 30 Gy en 15 fracciones con dosis diaria de 2.0 Gy.</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Evaluación cualitativa de la distribución tridimensional de dosis utilizando curvas de isodosis en planos axial, sagital y coronal.</a:t>
            </a:r>
            <a:endParaRPr lang="en-US" sz="1200" dirty="0"/>
          </a:p>
          <a:p>
            <a:pPr marL="177800" indent="-177800">
              <a:spcAft>
                <a:spcPts val="600"/>
              </a:spcAft>
              <a:buSzPct val="100000"/>
              <a:buChar char="•"/>
            </a:pPr>
            <a:r>
              <a:rPr lang="en-US" sz="1200" dirty="0">
                <a:solidFill>
                  <a:srgbClr val="F3F4F6"/>
                </a:solidFill>
                <a:latin typeface="Calibri" pitchFamily="34" charset="0"/>
                <a:ea typeface="Calibri" pitchFamily="34" charset="-122"/>
                <a:cs typeface="Calibri" pitchFamily="34" charset="-120"/>
              </a:rPr>
              <a:t>Análisis de normalización del plan buscando que el 100% de la dosis de prescripción cubra al menos el 95% del PTV.</a:t>
            </a:r>
            <a:endParaRPr lang="en-US" sz="1200" dirty="0"/>
          </a:p>
        </p:txBody>
      </p:sp>
      <p:sp>
        <p:nvSpPr>
          <p:cNvPr id="11"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Clips de este caso: CTV, general, PTV_VMAT, general. Grabación de pantalla de Eclipse (Varian), INC 2026, anonimizada. Uso docente.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ABDOMEN · TARGET · CONTORNEO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CTV</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recorre el volumen del CTV en dirección cráneo-caudal en el módulo de contorneo.</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Observe la extensión ganglionar retroperitoneal del CTV que sigue los grandes vasos abdominales.</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18 s de video a x2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ABDOMEN · GENERAL · PLANIFICACIÓN DEL HAZ EXTERNO</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El operador cambia al módulo de Planificación del haz externo y abre el plan de tratamiento de abdomen.</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Familiarícese con la interfaz de carga de planes y la organización de imágenes de planificación frente a las de control.</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14 s de video a x1 · multiplanar · cambia vista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ABDOMEN · TARGET · EVALUACIÓN DEL PLAN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PTV_VMAT</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evalúa la distribución de dosis y las isodosis sobre el PTV_VMAT en cortes axiales.</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Note cómo la isodosis de prescripción (30 Gy, representada en rojo) envuelve adecuadamente el PTV_VMAT.</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22 s de video a x2 · axial · recorre cortes</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726"/>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320040"/>
          </a:xfrm>
          <a:prstGeom prst="rect">
            <a:avLst/>
          </a:prstGeom>
          <a:noFill/>
          <a:ln/>
        </p:spPr>
        <p:txBody>
          <a:bodyPr wrap="square" lIns="0" tIns="0" rIns="0" bIns="0" rtlCol="0" anchor="ctr"/>
          <a:lstStyle/>
          <a:p>
            <a:pPr indent="0" marL="0">
              <a:buNone/>
            </a:pPr>
            <a:r>
              <a:rPr lang="en-US" sz="1200" b="1" spc="200" kern="0" dirty="0">
                <a:solidFill>
                  <a:srgbClr val="F2C14E"/>
                </a:solidFill>
                <a:latin typeface="Calibri" pitchFamily="34" charset="0"/>
                <a:ea typeface="Calibri" pitchFamily="34" charset="-122"/>
                <a:cs typeface="Calibri" pitchFamily="34" charset="-120"/>
              </a:rPr>
              <a:t>ABDOMEN · TABLA · EVALUACIÓN DEL PLAN</a:t>
            </a:r>
            <a:endParaRPr lang="en-US" sz="1200" dirty="0"/>
          </a:p>
        </p:txBody>
      </p:sp>
      <p:sp>
        <p:nvSpPr>
          <p:cNvPr id="3" name="Text 1"/>
          <p:cNvSpPr txBox="1"/>
          <p:nvPr/>
        </p:nvSpPr>
        <p:spPr>
          <a:xfrm>
            <a:off x="548640" y="685800"/>
            <a:ext cx="11064240" cy="822960"/>
          </a:xfrm>
          <a:prstGeom prst="rect">
            <a:avLst/>
          </a:prstGeom>
          <a:noFill/>
          <a:ln/>
        </p:spPr>
        <p:txBody>
          <a:bodyPr wrap="square" lIns="0" tIns="0" rIns="0" bIns="0" rtlCol="0" anchor="t"/>
          <a:lstStyle/>
          <a:p>
            <a:pPr indent="0" marL="0">
              <a:buNone/>
            </a:pPr>
            <a:r>
              <a:rPr lang="en-US" sz="3000" b="1" dirty="0">
                <a:solidFill>
                  <a:srgbClr val="F3F4F6"/>
                </a:solidFill>
                <a:latin typeface="Calibri" pitchFamily="34" charset="0"/>
                <a:ea typeface="Calibri" pitchFamily="34" charset="-122"/>
                <a:cs typeface="Calibri" pitchFamily="34" charset="-120"/>
              </a:rPr>
              <a:t>general</a:t>
            </a:r>
            <a:endParaRPr lang="en-US" sz="30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315200" cy="4754880"/>
          </a:xfrm>
          <a:prstGeom prst="rect">
            <a:avLst/>
          </a:prstGeom>
        </p:spPr>
      </p:pic>
      <p:sp>
        <p:nvSpPr>
          <p:cNvPr id="5" name="Shape 2"/>
          <p:cNvSpPr/>
          <p:nvPr/>
        </p:nvSpPr>
        <p:spPr>
          <a:xfrm>
            <a:off x="8138160" y="1600200"/>
            <a:ext cx="1371600" cy="292608"/>
          </a:xfrm>
          <a:prstGeom prst="roundRect">
            <a:avLst>
              <a:gd name="adj" fmla="val 50000"/>
            </a:avLst>
          </a:prstGeom>
          <a:solidFill>
            <a:srgbClr val="1C2B47"/>
          </a:solidFill>
          <a:ln w="12700">
            <a:solidFill>
              <a:srgbClr val="1C2B47"/>
            </a:solidFill>
            <a:prstDash val="solid"/>
          </a:ln>
        </p:spPr>
      </p:sp>
      <p:sp>
        <p:nvSpPr>
          <p:cNvPr id="6" name="Text 3"/>
          <p:cNvSpPr txBox="1"/>
          <p:nvPr/>
        </p:nvSpPr>
        <p:spPr>
          <a:xfrm>
            <a:off x="8138160" y="1600200"/>
            <a:ext cx="137160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SE VE</a:t>
            </a:r>
            <a:endParaRPr lang="en-US" sz="1050" dirty="0"/>
          </a:p>
        </p:txBody>
      </p:sp>
      <p:sp>
        <p:nvSpPr>
          <p:cNvPr id="7" name="Text 4"/>
          <p:cNvSpPr txBox="1"/>
          <p:nvPr/>
        </p:nvSpPr>
        <p:spPr>
          <a:xfrm>
            <a:off x="8138160" y="1965960"/>
            <a:ext cx="3474720" cy="173736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Se muestra la pestaña de dosis con la prescripción de 30 Gy en 15 fracciones para el PTV_VMAT.</a:t>
            </a:r>
            <a:endParaRPr lang="en-US" sz="1200" dirty="0"/>
          </a:p>
        </p:txBody>
      </p:sp>
      <p:sp>
        <p:nvSpPr>
          <p:cNvPr id="8" name="Shape 5"/>
          <p:cNvSpPr/>
          <p:nvPr/>
        </p:nvSpPr>
        <p:spPr>
          <a:xfrm>
            <a:off x="8138160" y="3749040"/>
            <a:ext cx="2468880" cy="292608"/>
          </a:xfrm>
          <a:prstGeom prst="roundRect">
            <a:avLst>
              <a:gd name="adj" fmla="val 50000"/>
            </a:avLst>
          </a:prstGeom>
          <a:solidFill>
            <a:srgbClr val="E63946"/>
          </a:solidFill>
          <a:ln w="12700">
            <a:solidFill>
              <a:srgbClr val="E63946"/>
            </a:solidFill>
            <a:prstDash val="solid"/>
          </a:ln>
        </p:spPr>
      </p:sp>
      <p:sp>
        <p:nvSpPr>
          <p:cNvPr id="9" name="Text 6"/>
          <p:cNvSpPr txBox="1"/>
          <p:nvPr/>
        </p:nvSpPr>
        <p:spPr>
          <a:xfrm>
            <a:off x="8138160" y="3749040"/>
            <a:ext cx="24688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QUÉ DEBE NOTAR EL ALUMNO</a:t>
            </a:r>
            <a:endParaRPr lang="en-US" sz="1050" dirty="0"/>
          </a:p>
        </p:txBody>
      </p:sp>
      <p:sp>
        <p:nvSpPr>
          <p:cNvPr id="10" name="Text 7"/>
          <p:cNvSpPr txBox="1"/>
          <p:nvPr/>
        </p:nvSpPr>
        <p:spPr>
          <a:xfrm>
            <a:off x="8138160" y="4114800"/>
            <a:ext cx="3474720" cy="1828800"/>
          </a:xfrm>
          <a:prstGeom prst="rect">
            <a:avLst/>
          </a:prstGeom>
          <a:noFill/>
          <a:ln/>
        </p:spPr>
        <p:txBody>
          <a:bodyPr wrap="square" lIns="0" tIns="0" rIns="0" bIns="0" rtlCol="0" anchor="t"/>
          <a:lstStyle/>
          <a:p>
            <a:pPr indent="0" marL="0">
              <a:buNone/>
            </a:pPr>
            <a:r>
              <a:rPr lang="en-US" sz="1200" dirty="0">
                <a:solidFill>
                  <a:srgbClr val="F3F4F6"/>
                </a:solidFill>
                <a:latin typeface="Calibri" pitchFamily="34" charset="0"/>
                <a:ea typeface="Calibri" pitchFamily="34" charset="-122"/>
                <a:cs typeface="Calibri" pitchFamily="34" charset="-120"/>
              </a:rPr>
              <a:t>Confirme que la normalización del plan asegura que el 100% de la dosis prescrita cubra el 95% del volumen del PTV.</a:t>
            </a:r>
            <a:endParaRPr lang="en-US" sz="1200" dirty="0"/>
          </a:p>
        </p:txBody>
      </p:sp>
      <p:sp>
        <p:nvSpPr>
          <p:cNvPr id="11" name="Text 8"/>
          <p:cNvSpPr txBox="1"/>
          <p:nvPr/>
        </p:nvSpPr>
        <p:spPr>
          <a:xfrm>
            <a:off x="8138160" y="5989320"/>
            <a:ext cx="3474720" cy="365760"/>
          </a:xfrm>
          <a:prstGeom prst="rect">
            <a:avLst/>
          </a:prstGeom>
          <a:noFill/>
          <a:ln/>
        </p:spPr>
        <p:txBody>
          <a:bodyPr wrap="square" lIns="0" tIns="0" rIns="0" bIns="0" rtlCol="0" anchor="ctr"/>
          <a:lstStyle/>
          <a:p>
            <a:pPr indent="0" marL="0">
              <a:buNone/>
            </a:pPr>
            <a:r>
              <a:rPr lang="en-US" sz="1000" dirty="0">
                <a:solidFill>
                  <a:srgbClr val="A9B4C7"/>
                </a:solidFill>
                <a:latin typeface="Calibri" pitchFamily="34" charset="0"/>
                <a:ea typeface="Calibri" pitchFamily="34" charset="-122"/>
                <a:cs typeface="Calibri" pitchFamily="34" charset="-120"/>
              </a:rPr>
              <a:t>11 s de video · tabla · revisa tabla</a:t>
            </a:r>
            <a:endParaRPr lang="en-US" sz="1000" dirty="0"/>
          </a:p>
        </p:txBody>
      </p:sp>
      <p:sp>
        <p:nvSpPr>
          <p:cNvPr id="12" name="Text 9"/>
          <p:cNvSpPr txBox="1"/>
          <p:nvPr/>
        </p:nvSpPr>
        <p:spPr>
          <a:xfrm>
            <a:off x="548640" y="6419088"/>
            <a:ext cx="11064240" cy="274320"/>
          </a:xfrm>
          <a:prstGeom prst="rect">
            <a:avLst/>
          </a:prstGeom>
          <a:noFill/>
          <a:ln/>
        </p:spPr>
        <p:txBody>
          <a:bodyPr wrap="square" lIns="0" tIns="0" rIns="0" bIns="0" rtlCol="0" anchor="ctr"/>
          <a:lstStyle/>
          <a:p>
            <a:pPr indent="0" marL="0">
              <a:buNone/>
            </a:pPr>
            <a:r>
              <a:rPr lang="en-US" sz="900" dirty="0">
                <a:solidFill>
                  <a:srgbClr val="A9B4C7"/>
                </a:solidFill>
                <a:latin typeface="Calibri" pitchFamily="34" charset="0"/>
                <a:ea typeface="Calibri" pitchFamily="34" charset="-122"/>
                <a:cs typeface="Calibri" pitchFamily="34" charset="-120"/>
              </a:rPr>
              <a:t>Clic sobre la imagen para reproducir el clip. Grabación de pantalla de Eclipse (Varian), INC 2026, anonimizada. Uso docente.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Contorneo y planificación · abdomen</dc:title>
  <dc:subject>PptxGenJS Presentation</dc:subject>
  <dc:creator>PptxGenJS</dc:creator>
  <cp:lastModifiedBy>PptxGenJS</cp:lastModifiedBy>
  <cp:revision>1</cp:revision>
  <dcterms:created xsi:type="dcterms:W3CDTF">2026-10-03T14:32:07Z</dcterms:created>
  <dcterms:modified xsi:type="dcterms:W3CDTF">2026-10-03T14:32:07Z</dcterms:modified>
</cp:coreProperties>
</file>