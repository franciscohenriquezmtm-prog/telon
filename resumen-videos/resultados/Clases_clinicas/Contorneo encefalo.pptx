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para los alumnos:
¿Qué tipo de campos se configuran típicamente para una irradiación de cerebro total paliativa? (Campos laterales opuestos paralelos).
¿Por qué es fundamental revisar el contorneo en planos sagital y coronal antes de planificar? (Para garantizar la continuidad anatómica tridimensional y evitar omisiones entre cortes axiales).
¿Qué estructura crítica anterior se debe evitar proteger excesivamente si compromete el volumen blanco en metástasis cerebrales? (Los ojos y cristalinos se deben resguardar pero cuidando no subdosificar las meninges frontales).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encefalo/01_ICRU_Encefalo.mp4 (0–30 s del video encefalo). Observar la extensión de las estructuras anatómicas del cuello y tórax superior en relación al volumen de referencia cerebral. Notar cómo aparece el volumen contorneado 'ICRU Encefalo' en la fosa craneal a medida que se asciende. La vista multiplanar (axial, sagital, coronal y 3D) permite verificar la consistencia tridimensional del contorneo de un volumen complejo.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encefalo/02_Encefalo.mp4 (44–58 s del video encefalo). La evaluación de dosis exige comprobar que la dosis de prescripción cubra adecuadamente el volumen blanco (encéfalo completo en este caso paliativo) minimizando la dosis fuera de la región objetivo.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encefalo/03_general.mp4 (58–66 s del video encefalo). Revisar los ángulos de gantry, colimador y energía de cada campo asegura que el plan propuesto sea físicamente viable y seguro para el paciente.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pic>
        <p:nvPicPr>
          <p:cNvPr id="2" name="Image 0" descr="/tmp/claude-0/-home-user-telon/44f4c94a-cd0b-5d39-be5e-ac4d3f8deac5/scratchpad/clin/clips/encefalo/01_ICRU_Encefalo.jpg">    </p:cNvPr>
          <p:cNvPicPr>
            <a:picLocks noChangeAspect="1"/>
          </p:cNvPicPr>
          <p:nvPr/>
        </p:nvPicPr>
        <p:blipFill>
          <a:blip r:embed="rId1">
            <a:alphaModFix amt="20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726">
              <a:alpha val="65000"/>
            </a:srgbClr>
          </a:solidFill>
          <a:ln w="12700">
            <a:solidFill>
              <a:srgbClr val="0E1726"/>
            </a:solidFill>
            <a:prstDash val="solid"/>
          </a:ln>
        </p:spPr>
      </p:sp>
      <p:sp>
        <p:nvSpPr>
          <p:cNvPr id="4" name="Text 1"/>
          <p:cNvSpPr txBox="1"/>
          <p:nvPr/>
        </p:nvSpPr>
        <p:spPr>
          <a:xfrm>
            <a:off x="731520" y="1280160"/>
            <a:ext cx="10515600" cy="365760"/>
          </a:xfrm>
          <a:prstGeom prst="rect">
            <a:avLst/>
          </a:prstGeom>
          <a:noFill/>
          <a:ln/>
        </p:spPr>
        <p:txBody>
          <a:bodyPr wrap="square" lIns="0" tIns="0" rIns="0" bIns="0" rtlCol="0" anchor="ctr"/>
          <a:lstStyle/>
          <a:p>
            <a:pPr indent="0" marL="0">
              <a:buNone/>
            </a:pPr>
            <a:r>
              <a:rPr lang="en-US" sz="1400" b="1" spc="300" kern="0" dirty="0">
                <a:solidFill>
                  <a:srgbClr val="F2C14E"/>
                </a:solidFill>
                <a:latin typeface="Calibri" pitchFamily="34" charset="0"/>
                <a:ea typeface="Calibri" pitchFamily="34" charset="-122"/>
                <a:cs typeface="Calibri" pitchFamily="34" charset="-120"/>
              </a:rPr>
              <a:t>RADIOTERAPIA · BIBLIOTECA DE CONTORNEO Y PLANIFICACIÓN · INC</a:t>
            </a:r>
            <a:endParaRPr lang="en-US" sz="1400" dirty="0"/>
          </a:p>
        </p:txBody>
      </p:sp>
      <p:sp>
        <p:nvSpPr>
          <p:cNvPr id="5" name="Text 2"/>
          <p:cNvSpPr txBox="1"/>
          <p:nvPr/>
        </p:nvSpPr>
        <p:spPr>
          <a:xfrm>
            <a:off x="731520" y="1737360"/>
            <a:ext cx="10515600" cy="118872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Encéfalo</a:t>
            </a:r>
            <a:endParaRPr lang="en-US" sz="5400" dirty="0"/>
          </a:p>
        </p:txBody>
      </p:sp>
      <p:sp>
        <p:nvSpPr>
          <p:cNvPr id="6" name="Text 3"/>
          <p:cNvSpPr txBox="1"/>
          <p:nvPr/>
        </p:nvSpPr>
        <p:spPr>
          <a:xfrm>
            <a:off x="731520" y="3017520"/>
            <a:ext cx="9601200" cy="822960"/>
          </a:xfrm>
          <a:prstGeom prst="rect">
            <a:avLst/>
          </a:prstGeom>
          <a:noFill/>
          <a:ln/>
        </p:spPr>
        <p:txBody>
          <a:bodyPr wrap="square" lIns="0" tIns="0" rIns="0" bIns="0" rtlCol="0" anchor="ctr"/>
          <a:lstStyle/>
          <a:p>
            <a:pPr indent="0" marL="0">
              <a:buNone/>
            </a:pPr>
            <a:r>
              <a:rPr lang="en-US" sz="2000" dirty="0">
                <a:solidFill>
                  <a:srgbClr val="F3F4F6"/>
                </a:solidFill>
                <a:latin typeface="Calibri" pitchFamily="34" charset="0"/>
                <a:ea typeface="Calibri" pitchFamily="34" charset="-122"/>
                <a:cs typeface="Calibri" pitchFamily="34" charset="-120"/>
              </a:rPr>
              <a:t>1 casos · 3 clips de Eclipse: cómo están segmentados los OAR y los targets y cómo se evalúa el plan</a:t>
            </a:r>
            <a:endParaRPr lang="en-US" sz="2000" dirty="0"/>
          </a:p>
        </p:txBody>
      </p:sp>
      <p:sp>
        <p:nvSpPr>
          <p:cNvPr id="7" name="Text 4"/>
          <p:cNvSpPr txBox="1"/>
          <p:nvPr/>
        </p:nvSpPr>
        <p:spPr>
          <a:xfrm>
            <a:off x="731520" y="4023360"/>
            <a:ext cx="9601200" cy="731520"/>
          </a:xfrm>
          <a:prstGeom prst="rect">
            <a:avLst/>
          </a:prstGeom>
          <a:noFill/>
          <a:ln/>
        </p:spPr>
        <p:txBody>
          <a:bodyPr wrap="square" lIns="0" tIns="0" rIns="0" bIns="0" rtlCol="0" anchor="ctr"/>
          <a:lstStyle/>
          <a:p>
            <a:pPr indent="0" marL="0">
              <a:buNone/>
            </a:pPr>
            <a:r>
              <a:rPr lang="en-US" sz="1400" dirty="0">
                <a:solidFill>
                  <a:srgbClr val="A9B4C7"/>
                </a:solidFill>
                <a:latin typeface="Calibri" pitchFamily="34" charset="0"/>
                <a:ea typeface="Calibri" pitchFamily="34" charset="-122"/>
                <a:cs typeface="Calibri" pitchFamily="34" charset="-120"/>
              </a:rPr>
              <a:t>Las imágenes de cada lámina son clips: clic para reproducir. Material para armar clases; los textos de apoyo se revisan antes de usarlos.</a:t>
            </a:r>
            <a:endParaRPr lang="en-US" sz="1400" dirty="0"/>
          </a:p>
        </p:txBody>
      </p:sp>
      <p:sp>
        <p:nvSpPr>
          <p:cNvPr id="8" name="Text 5"/>
          <p:cNvSpPr txBox="1"/>
          <p:nvPr/>
        </p:nvSpPr>
        <p:spPr>
          <a:xfrm>
            <a:off x="731520" y="5852160"/>
            <a:ext cx="9601200" cy="365760"/>
          </a:xfrm>
          <a:prstGeom prst="rect">
            <a:avLst/>
          </a:prstGeom>
          <a:noFill/>
          <a:ln/>
        </p:spPr>
        <p:txBody>
          <a:bodyPr wrap="square" lIns="0" tIns="0" rIns="0" bIns="0" rtlCol="0" anchor="ctr"/>
          <a:lstStyle/>
          <a:p>
            <a:pPr indent="0" marL="0">
              <a:buNone/>
            </a:pPr>
            <a:r>
              <a:rPr lang="en-US" sz="1200" dirty="0">
                <a:solidFill>
                  <a:srgbClr val="A9B4C7"/>
                </a:solidFill>
                <a:latin typeface="Calibri" pitchFamily="34" charset="0"/>
                <a:ea typeface="Calibri" pitchFamily="34" charset="-122"/>
                <a:cs typeface="Calibri" pitchFamily="34" charset="-120"/>
              </a:rPr>
              <a:t>TM Francisco Henríquez M. · Instituto Nacional del Cáncer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 ENCÉFALO · 3D</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2600" b="1" dirty="0">
                <a:solidFill>
                  <a:srgbClr val="F3F4F6"/>
                </a:solidFill>
                <a:latin typeface="Calibri" pitchFamily="34" charset="0"/>
                <a:ea typeface="Calibri" pitchFamily="34" charset="-122"/>
                <a:cs typeface="Calibri" pitchFamily="34" charset="-120"/>
              </a:rPr>
              <a:t>Revisión de Estructuras y Plan de Tratamiento en Encéfalo</a:t>
            </a:r>
            <a:endParaRPr lang="en-US" sz="2600" dirty="0"/>
          </a:p>
        </p:txBody>
      </p:sp>
      <p:sp>
        <p:nvSpPr>
          <p:cNvPr id="4" name="Text 2"/>
          <p:cNvSpPr txBox="1"/>
          <p:nvPr/>
        </p:nvSpPr>
        <p:spPr>
          <a:xfrm>
            <a:off x="548640" y="1600200"/>
            <a:ext cx="6766560" cy="2194560"/>
          </a:xfrm>
          <a:prstGeom prst="rect">
            <a:avLst/>
          </a:prstGeom>
          <a:noFill/>
          <a:ln/>
        </p:spPr>
        <p:txBody>
          <a:bodyPr wrap="square" lIns="0" tIns="0" rIns="0" bIns="0" rtlCol="0" anchor="t"/>
          <a:lstStyle/>
          <a:p>
            <a:pPr indent="0" marL="0">
              <a:buNone/>
            </a:pPr>
            <a:r>
              <a:rPr lang="en-US" sz="1350" dirty="0">
                <a:solidFill>
                  <a:srgbClr val="F3F4F6"/>
                </a:solidFill>
                <a:latin typeface="Calibri" pitchFamily="34" charset="0"/>
                <a:ea typeface="Calibri" pitchFamily="34" charset="-122"/>
                <a:cs typeface="Calibri" pitchFamily="34" charset="-120"/>
              </a:rPr>
              <a:t>El video muestra la revisión de las estructuras segmentadas (como el encéfalo, médula, tronco y cristalinos) y la posterior carga de un plan de tratamiento 3D para encéfalo completo en el software Eclipse. Se transita desde el módulo de Contorneo al de Planificación del haz externo para evaluar la distribución de dosis y los campos.</a:t>
            </a:r>
            <a:endParaRPr lang="en-US" sz="1350" dirty="0"/>
          </a:p>
        </p:txBody>
      </p:sp>
      <p:sp>
        <p:nvSpPr>
          <p:cNvPr id="5" name="Shape 3"/>
          <p:cNvSpPr/>
          <p:nvPr/>
        </p:nvSpPr>
        <p:spPr>
          <a:xfrm>
            <a:off x="548640" y="3886200"/>
            <a:ext cx="2377440" cy="292608"/>
          </a:xfrm>
          <a:prstGeom prst="roundRect">
            <a:avLst>
              <a:gd name="adj" fmla="val 50000"/>
            </a:avLst>
          </a:prstGeom>
          <a:solidFill>
            <a:srgbClr val="1C2B47"/>
          </a:solidFill>
          <a:ln w="12700">
            <a:solidFill>
              <a:srgbClr val="1C2B47"/>
            </a:solidFill>
            <a:prstDash val="solid"/>
          </a:ln>
        </p:spPr>
      </p:sp>
      <p:sp>
        <p:nvSpPr>
          <p:cNvPr id="6" name="Text 4"/>
          <p:cNvSpPr txBox="1"/>
          <p:nvPr/>
        </p:nvSpPr>
        <p:spPr>
          <a:xfrm>
            <a:off x="548640" y="3886200"/>
            <a:ext cx="23774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ESTRUCTURAS DEL CASO</a:t>
            </a:r>
            <a:endParaRPr lang="en-US" sz="1050" dirty="0"/>
          </a:p>
        </p:txBody>
      </p:sp>
      <p:sp>
        <p:nvSpPr>
          <p:cNvPr id="7" name="Text 5"/>
          <p:cNvSpPr txBox="1"/>
          <p:nvPr/>
        </p:nvSpPr>
        <p:spPr>
          <a:xfrm>
            <a:off x="548640" y="4251960"/>
            <a:ext cx="6766560" cy="2011680"/>
          </a:xfrm>
          <a:prstGeom prst="rect">
            <a:avLst/>
          </a:prstGeom>
          <a:noFill/>
          <a:ln/>
        </p:spPr>
        <p:txBody>
          <a:bodyPr wrap="square" lIns="0" tIns="0" rIns="0" bIns="0" rtlCol="0" anchor="t"/>
          <a:lstStyle/>
          <a:p>
            <a:pPr indent="0" marL="0">
              <a:buNone/>
            </a:pPr>
            <a:r>
              <a:rPr lang="en-US" sz="1150" dirty="0">
                <a:solidFill>
                  <a:srgbClr val="A9B4C7"/>
                </a:solidFill>
                <a:latin typeface="Calibri" pitchFamily="34" charset="0"/>
                <a:ea typeface="Calibri" pitchFamily="34" charset="-122"/>
                <a:cs typeface="Calibri" pitchFamily="34" charset="-120"/>
              </a:rPr>
              <a:t>CTV · PTV · BODY · Cristalino D · Cristalino I · Encéfalo · Medula Espinal · Tronco Encefalic · ICRU Encéfalo</a:t>
            </a:r>
            <a:endParaRPr lang="en-US" sz="1150" dirty="0"/>
          </a:p>
        </p:txBody>
      </p:sp>
      <p:sp>
        <p:nvSpPr>
          <p:cNvPr id="8" name="Shape 6"/>
          <p:cNvSpPr/>
          <p:nvPr/>
        </p:nvSpPr>
        <p:spPr>
          <a:xfrm>
            <a:off x="7589520" y="1600200"/>
            <a:ext cx="3291840" cy="292608"/>
          </a:xfrm>
          <a:prstGeom prst="roundRect">
            <a:avLst>
              <a:gd name="adj" fmla="val 50000"/>
            </a:avLst>
          </a:prstGeom>
          <a:solidFill>
            <a:srgbClr val="E63946"/>
          </a:solidFill>
          <a:ln w="12700">
            <a:solidFill>
              <a:srgbClr val="E63946"/>
            </a:solidFill>
            <a:prstDash val="solid"/>
          </a:ln>
        </p:spPr>
      </p:sp>
      <p:sp>
        <p:nvSpPr>
          <p:cNvPr id="9" name="Text 7"/>
          <p:cNvSpPr txBox="1"/>
          <p:nvPr/>
        </p:nvSpPr>
        <p:spPr>
          <a:xfrm>
            <a:off x="7589520" y="1600200"/>
            <a:ext cx="32918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CONCEPTOS QUE PERMITE ENSEÑAR</a:t>
            </a:r>
            <a:endParaRPr lang="en-US" sz="1050" dirty="0"/>
          </a:p>
        </p:txBody>
      </p:sp>
      <p:sp>
        <p:nvSpPr>
          <p:cNvPr id="10" name="Text 8"/>
          <p:cNvSpPr txBox="1"/>
          <p:nvPr/>
        </p:nvSpPr>
        <p:spPr>
          <a:xfrm>
            <a:off x="7589520" y="1965960"/>
            <a:ext cx="4023360" cy="4297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Uso del visualizador multiplanar para el control de calidad de la segmentación de órganos de riesgo.</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Transición fluida entre el espacio de trabajo de Contorneo y el módulo de Planificación física.</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Configuración clásica de campos bilaterales opuestos para el tratamiento de irradiación de cerebro total (holocraneal).</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Evaluación de la distribución de isodosis y puntos de dosis máxima para asegurar la homogeneidad del plan.</a:t>
            </a:r>
            <a:endParaRPr lang="en-US" sz="1200" dirty="0"/>
          </a:p>
        </p:txBody>
      </p:sp>
      <p:sp>
        <p:nvSpPr>
          <p:cNvPr id="11"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Clips de este caso: ICRU Encefalo, Encefalo, general. Grabación de pantalla de Eclipse (Varian), INC 2026, anonimizada. Uso docente.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ENCÉFALO · TARGET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ICRU Encefalo</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operador recorre cortes axiales de la TC hacia la región caudal. El operador vuelve a subir en sentido craneal recorriendo los cortes de la TC. Se cambia a una visualización multiplanar con reconstrucción 3D del volumen cerebral.</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Observar la extensión de las estructuras anatómicas del cuello y tórax superior en relación al volumen de referencia cerebral. Notar cómo aparece el volumen contorneado 'ICRU Encefalo' en la fosa craneal a medida que se asciende. La vista multiplanar (axial, sagital, coronal y 3D) permite verificar la consistencia tridimensional del contorneo de un volumen complejo.</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30 s de video a x3 · axial/multiplanar · cambia vista, recorre cortes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ENCÉFALO · DOSIS · PLANIFICACIÓN DEL HAZ EXTERNO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Encefalo</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Visualización de las curvas de isodosis sobre la anatomía del paciente en vistas sagital, coronal y axial.</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La evaluación de dosis exige comprobar que la dosis de prescripción cubra adecuadamente el volumen blanco (encéfalo completo en este caso paliativo) minimizando la dosis fuera de la región objetivo.</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14 s de video a x1 · multiplanar · revisa dosis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ENCÉFALO · TABLA · PLANIFICACIÓN DEL HAZ EXTERNO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operador examina la lista de campos de tratamiento en la tabla de parámetros físicos.</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Revisar los ángulos de gantry, colimador y energía de cada campo asegura que el plan propuesto sea físicamente viable y seguro para el paciente.</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8 s de video · tabla · revisa tabla</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Contorneo y planificación · encéfalo</dc:title>
  <dc:subject>PptxGenJS Presentation</dc:subject>
  <dc:creator>PptxGenJS</dc:creator>
  <cp:lastModifiedBy>PptxGenJS</cp:lastModifiedBy>
  <cp:revision>1</cp:revision>
  <dcterms:created xsi:type="dcterms:W3CDTF">2026-10-03T14:32:07Z</dcterms:created>
  <dcterms:modified xsi:type="dcterms:W3CDTF">2026-10-03T14:32:07Z</dcterms:modified>
</cp:coreProperties>
</file>