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min] Este bloque va después de la lámina 37 (criterios INC). Anunciar que ahora se ve lo mismo pero en la pantalla real del Halcyon: cinco pacientes de próstata grabados en la sala, sin nombres. La idea es que el alumno aprenda a leer la pantalla antes de aprender 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min] Dos minutos. Recorrer los siete números con calma. Insistir en dos cosas: (a) todo lo de color viene del TAC de planificación, la anatomía gris es la de hoy, por eso 'comparar CBCT con TAC' es mirar si los contornos calzan con el tejido; (b) el número que importa es la barra 'Desplazamiento [cm]' de abajo a la derecha; los X/Y/Z rojos dentro de cada vista son coordenadas del corte y confunden a todos la primera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Dos minutos. No es una lámina de física: es para que el alumno no le pida al CBCT lo que no puede dar. Tres ideas: el CBCT tiene menos contraste de tejido blando por la dispersión del haz cónico; sus números no son Hounsfield calibrados, por eso no se planifica sobre él; y su campo de visión en pelvis es half-fan, así que el contorno externo a veces sale cortado. Lo que sí hace muy bien: mostrar gas, llenado vesical y hueso, que es justo lo que hay que decidir cada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 min] Dos minutos. Empezar por el caso fácil para fijar el método: hueso, vejiga, próstata, recto, en ese orden. Leer la barra en voz alta: +0,13 vertical, +0,12 longitudinal, +0,20 lateral; todos bajo 5 mm; se aplica y se trata. Preguntar qué pasaría si el hueso calzara y la próstata no: esa es la razón de ser del CBCT sobre el kV plano. Ejercicio rápido: ¿qué eje es cada icono de la barra? (vertical, longitudinal, 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min] Tres minutos: es el caso central de la clase. Mostrar el gas primero, después el número. Explicar por qué un delta de casi 1 cm en vertical no se 'corrige y listo': la corrección mueve la mesa, pero la próstata seguirá deformada por el recto y el recto recibirá dosis alta en la pared anterior. La conducta del INC: &gt;8 mm, revisar posicionamiento e indexación y repetir; y por la columna de gas, evaluación vésico-rectal fuera de tolerancia → bajar al paciente, ir al baño y repetir el CBCT.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 min] Un minuto. Sirve para que vean que el sagital y el axial cuentan la misma historia. Preguntar en cuál de los dos cortes medirían la distancia recto–PTV (en el sagital, en AP) y en cuál el llenado vesical (también en el sagital, domo a domo).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 min] Dos minutos. Este caso enseña a no leer sólo la barra. La corrección es chica (todo bajo 5 mm), y el gas existe pero es pequeño y no deforma. Conducta: se aplica y se trata. Remarcar que las dos columnas del protocolo (delta de fusión y evaluación vésico-rectal) se leen por separado y las dos tienen que estar en rango.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min] Dos minutos. El flujo real de la sala: adquirir el CBCT, comparación automática (elegir estructura y margen), verificación manual en axial, sagital y coronal, medir si hace falta, leer la barra y aplicar. El algoritmo calza hueso muy bien y tejido blando regular; por eso el paso 2 no se salta nunca. Mostrar que la regla está en la barra de herramientas y que la medición aparece en cm sobre la imagen.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 min] Dos minutos. Cerrar la serie con el caso extremo. Que el alumno diga la conducta antes de leerla: recto &gt;20 mm AP → se baja al paciente y se dan las indicaciones. Insistir en que esto no es un fracaso del match ni del TM: es el sistema funcionando. Preguntar qué habría pasado con kV plano y sin fiduciales: no se habría visto nada de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 min] Dos minutos. Es la lámina 37 con los casos puestos en su casilla. Leer la columna izquierda primero (delta de fusión) y después la derecha (vésico-rectal). Recalcar que los dos casos con gas cayeron en filas distintas: el caso 3 se trató porque el gas era pequeño; el 2 y el 5 se bajaron del acelerador. La decisión la da la anatomía medida, no la impresión.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 min] Dos minutos. Dibujar en la pizarra o con el puntero las dos medidas sobre el sagital. Insistir en la palabra 'propio': la vejiga se compara con su propio contorno de planificación, no con el PTV ni con el hueso. Y en 'antero-posterior' para el recto. Que practiquen con el clip 5, donde se ve la regla.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 min] Tres minutos, un minuto por caso, en voz alta.
A: delta ≤5 mm en los tres ejes → corregir sin validación; vejiga 8 mm (&lt;20) y recto 9 mm (&lt;15) → aplicar. Se trata; valida el TM.
B: +0,99 cm vertical → &gt;8 mm → evaluar posicionamiento e indexación y repetir; además recto &gt;20 mm AP → bajar al paciente, ir al baño, repetir el CBCT. No se trata hasta repetir; si persiste, revisión médica.
C: delta ≤5 mm → corregir; vejiga 24 mm (20–30) → tratar y reforzar educación de llenado; si se repite dos días seguidos, advertir suspensión ante una tercera vez e informar al tratante. Recto 12 mm (&lt;15) → en rango. Se trata hoy, con refuerzo de preparación.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 min] Dos minutos si hay tiempo; si no, dejar los clips como material de estudio. Los más útiles en clase: el 4 (la comparación automática, donde se ve saltar los contornos) y el 2 (el sagital con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Reproducir con clic sobre la imagen. Si el video no arranca (versión antigua de PowerPoint), usar el MP4 de la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Reproducir con clic sobre la imagen. Si el video no arranca (versión antigua de PowerPoint), usar el MP4 de la carpeta.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[26-27 min] Un minuto. Cerrar con la tercera idea, que es la que más cuesta: bajar al paciente es el sistema funcionando. Enlazar con la lámina siguiente de la clase (lo que la imagen guiada hace y lo que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video" Target="../media/media-14-4.mp4"/><Relationship Id="rId5" Type="http://schemas.microsoft.com/office/2007/relationships/media" Target="../media/media-14-4.mp4"/><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video" Target="../media/media-15-4.mp4"/><Relationship Id="rId5" Type="http://schemas.microsoft.com/office/2007/relationships/media" Target="../media/media-15-4.mp4"/><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match/material/Captura_39671AE5/01_completo.jpg">    </p:cNvPr>
          <p:cNvPicPr>
            <a:picLocks noChangeAspect="1"/>
          </p:cNvPicPr>
          <p:nvPr/>
        </p:nvPicPr>
        <p:blipFill>
          <a:blip r:embed="rId1">
            <a:alphaModFix amt="22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18872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C8 · PRÓSTATA · MATERIAL PRÁCTICO DE IMAGEN GUIADA</a:t>
            </a:r>
            <a:endParaRPr lang="en-US" sz="1400" dirty="0"/>
          </a:p>
        </p:txBody>
      </p:sp>
      <p:sp>
        <p:nvSpPr>
          <p:cNvPr id="5" name="Text 2"/>
          <p:cNvSpPr txBox="1"/>
          <p:nvPr/>
        </p:nvSpPr>
        <p:spPr>
          <a:xfrm>
            <a:off x="731520" y="1645920"/>
            <a:ext cx="105156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El CBCT del día frente al TAC de simulación</a:t>
            </a:r>
            <a:endParaRPr lang="en-US" sz="4800" dirty="0"/>
          </a:p>
        </p:txBody>
      </p:sp>
      <p:sp>
        <p:nvSpPr>
          <p:cNvPr id="6" name="Text 3"/>
          <p:cNvSpPr txBox="1"/>
          <p:nvPr/>
        </p:nvSpPr>
        <p:spPr>
          <a:xfrm>
            <a:off x="731520" y="3200400"/>
            <a:ext cx="9601200" cy="91440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Cómo se ve el match del Halcyon en próstata, qué se mira en la pantalla y qué dice el protocolo del INC cuando aparece el número</a:t>
            </a:r>
            <a:endParaRPr lang="en-US" sz="2000" dirty="0"/>
          </a:p>
        </p:txBody>
      </p:sp>
      <p:sp>
        <p:nvSpPr>
          <p:cNvPr id="7" name="Text 4"/>
          <p:cNvSpPr txBox="1"/>
          <p:nvPr/>
        </p:nvSpPr>
        <p:spPr>
          <a:xfrm>
            <a:off x="731520" y="4297680"/>
            <a:ext cx="9601200" cy="36576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Casos reales de la sala de tratamiento · 5 pacientes · 8 clips</a:t>
            </a:r>
            <a:endParaRPr lang="en-US" sz="1400" dirty="0"/>
          </a:p>
        </p:txBody>
      </p:sp>
      <p:sp>
        <p:nvSpPr>
          <p:cNvPr id="8" name="Text 5"/>
          <p:cNvSpPr txBox="1"/>
          <p:nvPr/>
        </p:nvSpPr>
        <p:spPr>
          <a:xfrm>
            <a:off x="731520" y="5669280"/>
            <a:ext cx="9601200" cy="73152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Tecnología Médica · Universidad Bernardo O'Higgins · Primavera 2026</a:t>
            </a:r>
            <a:endParaRPr lang="en-US" sz="1200" dirty="0"/>
          </a:p>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CÓMO LEER LA PANTALLA DEL HALCYON</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La imagen gris es el CBCT de hoy; los contornos de colores son el TAC de simulación</a:t>
            </a:r>
            <a:endParaRPr lang="en-US" sz="2400" dirty="0"/>
          </a:p>
        </p:txBody>
      </p:sp>
      <p:pic>
        <p:nvPicPr>
          <p:cNvPr id="4" name="Image 0" descr="/tmp/claude-0/-home-user-telon/44f4c94a-cd0b-5d39-be5e-ac4d3f8deac5/scratchpad/match/material/pantalla_guia.jpg">    </p:cNvPr>
          <p:cNvPicPr>
            <a:picLocks noChangeAspect="1"/>
          </p:cNvPicPr>
          <p:nvPr/>
        </p:nvPicPr>
        <p:blipFill>
          <a:blip r:embed="rId1"/>
          <a:stretch>
            <a:fillRect/>
          </a:stretch>
        </p:blipFill>
        <p:spPr>
          <a:xfrm>
            <a:off x="548640" y="1923098"/>
            <a:ext cx="7223760" cy="4063365"/>
          </a:xfrm>
          <a:prstGeom prst="rect">
            <a:avLst/>
          </a:prstGeom>
        </p:spPr>
      </p:pic>
      <p:sp>
        <p:nvSpPr>
          <p:cNvPr id="5" name="Shape 2"/>
          <p:cNvSpPr/>
          <p:nvPr/>
        </p:nvSpPr>
        <p:spPr>
          <a:xfrm>
            <a:off x="8001000" y="1618488"/>
            <a:ext cx="384048" cy="384048"/>
          </a:xfrm>
          <a:prstGeom prst="ellipse">
            <a:avLst/>
          </a:prstGeom>
          <a:solidFill>
            <a:srgbClr val="E63946"/>
          </a:solidFill>
          <a:ln w="19050">
            <a:solidFill>
              <a:srgbClr val="FFFFFF"/>
            </a:solidFill>
            <a:prstDash val="solid"/>
          </a:ln>
        </p:spPr>
      </p:sp>
      <p:sp>
        <p:nvSpPr>
          <p:cNvPr id="6" name="Text 3"/>
          <p:cNvSpPr txBox="1"/>
          <p:nvPr/>
        </p:nvSpPr>
        <p:spPr>
          <a:xfrm>
            <a:off x="8001000" y="1618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8503920" y="1600200"/>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Axial (transversal)  </a:t>
            </a:r>
            <a:pPr indent="0" marL="0">
              <a:buNone/>
            </a:pPr>
            <a:r>
              <a:rPr lang="en-US" sz="1150" dirty="0">
                <a:solidFill>
                  <a:srgbClr val="A9B4C7"/>
                </a:solidFill>
                <a:latin typeface="Calibri" pitchFamily="34" charset="0"/>
                <a:ea typeface="Calibri" pitchFamily="34" charset="-122"/>
                <a:cs typeface="Calibri" pitchFamily="34" charset="-120"/>
              </a:rPr>
              <a:t>el panel principal; se recorre con la rueda del mouse</a:t>
            </a:r>
            <a:endParaRPr lang="en-US" sz="1150" dirty="0"/>
          </a:p>
        </p:txBody>
      </p:sp>
      <p:sp>
        <p:nvSpPr>
          <p:cNvPr id="8" name="Shape 5"/>
          <p:cNvSpPr/>
          <p:nvPr/>
        </p:nvSpPr>
        <p:spPr>
          <a:xfrm>
            <a:off x="8001000" y="2276856"/>
            <a:ext cx="384048" cy="384048"/>
          </a:xfrm>
          <a:prstGeom prst="ellipse">
            <a:avLst/>
          </a:prstGeom>
          <a:solidFill>
            <a:srgbClr val="E63946"/>
          </a:solidFill>
          <a:ln w="19050">
            <a:solidFill>
              <a:srgbClr val="FFFFFF"/>
            </a:solidFill>
            <a:prstDash val="solid"/>
          </a:ln>
        </p:spPr>
      </p:sp>
      <p:sp>
        <p:nvSpPr>
          <p:cNvPr id="9" name="Text 6"/>
          <p:cNvSpPr txBox="1"/>
          <p:nvPr/>
        </p:nvSpPr>
        <p:spPr>
          <a:xfrm>
            <a:off x="8001000"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8503920" y="2258568"/>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Sagital  </a:t>
            </a:r>
            <a:pPr indent="0" marL="0">
              <a:buNone/>
            </a:pPr>
            <a:r>
              <a:rPr lang="en-US" sz="1150" dirty="0">
                <a:solidFill>
                  <a:srgbClr val="A9B4C7"/>
                </a:solidFill>
                <a:latin typeface="Calibri" pitchFamily="34" charset="0"/>
                <a:ea typeface="Calibri" pitchFamily="34" charset="-122"/>
                <a:cs typeface="Calibri" pitchFamily="34" charset="-120"/>
              </a:rPr>
              <a:t>donde se evalúa vejiga (CC) y recto (AP)</a:t>
            </a:r>
            <a:endParaRPr lang="en-US" sz="1150" dirty="0"/>
          </a:p>
        </p:txBody>
      </p:sp>
      <p:sp>
        <p:nvSpPr>
          <p:cNvPr id="11" name="Shape 8"/>
          <p:cNvSpPr/>
          <p:nvPr/>
        </p:nvSpPr>
        <p:spPr>
          <a:xfrm>
            <a:off x="8001000" y="2935224"/>
            <a:ext cx="384048" cy="384048"/>
          </a:xfrm>
          <a:prstGeom prst="ellipse">
            <a:avLst/>
          </a:prstGeom>
          <a:solidFill>
            <a:srgbClr val="E63946"/>
          </a:solidFill>
          <a:ln w="19050">
            <a:solidFill>
              <a:srgbClr val="FFFFFF"/>
            </a:solidFill>
            <a:prstDash val="solid"/>
          </a:ln>
        </p:spPr>
      </p:sp>
      <p:sp>
        <p:nvSpPr>
          <p:cNvPr id="12" name="Text 9"/>
          <p:cNvSpPr txBox="1"/>
          <p:nvPr/>
        </p:nvSpPr>
        <p:spPr>
          <a:xfrm>
            <a:off x="8001000" y="2935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txBox="1"/>
          <p:nvPr/>
        </p:nvSpPr>
        <p:spPr>
          <a:xfrm>
            <a:off x="8503920" y="2916936"/>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Coronal (frontal)  </a:t>
            </a:r>
            <a:pPr indent="0" marL="0">
              <a:buNone/>
            </a:pPr>
            <a:r>
              <a:rPr lang="en-US" sz="1150" dirty="0">
                <a:solidFill>
                  <a:srgbClr val="A9B4C7"/>
                </a:solidFill>
                <a:latin typeface="Calibri" pitchFamily="34" charset="0"/>
                <a:ea typeface="Calibri" pitchFamily="34" charset="-122"/>
                <a:cs typeface="Calibri" pitchFamily="34" charset="-120"/>
              </a:rPr>
              <a:t>simetría de cabezas femorales y rotación</a:t>
            </a:r>
            <a:endParaRPr lang="en-US" sz="1150" dirty="0"/>
          </a:p>
        </p:txBody>
      </p:sp>
      <p:sp>
        <p:nvSpPr>
          <p:cNvPr id="14" name="Shape 11"/>
          <p:cNvSpPr/>
          <p:nvPr/>
        </p:nvSpPr>
        <p:spPr>
          <a:xfrm>
            <a:off x="8001000" y="3593592"/>
            <a:ext cx="384048" cy="384048"/>
          </a:xfrm>
          <a:prstGeom prst="ellipse">
            <a:avLst/>
          </a:prstGeom>
          <a:solidFill>
            <a:srgbClr val="E63946"/>
          </a:solidFill>
          <a:ln w="19050">
            <a:solidFill>
              <a:srgbClr val="FFFFFF"/>
            </a:solidFill>
            <a:prstDash val="solid"/>
          </a:ln>
        </p:spPr>
      </p:sp>
      <p:sp>
        <p:nvSpPr>
          <p:cNvPr id="15" name="Text 12"/>
          <p:cNvSpPr txBox="1"/>
          <p:nvPr/>
        </p:nvSpPr>
        <p:spPr>
          <a:xfrm>
            <a:off x="8001000"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3"/>
          <p:cNvSpPr txBox="1"/>
          <p:nvPr/>
        </p:nvSpPr>
        <p:spPr>
          <a:xfrm>
            <a:off x="8503920" y="3575304"/>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Desplazamiento [cm]  </a:t>
            </a:r>
            <a:pPr indent="0" marL="0">
              <a:buNone/>
            </a:pPr>
            <a:r>
              <a:rPr lang="en-US" sz="1150" dirty="0">
                <a:solidFill>
                  <a:srgbClr val="A9B4C7"/>
                </a:solidFill>
                <a:latin typeface="Calibri" pitchFamily="34" charset="0"/>
                <a:ea typeface="Calibri" pitchFamily="34" charset="-122"/>
                <a:cs typeface="Calibri" pitchFamily="34" charset="-120"/>
              </a:rPr>
              <a:t>vertical, longitudinal, lateral: la corrección que aplicará la mesa</a:t>
            </a:r>
            <a:endParaRPr lang="en-US" sz="1150" dirty="0"/>
          </a:p>
        </p:txBody>
      </p:sp>
      <p:sp>
        <p:nvSpPr>
          <p:cNvPr id="17" name="Shape 14"/>
          <p:cNvSpPr/>
          <p:nvPr/>
        </p:nvSpPr>
        <p:spPr>
          <a:xfrm>
            <a:off x="8001000" y="4251960"/>
            <a:ext cx="384048" cy="384048"/>
          </a:xfrm>
          <a:prstGeom prst="ellipse">
            <a:avLst/>
          </a:prstGeom>
          <a:solidFill>
            <a:srgbClr val="E63946"/>
          </a:solidFill>
          <a:ln w="19050">
            <a:solidFill>
              <a:srgbClr val="FFFFFF"/>
            </a:solidFill>
            <a:prstDash val="solid"/>
          </a:ln>
        </p:spPr>
      </p:sp>
      <p:sp>
        <p:nvSpPr>
          <p:cNvPr id="18" name="Text 15"/>
          <p:cNvSpPr txBox="1"/>
          <p:nvPr/>
        </p:nvSpPr>
        <p:spPr>
          <a:xfrm>
            <a:off x="800100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6"/>
          <p:cNvSpPr txBox="1"/>
          <p:nvPr/>
        </p:nvSpPr>
        <p:spPr>
          <a:xfrm>
            <a:off x="8503920" y="4233672"/>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Etiqueta de la imagen  </a:t>
            </a:r>
            <a:pPr indent="0" marL="0">
              <a:buNone/>
            </a:pPr>
            <a:r>
              <a:rPr lang="en-US" sz="1150" dirty="0">
                <a:solidFill>
                  <a:srgbClr val="A9B4C7"/>
                </a:solidFill>
                <a:latin typeface="Calibri" pitchFamily="34" charset="0"/>
                <a:ea typeface="Calibri" pitchFamily="34" charset="-122"/>
                <a:cs typeface="Calibri" pitchFamily="34" charset="-120"/>
              </a:rPr>
              <a:t>TAC de referencia, número de CBCT, fecha y hora</a:t>
            </a:r>
            <a:endParaRPr lang="en-US" sz="1150" dirty="0"/>
          </a:p>
        </p:txBody>
      </p:sp>
      <p:sp>
        <p:nvSpPr>
          <p:cNvPr id="20" name="Shape 17"/>
          <p:cNvSpPr/>
          <p:nvPr/>
        </p:nvSpPr>
        <p:spPr>
          <a:xfrm>
            <a:off x="8001000" y="4910328"/>
            <a:ext cx="384048" cy="384048"/>
          </a:xfrm>
          <a:prstGeom prst="ellipse">
            <a:avLst/>
          </a:prstGeom>
          <a:solidFill>
            <a:srgbClr val="E63946"/>
          </a:solidFill>
          <a:ln w="19050">
            <a:solidFill>
              <a:srgbClr val="FFFFFF"/>
            </a:solidFill>
            <a:prstDash val="solid"/>
          </a:ln>
        </p:spPr>
      </p:sp>
      <p:sp>
        <p:nvSpPr>
          <p:cNvPr id="21" name="Text 18"/>
          <p:cNvSpPr txBox="1"/>
          <p:nvPr/>
        </p:nvSpPr>
        <p:spPr>
          <a:xfrm>
            <a:off x="800100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19"/>
          <p:cNvSpPr txBox="1"/>
          <p:nvPr/>
        </p:nvSpPr>
        <p:spPr>
          <a:xfrm>
            <a:off x="8503920" y="4892040"/>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X / Y / Z en rojo  </a:t>
            </a:r>
            <a:pPr indent="0" marL="0">
              <a:buNone/>
            </a:pPr>
            <a:r>
              <a:rPr lang="en-US" sz="1150" dirty="0">
                <a:solidFill>
                  <a:srgbClr val="A9B4C7"/>
                </a:solidFill>
                <a:latin typeface="Calibri" pitchFamily="34" charset="0"/>
                <a:ea typeface="Calibri" pitchFamily="34" charset="-122"/>
                <a:cs typeface="Calibri" pitchFamily="34" charset="-120"/>
              </a:rPr>
              <a:t>coordenada del corte o del cursor; NO es la corrección</a:t>
            </a:r>
            <a:endParaRPr lang="en-US" sz="1150" dirty="0"/>
          </a:p>
        </p:txBody>
      </p:sp>
      <p:sp>
        <p:nvSpPr>
          <p:cNvPr id="23" name="Shape 20"/>
          <p:cNvSpPr/>
          <p:nvPr/>
        </p:nvSpPr>
        <p:spPr>
          <a:xfrm>
            <a:off x="8001000" y="5568696"/>
            <a:ext cx="384048" cy="384048"/>
          </a:xfrm>
          <a:prstGeom prst="ellipse">
            <a:avLst/>
          </a:prstGeom>
          <a:solidFill>
            <a:srgbClr val="E63946"/>
          </a:solidFill>
          <a:ln w="19050">
            <a:solidFill>
              <a:srgbClr val="FFFFFF"/>
            </a:solidFill>
            <a:prstDash val="solid"/>
          </a:ln>
        </p:spPr>
      </p:sp>
      <p:sp>
        <p:nvSpPr>
          <p:cNvPr id="24" name="Text 21"/>
          <p:cNvSpPr txBox="1"/>
          <p:nvPr/>
        </p:nvSpPr>
        <p:spPr>
          <a:xfrm>
            <a:off x="8001000" y="5568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5" name="Text 22"/>
          <p:cNvSpPr txBox="1"/>
          <p:nvPr/>
        </p:nvSpPr>
        <p:spPr>
          <a:xfrm>
            <a:off x="8503920" y="5550408"/>
            <a:ext cx="3200400" cy="62179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Comparación 3D-3D  </a:t>
            </a:r>
            <a:pPr indent="0" marL="0">
              <a:buNone/>
            </a:pPr>
            <a:r>
              <a:rPr lang="en-US" sz="1150" dirty="0">
                <a:solidFill>
                  <a:srgbClr val="A9B4C7"/>
                </a:solidFill>
                <a:latin typeface="Calibri" pitchFamily="34" charset="0"/>
                <a:ea typeface="Calibri" pitchFamily="34" charset="-122"/>
                <a:cs typeface="Calibri" pitchFamily="34" charset="-120"/>
              </a:rPr>
              <a:t>el modo de match volumétrico (CBCT contra TAC)</a:t>
            </a:r>
            <a:endParaRPr lang="en-US" sz="1150" dirty="0"/>
          </a:p>
        </p:txBody>
      </p:sp>
      <p:sp>
        <p:nvSpPr>
          <p:cNvPr id="26" name="Shape 23"/>
          <p:cNvSpPr/>
          <p:nvPr/>
        </p:nvSpPr>
        <p:spPr>
          <a:xfrm>
            <a:off x="8001000" y="6245352"/>
            <a:ext cx="3703320" cy="91"/>
          </a:xfrm>
          <a:prstGeom prst="roundRect">
            <a:avLst>
              <a:gd name="adj" fmla="val 120580220"/>
            </a:avLst>
          </a:prstGeom>
          <a:solidFill>
            <a:srgbClr val="16233B"/>
          </a:solidFill>
          <a:ln w="12700">
            <a:solidFill>
              <a:srgbClr val="16233B"/>
            </a:solidFill>
            <a:prstDash val="solid"/>
          </a:ln>
        </p:spPr>
      </p:sp>
      <p:sp>
        <p:nvSpPr>
          <p:cNvPr id="27" name="Text 2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Colores en estos casos: amarillo = vejiga · rojo/naranjo = próstata y PTV · recto en rojo o naranjo delgado · verde = cabezas femorales · magenta/rosado = bulbo o canal anal. Los colores los define cada plan: se leen en la lista de estructuras, no se adivinan.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LO QUE CAMBIA ENTRE LAS DOS IMÁGENES</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TAC de simulación y CBCT del Halcyon: misma anatomía, distinta imagen</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1554480"/>
                <a:gridCol w="2743200"/>
                <a:gridCol w="2926080"/>
              </a:tblGrid>
              <a:tr h="566928">
                <a:tc>
                  <a:txBody>
                    <a:bodyPr/>
                    <a:lstStyle/>
                    <a:p>
                      <a:pPr indent="0" marL="0">
                        <a:buNone/>
                      </a:pP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TAC de simulación</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CBCT del Halcyon (kV)</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Geometría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Haz en abanico, detector multicorte, mesa en movimiento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Haz cónico, panel plano, una sola rotación en la mesa de tratamiento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Contraste de tejido blando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Bueno: próstata, vesículas y recto se distinguen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Limitado por la radiación dispersa: bordes menos definidos, más ruido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Artefactos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Pocos; estrella por fiduciales o prótesis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Gas y movimiento durante la rotación, cupping, prótesis de cadera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Unidades Hounsfield</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Calibradas: sirven para calcular dosis</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No confiables: sirven para posicionar, no para planificar</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Campo de visión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Todo el paciente y la mesa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Acotado (half-fan en pelvis); el contorno externo puede quedar cortado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 qué sirve hoy</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Definir volúmenes y calcular el plan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Ver dónde está el blanco hoy y decidir si el día sirve para tratar</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pic>
        <p:nvPicPr>
          <p:cNvPr id="5" name="Image 0" descr="/tmp/claude-0/-home-user-telon/44f4c94a-cd0b-5d39-be5e-ac4d3f8deac5/scratchpad/match/material/IMG_5043/02_recorte.jpg">    </p:cNvPr>
          <p:cNvPicPr>
            <a:picLocks noChangeAspect="1"/>
          </p:cNvPicPr>
          <p:nvPr/>
        </p:nvPicPr>
        <p:blipFill>
          <a:blip r:embed="rId1"/>
          <a:stretch>
            <a:fillRect/>
          </a:stretch>
        </p:blipFill>
        <p:spPr>
          <a:xfrm>
            <a:off x="8242935" y="1645920"/>
            <a:ext cx="3265170" cy="2743200"/>
          </a:xfrm>
          <a:prstGeom prst="rect">
            <a:avLst/>
          </a:prstGeom>
        </p:spPr>
      </p:pic>
      <p:sp>
        <p:nvSpPr>
          <p:cNvPr id="6" name="Text 2"/>
          <p:cNvSpPr txBox="1"/>
          <p:nvPr/>
        </p:nvSpPr>
        <p:spPr>
          <a:xfrm>
            <a:off x="8046720" y="4526280"/>
            <a:ext cx="3657600" cy="1188720"/>
          </a:xfrm>
          <a:prstGeom prst="rect">
            <a:avLst/>
          </a:prstGeom>
          <a:noFill/>
          <a:ln/>
        </p:spPr>
        <p:txBody>
          <a:bodyPr wrap="square" lIns="0" tIns="0" rIns="0" bIns="0" rtlCol="0" anchor="ctr"/>
          <a:lstStyle/>
          <a:p>
            <a:pPr indent="0" marL="0">
              <a:buNone/>
            </a:pPr>
            <a:r>
              <a:rPr lang="en-US" sz="1150" dirty="0">
                <a:solidFill>
                  <a:srgbClr val="A9B4C7"/>
                </a:solidFill>
                <a:latin typeface="Calibri" pitchFamily="34" charset="0"/>
                <a:ea typeface="Calibri" pitchFamily="34" charset="-122"/>
                <a:cs typeface="Calibri" pitchFamily="34" charset="-120"/>
              </a:rPr>
              <a:t>CBCT axial del Halcyon con los contornos del plan: se reconoce vejiga, próstata, recto con gas y cabezas femorales, pero el borde próstata–recto es operador dependiente.</a:t>
            </a:r>
            <a:endParaRPr lang="en-US" sz="1150" dirty="0"/>
          </a:p>
        </p:txBody>
      </p:sp>
      <p:sp>
        <p:nvSpPr>
          <p:cNvPr id="7" name="Text 3"/>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Fuentes: AAPM TG-179 (2012) · Khan &amp; Gibbons, 5ª ed., cap. 25 · protocolo IGRT del INC. Imágenes: consola Varian Halcyon, Instituto Nacional del Cáncer (2026), grabaciones del docente; sin datos identificatorios.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1 · UN MATCH QUE CALZA</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Todo coincide: hueso, vejiga y próstata dentro de sus contornos</a:t>
            </a:r>
            <a:endParaRPr lang="en-US" sz="2400" dirty="0"/>
          </a:p>
        </p:txBody>
      </p:sp>
      <p:pic>
        <p:nvPicPr>
          <p:cNvPr id="4" name="Image 0" descr="/tmp/claude-0/-home-user-telon/44f4c94a-cd0b-5d39-be5e-ac4d3f8deac5/scratchpad/match/material/Captura_39671AE5/01_rotulado.jpg">    </p:cNvPr>
          <p:cNvPicPr>
            <a:picLocks noChangeAspect="1"/>
          </p:cNvPicPr>
          <p:nvPr/>
        </p:nvPicPr>
        <p:blipFill>
          <a:blip r:embed="rId1"/>
          <a:stretch>
            <a:fillRect/>
          </a:stretch>
        </p:blipFill>
        <p:spPr>
          <a:xfrm>
            <a:off x="1397176" y="1600200"/>
            <a:ext cx="5252368" cy="4709160"/>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Captura_39671AE5/desplazamiento.jpg">    </p:cNvPr>
          <p:cNvPicPr>
            <a:picLocks noChangeAspect="1"/>
          </p:cNvPicPr>
          <p:nvPr/>
        </p:nvPicPr>
        <p:blipFill>
          <a:blip r:embed="rId2"/>
          <a:stretch>
            <a:fillRect/>
          </a:stretch>
        </p:blipFill>
        <p:spPr>
          <a:xfrm>
            <a:off x="7909560" y="2055971"/>
            <a:ext cx="3657600" cy="414338"/>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Corte axial a la altura media de la próstata. La sínfisis (1) y las cabezas femorales (5) calzan con el hueso; la vejiga (2) queda dentro del amarillo y la próstata (3) dentro del rojo. El recto (4) tiene una burbuja pequeña de gas.</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La barra marca +0,13 / +0,12 / +0,20 cm: los tres ejes bajo 5 mm → se corrige sin validación médica (protocolo INC).</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Un match que calza en hueso no basta: hay que mirar que el tejido blando también calce. Aquí sí.</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El gas es pequeño y no deforma la pared anterior del recto: se trata.</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2 · GAS RECTAL EN EL SAGITAL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El recto lleno de gas empuja la próstata: el contorno ya no calza</a:t>
            </a:r>
            <a:endParaRPr lang="en-US" sz="2400" dirty="0"/>
          </a:p>
        </p:txBody>
      </p:sp>
      <p:pic>
        <p:nvPicPr>
          <p:cNvPr id="4" name="Image 0" descr="/tmp/claude-0/-home-user-telon/44f4c94a-cd0b-5d39-be5e-ac4d3f8deac5/scratchpad/match/material/IMG_5043/01_rotulado.jpg">    </p:cNvPr>
          <p:cNvPicPr>
            <a:picLocks noChangeAspect="1"/>
          </p:cNvPicPr>
          <p:nvPr/>
        </p:nvPicPr>
        <p:blipFill>
          <a:blip r:embed="rId1"/>
          <a:stretch>
            <a:fillRect/>
          </a:stretch>
        </p:blipFill>
        <p:spPr>
          <a:xfrm>
            <a:off x="548640" y="1724951"/>
            <a:ext cx="6949440" cy="4459657"/>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IMG_5043/desplazamiento.jpg">    </p:cNvPr>
          <p:cNvPicPr>
            <a:picLocks noChangeAspect="1"/>
          </p:cNvPicPr>
          <p:nvPr/>
        </p:nvPicPr>
        <p:blipFill>
          <a:blip r:embed="rId2"/>
          <a:stretch>
            <a:fillRect/>
          </a:stretch>
        </p:blipFill>
        <p:spPr>
          <a:xfrm>
            <a:off x="7909560" y="1986915"/>
            <a:ext cx="3657600" cy="552450"/>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Sagital ampliado. La vejiga (1) está bien llena; el recto (3) muestra una columna de gas que ocupa toda su luz y abomba la pared anterior. El PTV (2) queda desplazado respecto de la próstata del día; la sínfisis (4) sirve de referencia ósea.</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+0,99 cm en vertical: 9,9 mm, sobre los 8 mm → evaluar posicionamiento e indexación y repetir; si persiste, revisión médica.</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No es un error de la mesa: es anatomía. El gas mueve la próstata hacia anterior y superior.</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Recto–PTV en AP fuera de tolerancia por la columna de gas → bajar al paciente, ir al baño y repetir el CBCT.</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2 · EL MISMO PACIENTE EN AXIAL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Dos cortes del mismo día: donde el gas deforma y donde la vejiga calza</a:t>
            </a:r>
            <a:endParaRPr lang="en-US" sz="2400" dirty="0"/>
          </a:p>
        </p:txBody>
      </p:sp>
      <p:pic>
        <p:nvPicPr>
          <p:cNvPr id="4" name="Image 0" descr="/tmp/claude-0/-home-user-telon/44f4c94a-cd0b-5d39-be5e-ac4d3f8deac5/scratchpad/match/material/IMG_5043/02_rotulado.jpg">    </p:cNvPr>
          <p:cNvPicPr>
            <a:picLocks noChangeAspect="1"/>
          </p:cNvPicPr>
          <p:nvPr/>
        </p:nvPicPr>
        <p:blipFill>
          <a:blip r:embed="rId1"/>
          <a:stretch>
            <a:fillRect/>
          </a:stretch>
        </p:blipFill>
        <p:spPr>
          <a:xfrm>
            <a:off x="1390141" y="1600200"/>
            <a:ext cx="3849117" cy="3566160"/>
          </a:xfrm>
          <a:prstGeom prst="rect">
            <a:avLst/>
          </a:prstGeom>
        </p:spPr>
      </p:pic>
      <p:pic>
        <p:nvPicPr>
          <p:cNvPr id="5" name="Image 1" descr="/tmp/claude-0/-home-user-telon/44f4c94a-cd0b-5d39-be5e-ac4d3f8deac5/scratchpad/match/material/IMG_5043/03_rotulado.jpg">    </p:cNvPr>
          <p:cNvPicPr>
            <a:picLocks noChangeAspect="1"/>
          </p:cNvPicPr>
          <p:nvPr/>
        </p:nvPicPr>
        <p:blipFill>
          <a:blip r:embed="rId2"/>
          <a:stretch>
            <a:fillRect/>
          </a:stretch>
        </p:blipFill>
        <p:spPr>
          <a:xfrm>
            <a:off x="7105141" y="1600200"/>
            <a:ext cx="3849117" cy="3566160"/>
          </a:xfrm>
          <a:prstGeom prst="rect">
            <a:avLst/>
          </a:prstGeom>
        </p:spPr>
      </p:pic>
      <p:sp>
        <p:nvSpPr>
          <p:cNvPr id="6" name="Text 2"/>
          <p:cNvSpPr txBox="1"/>
          <p:nvPr/>
        </p:nvSpPr>
        <p:spPr>
          <a:xfrm>
            <a:off x="548640" y="5257800"/>
            <a:ext cx="5532120" cy="10972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A la altura de la próstata: el recto (3) con gas (4) empuja la pared anterior hacia la próstata (2); la vejiga (1) queda por delante. El borde posterior del PTV cae sobre gas, no sobre tejido.</a:t>
            </a:r>
            <a:endParaRPr lang="en-US" sz="1200" dirty="0"/>
          </a:p>
        </p:txBody>
      </p:sp>
      <p:sp>
        <p:nvSpPr>
          <p:cNvPr id="7" name="Text 3"/>
          <p:cNvSpPr txBox="1"/>
          <p:nvPr/>
        </p:nvSpPr>
        <p:spPr>
          <a:xfrm>
            <a:off x="6263640" y="5257800"/>
            <a:ext cx="5532120" cy="10972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Un corte más arriba: la vejiga (1) llena coincide con su contorno de planificación y las cabezas femorales (4, 5) calzan. El gas (2) sigue presente en el recto (3): el problema es rectal, no vesical.</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3 · EL NÚMERO ESTÁ BIEN, LA ANATOMÍA NO TANTO</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Delta bajo 5 mm en los tres ejes y una burbuja de gas que hay que evaluar</a:t>
            </a:r>
            <a:endParaRPr lang="en-US" sz="2400" dirty="0"/>
          </a:p>
        </p:txBody>
      </p:sp>
      <p:pic>
        <p:nvPicPr>
          <p:cNvPr id="4" name="Image 0" descr="/tmp/claude-0/-home-user-telon/44f4c94a-cd0b-5d39-be5e-ac4d3f8deac5/scratchpad/match/material/IMG_5040/03_rotulado.jpg">    </p:cNvPr>
          <p:cNvPicPr>
            <a:picLocks noChangeAspect="1"/>
          </p:cNvPicPr>
          <p:nvPr/>
        </p:nvPicPr>
        <p:blipFill>
          <a:blip r:embed="rId1"/>
          <a:stretch>
            <a:fillRect/>
          </a:stretch>
        </p:blipFill>
        <p:spPr>
          <a:xfrm>
            <a:off x="1166069" y="1600200"/>
            <a:ext cx="5714583" cy="4709160"/>
          </a:xfrm>
          <a:prstGeom prst="rect">
            <a:avLst/>
          </a:prstGeom>
        </p:spPr>
      </p:pic>
      <p:sp>
        <p:nvSpPr>
          <p:cNvPr id="5" name="Shape 2"/>
          <p:cNvSpPr/>
          <p:nvPr/>
        </p:nvSpPr>
        <p:spPr>
          <a:xfrm>
            <a:off x="7772400" y="1600200"/>
            <a:ext cx="3931920" cy="1051560"/>
          </a:xfrm>
          <a:prstGeom prst="roundRect">
            <a:avLst>
              <a:gd name="adj" fmla="val 10435"/>
            </a:avLst>
          </a:prstGeom>
          <a:solidFill>
            <a:srgbClr val="1C2B47"/>
          </a:solidFill>
          <a:ln w="12700">
            <a:solidFill>
              <a:srgbClr val="1C2B47"/>
            </a:solidFill>
            <a:prstDash val="solid"/>
          </a:ln>
        </p:spPr>
      </p:sp>
      <p:sp>
        <p:nvSpPr>
          <p:cNvPr id="6" name="Text 3"/>
          <p:cNvSpPr txBox="1"/>
          <p:nvPr/>
        </p:nvSpPr>
        <p:spPr>
          <a:xfrm>
            <a:off x="7909560" y="1673352"/>
            <a:ext cx="3657600" cy="274320"/>
          </a:xfrm>
          <a:prstGeom prst="rect">
            <a:avLst/>
          </a:prstGeom>
          <a:noFill/>
          <a:ln/>
        </p:spPr>
        <p:txBody>
          <a:bodyPr wrap="square" lIns="0" tIns="0" rIns="0" bIns="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Lo que dice la barra</a:t>
            </a:r>
            <a:endParaRPr lang="en-US" sz="1100" dirty="0"/>
          </a:p>
        </p:txBody>
      </p:sp>
      <p:pic>
        <p:nvPicPr>
          <p:cNvPr id="7" name="Image 1" descr="/tmp/claude-0/-home-user-telon/44f4c94a-cd0b-5d39-be5e-ac4d3f8deac5/scratchpad/match/material/IMG_5040/desplazamiento.jpg">    </p:cNvPr>
          <p:cNvPicPr>
            <a:picLocks noChangeAspect="1"/>
          </p:cNvPicPr>
          <p:nvPr/>
        </p:nvPicPr>
        <p:blipFill>
          <a:blip r:embed="rId2"/>
          <a:stretch>
            <a:fillRect/>
          </a:stretch>
        </p:blipFill>
        <p:spPr>
          <a:xfrm>
            <a:off x="7909560" y="1986915"/>
            <a:ext cx="3657600" cy="552450"/>
          </a:xfrm>
          <a:prstGeom prst="rect">
            <a:avLst/>
          </a:prstGeom>
        </p:spPr>
      </p:pic>
      <p:sp>
        <p:nvSpPr>
          <p:cNvPr id="8" name="Shape 4"/>
          <p:cNvSpPr/>
          <p:nvPr/>
        </p:nvSpPr>
        <p:spPr>
          <a:xfrm>
            <a:off x="7772400" y="2788920"/>
            <a:ext cx="1463040" cy="310896"/>
          </a:xfrm>
          <a:prstGeom prst="roundRect">
            <a:avLst>
              <a:gd name="adj" fmla="val 50000"/>
            </a:avLst>
          </a:prstGeom>
          <a:solidFill>
            <a:srgbClr val="1C2B47"/>
          </a:solidFill>
          <a:ln w="12700">
            <a:solidFill>
              <a:srgbClr val="1C2B47"/>
            </a:solidFill>
            <a:prstDash val="solid"/>
          </a:ln>
        </p:spPr>
      </p:sp>
      <p:sp>
        <p:nvSpPr>
          <p:cNvPr id="9" name="Text 5"/>
          <p:cNvSpPr txBox="1"/>
          <p:nvPr/>
        </p:nvSpPr>
        <p:spPr>
          <a:xfrm>
            <a:off x="7772400" y="278892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SE VE</a:t>
            </a:r>
            <a:endParaRPr lang="en-US" sz="1100" dirty="0"/>
          </a:p>
        </p:txBody>
      </p:sp>
      <p:sp>
        <p:nvSpPr>
          <p:cNvPr id="10" name="Text 6"/>
          <p:cNvSpPr txBox="1"/>
          <p:nvPr/>
        </p:nvSpPr>
        <p:spPr>
          <a:xfrm>
            <a:off x="7772400" y="3172968"/>
            <a:ext cx="3931920" cy="132588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Corte axial con todas las estructuras: cabezas femorales (1, 2), vejiga (3), próstata/PTV (4), recto (5) con gas (6) y la sínfisis (7). El hueso calza y los contornos del plan siguen la anatomía del día.</a:t>
            </a:r>
            <a:endParaRPr lang="en-US" sz="1200" dirty="0"/>
          </a:p>
        </p:txBody>
      </p:sp>
      <p:sp>
        <p:nvSpPr>
          <p:cNvPr id="11" name="Shape 7"/>
          <p:cNvSpPr/>
          <p:nvPr/>
        </p:nvSpPr>
        <p:spPr>
          <a:xfrm>
            <a:off x="7772400" y="4544568"/>
            <a:ext cx="2651760" cy="310896"/>
          </a:xfrm>
          <a:prstGeom prst="roundRect">
            <a:avLst>
              <a:gd name="adj" fmla="val 50000"/>
            </a:avLst>
          </a:prstGeom>
          <a:solidFill>
            <a:srgbClr val="E63946"/>
          </a:solidFill>
          <a:ln w="12700">
            <a:solidFill>
              <a:srgbClr val="E63946"/>
            </a:solidFill>
            <a:prstDash val="solid"/>
          </a:ln>
        </p:spPr>
      </p:sp>
      <p:sp>
        <p:nvSpPr>
          <p:cNvPr id="12" name="Text 8"/>
          <p:cNvSpPr txBox="1"/>
          <p:nvPr/>
        </p:nvSpPr>
        <p:spPr>
          <a:xfrm>
            <a:off x="7772400" y="4544568"/>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QUÉ DEBE NOTAR EL ALUMNO</a:t>
            </a:r>
            <a:endParaRPr lang="en-US" sz="1100" dirty="0"/>
          </a:p>
        </p:txBody>
      </p:sp>
      <p:sp>
        <p:nvSpPr>
          <p:cNvPr id="13" name="Text 9"/>
          <p:cNvSpPr txBox="1"/>
          <p:nvPr/>
        </p:nvSpPr>
        <p:spPr>
          <a:xfrm>
            <a:off x="7772400" y="4928616"/>
            <a:ext cx="3931920" cy="1426464"/>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−0,11 / +0,02 / +0,23 cm: todo bajo 5 mm → corregir sin validación.</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El número no sustituye la mirada: el gas (6) es pequeño, no abomba la pared anterior y recto–PTV queda bajo 15 mm → se trata.</a:t>
            </a:r>
            <a:endParaRPr lang="en-US" sz="1150" dirty="0"/>
          </a:p>
          <a:p>
            <a:pPr marL="177800" indent="-177800">
              <a:spcAft>
                <a:spcPts val="500"/>
              </a:spcAft>
              <a:buSzPct val="100000"/>
              <a:buChar char="•"/>
            </a:pPr>
            <a:r>
              <a:rPr lang="en-US" sz="1150" dirty="0">
                <a:solidFill>
                  <a:srgbClr val="F3F4F6"/>
                </a:solidFill>
                <a:latin typeface="Calibri" pitchFamily="34" charset="0"/>
                <a:ea typeface="Calibri" pitchFamily="34" charset="-122"/>
                <a:cs typeface="Calibri" pitchFamily="34" charset="-120"/>
              </a:rPr>
              <a:t>Mismo hallazgo que el caso 2 (gas), distinta magnitud, distinta conducta.</a:t>
            </a:r>
            <a:endParaRPr lang="en-US" sz="1150" dirty="0"/>
          </a:p>
        </p:txBody>
      </p:sp>
      <p:sp>
        <p:nvSpPr>
          <p:cNvPr id="14"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4 · EL FLUJO DEL MATCH EN LA CONSOLA</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Primero el algoritmo, después el ojo: comparación automática y medición en pantalla</a:t>
            </a:r>
            <a:endParaRPr lang="en-US" sz="2400" dirty="0"/>
          </a:p>
        </p:txBody>
      </p:sp>
      <p:pic>
        <p:nvPicPr>
          <p:cNvPr id="4" name="Image 0" descr="/tmp/claude-0/-home-user-telon/44f4c94a-cd0b-5d39-be5e-ac4d3f8deac5/scratchpad/match/material/IMG_5044/02_rotulado.jpg">    </p:cNvPr>
          <p:cNvPicPr>
            <a:picLocks noChangeAspect="1"/>
          </p:cNvPicPr>
          <p:nvPr/>
        </p:nvPicPr>
        <p:blipFill>
          <a:blip r:embed="rId1"/>
          <a:stretch>
            <a:fillRect/>
          </a:stretch>
        </p:blipFill>
        <p:spPr>
          <a:xfrm>
            <a:off x="1119283" y="1600200"/>
            <a:ext cx="4390835" cy="3566160"/>
          </a:xfrm>
          <a:prstGeom prst="rect">
            <a:avLst/>
          </a:prstGeom>
        </p:spPr>
      </p:pic>
      <p:pic>
        <p:nvPicPr>
          <p:cNvPr id="5" name="Image 1" descr="/tmp/claude-0/-home-user-telon/44f4c94a-cd0b-5d39-be5e-ac4d3f8deac5/scratchpad/match/material/IMG_5044/04_rotulado.jpg">    </p:cNvPr>
          <p:cNvPicPr>
            <a:picLocks noChangeAspect="1"/>
          </p:cNvPicPr>
          <p:nvPr/>
        </p:nvPicPr>
        <p:blipFill>
          <a:blip r:embed="rId2"/>
          <a:stretch>
            <a:fillRect/>
          </a:stretch>
        </p:blipFill>
        <p:spPr>
          <a:xfrm>
            <a:off x="6739825" y="1600200"/>
            <a:ext cx="4579749" cy="3566160"/>
          </a:xfrm>
          <a:prstGeom prst="rect">
            <a:avLst/>
          </a:prstGeom>
        </p:spPr>
      </p:pic>
      <p:sp>
        <p:nvSpPr>
          <p:cNvPr id="6" name="Shape 2"/>
          <p:cNvSpPr/>
          <p:nvPr/>
        </p:nvSpPr>
        <p:spPr>
          <a:xfrm>
            <a:off x="548640" y="5212080"/>
            <a:ext cx="2743200" cy="310896"/>
          </a:xfrm>
          <a:prstGeom prst="roundRect">
            <a:avLst>
              <a:gd name="adj" fmla="val 50000"/>
            </a:avLst>
          </a:prstGeom>
          <a:solidFill>
            <a:srgbClr val="1C2B47"/>
          </a:solidFill>
          <a:ln w="12700">
            <a:solidFill>
              <a:srgbClr val="1C2B47"/>
            </a:solidFill>
            <a:prstDash val="solid"/>
          </a:ln>
        </p:spPr>
      </p:sp>
      <p:sp>
        <p:nvSpPr>
          <p:cNvPr id="7" name="Text 3"/>
          <p:cNvSpPr txBox="1"/>
          <p:nvPr/>
        </p:nvSpPr>
        <p:spPr>
          <a:xfrm>
            <a:off x="548640" y="5212080"/>
            <a:ext cx="27432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COMPARACIÓN AUTOMÁTICA</a:t>
            </a:r>
            <a:endParaRPr lang="en-US" sz="1100" dirty="0"/>
          </a:p>
        </p:txBody>
      </p:sp>
      <p:sp>
        <p:nvSpPr>
          <p:cNvPr id="8" name="Text 4"/>
          <p:cNvSpPr txBox="1"/>
          <p:nvPr/>
        </p:nvSpPr>
        <p:spPr>
          <a:xfrm>
            <a:off x="548640" y="5577840"/>
            <a:ext cx="5532120" cy="822960"/>
          </a:xfrm>
          <a:prstGeom prst="rect">
            <a:avLst/>
          </a:prstGeom>
          <a:noFill/>
          <a:ln/>
        </p:spPr>
        <p:txBody>
          <a:bodyPr wrap="square" lIns="0" tIns="0" rIns="0" bIns="0" rtlCol="0" anchor="t"/>
          <a:lstStyle/>
          <a:p>
            <a:pPr indent="0" marL="0">
              <a:spcAft>
                <a:spcPts val="600"/>
              </a:spcAft>
              <a:buNone/>
            </a:pPr>
            <a:r>
              <a:rPr lang="en-US" sz="1150" dirty="0">
                <a:solidFill>
                  <a:srgbClr val="F3F4F6"/>
                </a:solidFill>
                <a:latin typeface="Calibri" pitchFamily="34" charset="0"/>
                <a:ea typeface="Calibri" pitchFamily="34" charset="-122"/>
                <a:cs typeface="Calibri" pitchFamily="34" charset="-120"/>
              </a:rPr>
              <a:t>La ventana 'Comparación automática' corre el registro 3D-3D sobre la estructura elegida (PTV o BODY) con un margen. Cuando termina, los contornos saltan a la posición calculada. Es el punto de partida, no la decisión.</a:t>
            </a:r>
            <a:endParaRPr lang="en-US" sz="1150" dirty="0"/>
          </a:p>
        </p:txBody>
      </p:sp>
      <p:sp>
        <p:nvSpPr>
          <p:cNvPr id="9" name="Shape 5"/>
          <p:cNvSpPr/>
          <p:nvPr/>
        </p:nvSpPr>
        <p:spPr>
          <a:xfrm>
            <a:off x="6263640" y="5212080"/>
            <a:ext cx="2377440" cy="310896"/>
          </a:xfrm>
          <a:prstGeom prst="roundRect">
            <a:avLst>
              <a:gd name="adj" fmla="val 50000"/>
            </a:avLst>
          </a:prstGeom>
          <a:solidFill>
            <a:srgbClr val="1C2B47"/>
          </a:solidFill>
          <a:ln w="12700">
            <a:solidFill>
              <a:srgbClr val="1C2B47"/>
            </a:solidFill>
            <a:prstDash val="solid"/>
          </a:ln>
        </p:spPr>
      </p:sp>
      <p:sp>
        <p:nvSpPr>
          <p:cNvPr id="10" name="Text 6"/>
          <p:cNvSpPr txBox="1"/>
          <p:nvPr/>
        </p:nvSpPr>
        <p:spPr>
          <a:xfrm>
            <a:off x="6263640" y="5212080"/>
            <a:ext cx="2377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VERIFICAR Y MEDIR</a:t>
            </a:r>
            <a:endParaRPr lang="en-US" sz="1100" dirty="0"/>
          </a:p>
        </p:txBody>
      </p:sp>
      <p:sp>
        <p:nvSpPr>
          <p:cNvPr id="11" name="Text 7"/>
          <p:cNvSpPr txBox="1"/>
          <p:nvPr/>
        </p:nvSpPr>
        <p:spPr>
          <a:xfrm>
            <a:off x="6263640" y="5577840"/>
            <a:ext cx="5532120" cy="822960"/>
          </a:xfrm>
          <a:prstGeom prst="rect">
            <a:avLst/>
          </a:prstGeom>
          <a:noFill/>
          <a:ln/>
        </p:spPr>
        <p:txBody>
          <a:bodyPr wrap="square" lIns="0" tIns="0" rIns="0" bIns="0" rtlCol="0" anchor="t"/>
          <a:lstStyle/>
          <a:p>
            <a:pPr indent="0" marL="0">
              <a:spcAft>
                <a:spcPts val="600"/>
              </a:spcAft>
              <a:buNone/>
            </a:pPr>
            <a:r>
              <a:rPr lang="en-US" sz="1150" dirty="0">
                <a:solidFill>
                  <a:srgbClr val="F3F4F6"/>
                </a:solidFill>
                <a:latin typeface="Calibri" pitchFamily="34" charset="0"/>
                <a:ea typeface="Calibri" pitchFamily="34" charset="-122"/>
                <a:cs typeface="Calibri" pitchFamily="34" charset="-120"/>
              </a:rPr>
              <a:t>El TM recorre los tres planos y usa la regla del Halcyon (2) para medir lo que el protocolo pide: domo vesical contra su contorno en CC y recto–PTV en AP. Aquí hay gas (3) y se mide antes de aplicar.</a:t>
            </a:r>
            <a:endParaRPr lang="en-US" sz="1150" dirty="0"/>
          </a:p>
        </p:txBody>
      </p:sp>
      <p:sp>
        <p:nvSpPr>
          <p:cNvPr id="12" name="Text 8"/>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5 · CUÁNDO EL DÍA NO SIRVE</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Recto distendido por gas: la próstata del día no cabe en el contorno del plan</a:t>
            </a:r>
            <a:endParaRPr lang="en-US" sz="2400" dirty="0"/>
          </a:p>
        </p:txBody>
      </p:sp>
      <p:pic>
        <p:nvPicPr>
          <p:cNvPr id="4" name="Image 0" descr="/tmp/claude-0/-home-user-telon/44f4c94a-cd0b-5d39-be5e-ac4d3f8deac5/scratchpad/match/material/IMG_5059/01_rotulado.jpg">    </p:cNvPr>
          <p:cNvPicPr>
            <a:picLocks noChangeAspect="1"/>
          </p:cNvPicPr>
          <p:nvPr/>
        </p:nvPicPr>
        <p:blipFill>
          <a:blip r:embed="rId1"/>
          <a:stretch>
            <a:fillRect/>
          </a:stretch>
        </p:blipFill>
        <p:spPr>
          <a:xfrm>
            <a:off x="986913" y="1600200"/>
            <a:ext cx="4655574" cy="3657600"/>
          </a:xfrm>
          <a:prstGeom prst="rect">
            <a:avLst/>
          </a:prstGeom>
        </p:spPr>
      </p:pic>
      <p:pic>
        <p:nvPicPr>
          <p:cNvPr id="5" name="Image 1" descr="/tmp/claude-0/-home-user-telon/44f4c94a-cd0b-5d39-be5e-ac4d3f8deac5/scratchpad/match/material/IMG_5059/03_rotulado.jpg">    </p:cNvPr>
          <p:cNvPicPr>
            <a:picLocks noChangeAspect="1"/>
          </p:cNvPicPr>
          <p:nvPr/>
        </p:nvPicPr>
        <p:blipFill>
          <a:blip r:embed="rId2"/>
          <a:stretch>
            <a:fillRect/>
          </a:stretch>
        </p:blipFill>
        <p:spPr>
          <a:xfrm>
            <a:off x="6446310" y="1600200"/>
            <a:ext cx="5166781" cy="3657600"/>
          </a:xfrm>
          <a:prstGeom prst="rect">
            <a:avLst/>
          </a:prstGeom>
        </p:spPr>
      </p:pic>
      <p:sp>
        <p:nvSpPr>
          <p:cNvPr id="6" name="Text 2"/>
          <p:cNvSpPr txBox="1"/>
          <p:nvPr/>
        </p:nvSpPr>
        <p:spPr>
          <a:xfrm>
            <a:off x="548640" y="5349240"/>
            <a:ext cx="5532120" cy="100584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Sagital: el gas (3) ocupa el recto en toda su altura y empuja el PTV (2) hacia la vejiga (1). La distancia recto–PTV en AP supera con holgura los 20 mm del protocolo.</a:t>
            </a:r>
            <a:endParaRPr lang="en-US" sz="1200" dirty="0"/>
          </a:p>
        </p:txBody>
      </p:sp>
      <p:sp>
        <p:nvSpPr>
          <p:cNvPr id="7" name="Text 3"/>
          <p:cNvSpPr txBox="1"/>
          <p:nvPr/>
        </p:nvSpPr>
        <p:spPr>
          <a:xfrm>
            <a:off x="6263640" y="5349240"/>
            <a:ext cx="5532120" cy="1005840"/>
          </a:xfrm>
          <a:prstGeom prst="rect">
            <a:avLst/>
          </a:prstGeom>
          <a:noFill/>
          <a:ln/>
        </p:spPr>
        <p:txBody>
          <a:bodyPr wrap="square" lIns="0" tIns="0" rIns="0" bIns="0" rtlCol="0" anchor="t"/>
          <a:lstStyle/>
          <a:p>
            <a:pPr indent="0" marL="0">
              <a:spcAft>
                <a:spcPts val="600"/>
              </a:spcAft>
              <a:buNone/>
            </a:pPr>
            <a:r>
              <a:rPr lang="en-US" sz="1200" dirty="0">
                <a:solidFill>
                  <a:srgbClr val="F3F4F6"/>
                </a:solidFill>
                <a:latin typeface="Calibri" pitchFamily="34" charset="0"/>
                <a:ea typeface="Calibri" pitchFamily="34" charset="-122"/>
                <a:cs typeface="Calibri" pitchFamily="34" charset="-120"/>
              </a:rPr>
              <a:t>Axial ampliado: la vejiga (1) y las cabezas femorales (3, 4) calzan, pero el PTV (2) queda sobre una zona deformada por el gas. Conducta INC: bajar al paciente, ir al baño y repetir el CBCT.</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Imágenes: consola Varian Halcyon, Instituto Nacional del Cáncer (2026), grabaciones del docente; sin datos identificatorios. Uso docente.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CRITERIOS INC · VMAT PELVIS (HALF-FAN) · APLICADOS A LOS CASOS</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Dos columnas, dos decisiones: el delta de la fusión y la evaluación vésico-rectal</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577840" cy="914400"/>
        </p:xfrm>
        <a:graphic>
          <a:graphicData uri="http://schemas.openxmlformats.org/drawingml/2006/table">
            <a:tbl>
              <a:tblPr/>
              <a:tblGrid>
                <a:gridCol w="1188720"/>
                <a:gridCol w="2651760"/>
                <a:gridCol w="1737360"/>
              </a:tblGrid>
              <a:tr h="411480">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Δ de corrección (fusión)</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Conducta</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Caso</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731520">
                <a:tc>
                  <a:txBody>
                    <a:bodyPr/>
                    <a:lstStyle/>
                    <a:p>
                      <a:pPr indent="0" marL="0">
                        <a:buNone/>
                      </a:pPr>
                      <a:r>
                        <a:rPr lang="en-US" sz="1150" b="1" dirty="0">
                          <a:solidFill>
                            <a:srgbClr val="6FCF97"/>
                          </a:solidFill>
                          <a:latin typeface="Calibri" pitchFamily="34" charset="0"/>
                          <a:ea typeface="Calibri" pitchFamily="34" charset="-122"/>
                          <a:cs typeface="Calibri" pitchFamily="34" charset="-120"/>
                        </a:rPr>
                        <a:t>≤ 5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Corregir, sin validación médica.</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 1 (+0,13/+0,12/+0,20) · Caso 3 (−0,11/+0,02/+0,23)</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731520">
                <a:tc>
                  <a:txBody>
                    <a:bodyPr/>
                    <a:lstStyle/>
                    <a:p>
                      <a:pPr indent="0" marL="0">
                        <a:buNone/>
                      </a:pPr>
                      <a:r>
                        <a:rPr lang="en-US" sz="1150" b="1" dirty="0">
                          <a:solidFill>
                            <a:srgbClr val="F2C14E"/>
                          </a:solidFill>
                          <a:latin typeface="Calibri" pitchFamily="34" charset="0"/>
                          <a:ea typeface="Calibri" pitchFamily="34" charset="-122"/>
                          <a:cs typeface="Calibri" pitchFamily="34" charset="-120"/>
                        </a:rPr>
                        <a:t>5,1 – 8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Corregir y enviar el CBCT a revisión médica (off-line).</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1143000">
                <a:tc>
                  <a:txBody>
                    <a:bodyPr/>
                    <a:lstStyle/>
                    <a:p>
                      <a:pPr indent="0" marL="0">
                        <a:buNone/>
                      </a:pPr>
                      <a:r>
                        <a:rPr lang="en-US" sz="1150" b="1" dirty="0">
                          <a:solidFill>
                            <a:srgbClr val="E63946"/>
                          </a:solidFill>
                          <a:latin typeface="Calibri" pitchFamily="34" charset="0"/>
                          <a:ea typeface="Calibri" pitchFamily="34" charset="-122"/>
                          <a:cs typeface="Calibri" pitchFamily="34" charset="-120"/>
                        </a:rPr>
                        <a:t>&gt; 8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Evaluar posicionamiento e indexación y repetir. De persistir, revisión médica. En obesidad puede tolerarse más si las referencias concuerdan.</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 2 (+0,99 cm vertical)</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309360" y="1645920"/>
          <a:ext cx="5349240" cy="914400"/>
        </p:xfrm>
        <a:graphic>
          <a:graphicData uri="http://schemas.openxmlformats.org/drawingml/2006/table">
            <a:tbl>
              <a:tblPr/>
              <a:tblGrid>
                <a:gridCol w="1737360"/>
                <a:gridCol w="2514600"/>
                <a:gridCol w="1097280"/>
              </a:tblGrid>
              <a:tr h="411480">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Evaluación vésico-rectal (sagital)</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Conducta</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c>
                  <a:txBody>
                    <a:bodyPr/>
                    <a:lstStyle/>
                    <a:p>
                      <a:pPr indent="0" marL="0">
                        <a:buNone/>
                      </a:pPr>
                      <a:r>
                        <a:rPr lang="en-US" sz="1200" b="1" dirty="0">
                          <a:solidFill>
                            <a:srgbClr val="F2C14E"/>
                          </a:solidFill>
                          <a:latin typeface="Calibri" pitchFamily="34" charset="0"/>
                          <a:ea typeface="Calibri" pitchFamily="34" charset="-122"/>
                          <a:cs typeface="Calibri" pitchFamily="34" charset="-120"/>
                        </a:rPr>
                        <a:t>Caso</a:t>
                      </a:r>
                      <a:endParaRPr lang="en-US" sz="120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C2B47"/>
                    </a:solidFill>
                  </a:tcPr>
                </a:tc>
              </a:tr>
              <a:tr h="731520">
                <a:tc>
                  <a:txBody>
                    <a:bodyPr/>
                    <a:lstStyle/>
                    <a:p>
                      <a:pPr indent="0" marL="0">
                        <a:buNone/>
                      </a:pPr>
                      <a:r>
                        <a:rPr lang="en-US" sz="1150" b="1" dirty="0">
                          <a:solidFill>
                            <a:srgbClr val="6FCF97"/>
                          </a:solidFill>
                          <a:latin typeface="Calibri" pitchFamily="34" charset="0"/>
                          <a:ea typeface="Calibri" pitchFamily="34" charset="-122"/>
                          <a:cs typeface="Calibri" pitchFamily="34" charset="-120"/>
                        </a:rPr>
                        <a:t>Vejiga &lt; 20 mm (CC) · Recto–PTV &lt; 15 mm (AP)</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Aplicar el tratamiento.</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Casos 1 y 3</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731520">
                <a:tc>
                  <a:txBody>
                    <a:bodyPr/>
                    <a:lstStyle/>
                    <a:p>
                      <a:pPr indent="0" marL="0">
                        <a:buNone/>
                      </a:pPr>
                      <a:r>
                        <a:rPr lang="en-US" sz="1150" b="1" dirty="0">
                          <a:solidFill>
                            <a:srgbClr val="F2C14E"/>
                          </a:solidFill>
                          <a:latin typeface="Calibri" pitchFamily="34" charset="0"/>
                          <a:ea typeface="Calibri" pitchFamily="34" charset="-122"/>
                          <a:cs typeface="Calibri" pitchFamily="34" charset="-120"/>
                        </a:rPr>
                        <a:t>Vejiga 20–30 mm · Recto 15–20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Tratar y reforzar la preparación. Dos días seguidos: advertir suspensión ante una tercera vez e informar al tratante.</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r h="1143000">
                <a:tc>
                  <a:txBody>
                    <a:bodyPr/>
                    <a:lstStyle/>
                    <a:p>
                      <a:pPr indent="0" marL="0">
                        <a:buNone/>
                      </a:pPr>
                      <a:r>
                        <a:rPr lang="en-US" sz="1150" b="1" dirty="0">
                          <a:solidFill>
                            <a:srgbClr val="E63946"/>
                          </a:solidFill>
                          <a:latin typeface="Calibri" pitchFamily="34" charset="0"/>
                          <a:ea typeface="Calibri" pitchFamily="34" charset="-122"/>
                          <a:cs typeface="Calibri" pitchFamily="34" charset="-120"/>
                        </a:rPr>
                        <a:t>Vejiga &gt; 30 mm · Recto &gt; 20 mm</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Bajar al paciente de la camilla y dar las indicaciones (más tiempo de llenado, ir al WC).</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c>
                  <a:txBody>
                    <a:bodyPr/>
                    <a:lstStyle/>
                    <a:p>
                      <a:pPr indent="0" marL="0">
                        <a:buNone/>
                      </a:pPr>
                      <a:r>
                        <a:rPr lang="en-US" sz="1150" dirty="0">
                          <a:solidFill>
                            <a:srgbClr val="F3F4F6"/>
                          </a:solidFill>
                          <a:latin typeface="Calibri" pitchFamily="34" charset="0"/>
                          <a:ea typeface="Calibri" pitchFamily="34" charset="-122"/>
                          <a:cs typeface="Calibri" pitchFamily="34" charset="-120"/>
                        </a:rPr>
                        <a:t>Casos 2 y 5</a:t>
                      </a:r>
                      <a:endParaRPr lang="en-US" sz="1150" dirty="0">
                        <a:latin typeface="Calibri" charset="0"/>
                        <a:ea typeface="Calibri" charset="0"/>
                        <a:cs typeface="Calibri" charset="0"/>
                      </a:endParaRPr>
                    </a:p>
                  </a:txBody>
                  <a:tcPr marL="76200" marR="76200" marT="50800" marB="50800" anchor="ctr">
                    <a:lnL w="19050" cap="flat" cmpd="sng" algn="ctr">
                      <a:solidFill>
                        <a:srgbClr val="0E1726"/>
                      </a:solidFill>
                      <a:prstDash val="solid"/>
                      <a:round/>
                      <a:headEnd type="none" w="med" len="med"/>
                      <a:tailEnd type="none" w="med" len="med"/>
                    </a:lnL>
                    <a:lnR w="19050" cap="flat" cmpd="sng" algn="ctr">
                      <a:solidFill>
                        <a:srgbClr val="0E1726"/>
                      </a:solidFill>
                      <a:prstDash val="solid"/>
                      <a:round/>
                      <a:headEnd type="none" w="med" len="med"/>
                      <a:tailEnd type="none" w="med" len="med"/>
                    </a:lnR>
                    <a:lnT w="19050" cap="flat" cmpd="sng" algn="ctr">
                      <a:solidFill>
                        <a:srgbClr val="0E1726"/>
                      </a:solidFill>
                      <a:prstDash val="solid"/>
                      <a:round/>
                      <a:headEnd type="none" w="med" len="med"/>
                      <a:tailEnd type="none" w="med" len="med"/>
                    </a:lnT>
                    <a:lnB w="19050" cap="flat" cmpd="sng" algn="ctr">
                      <a:solidFill>
                        <a:srgbClr val="0E1726"/>
                      </a:solidFill>
                      <a:prstDash val="solid"/>
                      <a:round/>
                      <a:headEnd type="none" w="med" len="med"/>
                      <a:tailEnd type="none" w="med" len="med"/>
                    </a:lnB>
                    <a:solidFill>
                      <a:srgbClr val="16233B"/>
                    </a:solidFill>
                  </a:tcPr>
                </a:tc>
              </a:tr>
            </a:tbl>
          </a:graphicData>
        </a:graphic>
      </p:graphicFrame>
      <p:sp>
        <p:nvSpPr>
          <p:cNvPr id="6" name="Shape 2"/>
          <p:cNvSpPr/>
          <p:nvPr/>
        </p:nvSpPr>
        <p:spPr>
          <a:xfrm>
            <a:off x="548640" y="4892040"/>
            <a:ext cx="11109960" cy="1371600"/>
          </a:xfrm>
          <a:prstGeom prst="roundRect">
            <a:avLst>
              <a:gd name="adj" fmla="val 8000"/>
            </a:avLst>
          </a:prstGeom>
          <a:solidFill>
            <a:srgbClr val="1C2B47"/>
          </a:solidFill>
          <a:ln w="12700">
            <a:solidFill>
              <a:srgbClr val="1C2B47"/>
            </a:solidFill>
            <a:prstDash val="solid"/>
          </a:ln>
        </p:spPr>
      </p:sp>
      <p:sp>
        <p:nvSpPr>
          <p:cNvPr id="7" name="Text 3"/>
          <p:cNvSpPr txBox="1"/>
          <p:nvPr/>
        </p:nvSpPr>
        <p:spPr>
          <a:xfrm>
            <a:off x="731520" y="5029200"/>
            <a:ext cx="10789920" cy="11887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La vejiga se compara contra su propio contorno de planificación, domo a domo en CC; el recto contra el PTV, en AP. No contra el hueso.</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Las dos columnas se leen por separado y las dos deben estar en rango: un delta chico con un recto lleno de gas no se trata (caso 5).</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Un delta fuera de tolerancia recurrente se notifica; el CBCT se envía a revisión médica una vez por semana.</a:t>
            </a:r>
            <a:endParaRPr lang="en-US" sz="1200" dirty="0"/>
          </a:p>
        </p:txBody>
      </p:sp>
      <p:sp>
        <p:nvSpPr>
          <p:cNvPr id="8" name="Text 4"/>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 protocolo IGRT del INC (lámina 37 de esta clase) · CBCT/KVCBCT diario durante el curso; corrección de isocentro por fusión según target y referencias registradas por el radioterapeuta.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CÓMO SE MIDE EN EL SAGITAL</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Vejiga: domo a domo en cráneo-caudal. Recto: pared anterior contra el PTV, en antero-posterior</a:t>
            </a:r>
            <a:endParaRPr lang="en-US" sz="2400" dirty="0"/>
          </a:p>
        </p:txBody>
      </p:sp>
      <p:pic>
        <p:nvPicPr>
          <p:cNvPr id="4" name="Image 0" descr="/tmp/claude-0/-home-user-telon/44f4c94a-cd0b-5d39-be5e-ac4d3f8deac5/scratchpad/match/material/IMG_5043/01_recorte.jpg">    </p:cNvPr>
          <p:cNvPicPr>
            <a:picLocks noChangeAspect="1"/>
          </p:cNvPicPr>
          <p:nvPr/>
        </p:nvPicPr>
        <p:blipFill>
          <a:blip r:embed="rId1"/>
          <a:stretch>
            <a:fillRect/>
          </a:stretch>
        </p:blipFill>
        <p:spPr>
          <a:xfrm>
            <a:off x="548640" y="1875147"/>
            <a:ext cx="6949440" cy="4159266"/>
          </a:xfrm>
          <a:prstGeom prst="rect">
            <a:avLst/>
          </a:prstGeom>
        </p:spPr>
      </p:pic>
      <p:sp>
        <p:nvSpPr>
          <p:cNvPr id="5" name="Shape 2"/>
          <p:cNvSpPr/>
          <p:nvPr/>
        </p:nvSpPr>
        <p:spPr>
          <a:xfrm>
            <a:off x="5100523" y="3081334"/>
            <a:ext cx="0" cy="998224"/>
          </a:xfrm>
          <a:prstGeom prst="line">
            <a:avLst/>
          </a:prstGeom>
          <a:noFill/>
          <a:ln w="44450">
            <a:solidFill>
              <a:srgbClr val="F2C14E"/>
            </a:solidFill>
            <a:prstDash val="solid"/>
            <a:headEnd type="triangle"/>
            <a:tailEnd type="triangle"/>
          </a:ln>
        </p:spPr>
      </p:sp>
      <p:sp>
        <p:nvSpPr>
          <p:cNvPr id="6" name="Shape 3"/>
          <p:cNvSpPr/>
          <p:nvPr/>
        </p:nvSpPr>
        <p:spPr>
          <a:xfrm>
            <a:off x="4023360" y="3081334"/>
            <a:ext cx="1077163" cy="0"/>
          </a:xfrm>
          <a:prstGeom prst="line">
            <a:avLst/>
          </a:prstGeom>
          <a:noFill/>
          <a:ln w="19050">
            <a:solidFill>
              <a:srgbClr val="F2C14E"/>
            </a:solidFill>
            <a:prstDash val="dash"/>
          </a:ln>
        </p:spPr>
      </p:sp>
      <p:sp>
        <p:nvSpPr>
          <p:cNvPr id="7" name="Text 4"/>
          <p:cNvSpPr txBox="1"/>
          <p:nvPr/>
        </p:nvSpPr>
        <p:spPr>
          <a:xfrm>
            <a:off x="5204765" y="3289297"/>
            <a:ext cx="1371600" cy="502920"/>
          </a:xfrm>
          <a:prstGeom prst="rect">
            <a:avLst/>
          </a:prstGeom>
          <a:solidFill>
            <a:srgbClr val="0E1726"/>
          </a:solidFill>
          <a:ln/>
        </p:spPr>
        <p:txBody>
          <a:bodyPr wrap="square" lIns="50800" tIns="50800" rIns="50800" bIns="50800" rtlCol="0" anchor="ctr"/>
          <a:lstStyle/>
          <a:p>
            <a:pPr indent="0" marL="0">
              <a:buNone/>
            </a:pPr>
            <a:r>
              <a:rPr lang="en-US" sz="1100" b="1" dirty="0">
                <a:solidFill>
                  <a:srgbClr val="F2C14E"/>
                </a:solidFill>
                <a:latin typeface="Calibri" pitchFamily="34" charset="0"/>
                <a:ea typeface="Calibri" pitchFamily="34" charset="-122"/>
                <a:cs typeface="Calibri" pitchFamily="34" charset="-120"/>
              </a:rPr>
              <a:t>Δ vejiga (CC)</a:t>
            </a:r>
            <a:endParaRPr lang="en-US" sz="1100" dirty="0"/>
          </a:p>
          <a:p>
            <a:pPr indent="0" marL="0">
              <a:buNone/>
            </a:pPr>
            <a:r>
              <a:rPr lang="en-US" sz="1100" b="1" dirty="0">
                <a:solidFill>
                  <a:srgbClr val="F2C14E"/>
                </a:solidFill>
                <a:latin typeface="Calibri" pitchFamily="34" charset="0"/>
                <a:ea typeface="Calibri" pitchFamily="34" charset="-122"/>
                <a:cs typeface="Calibri" pitchFamily="34" charset="-120"/>
              </a:rPr>
              <a:t>domo a domo</a:t>
            </a:r>
            <a:endParaRPr lang="en-US" sz="1100" dirty="0"/>
          </a:p>
        </p:txBody>
      </p:sp>
      <p:sp>
        <p:nvSpPr>
          <p:cNvPr id="8" name="Shape 5"/>
          <p:cNvSpPr/>
          <p:nvPr/>
        </p:nvSpPr>
        <p:spPr>
          <a:xfrm>
            <a:off x="2633472" y="4370707"/>
            <a:ext cx="799186" cy="0"/>
          </a:xfrm>
          <a:prstGeom prst="line">
            <a:avLst/>
          </a:prstGeom>
          <a:noFill/>
          <a:ln w="44450">
            <a:solidFill>
              <a:srgbClr val="F4A261"/>
            </a:solidFill>
            <a:prstDash val="solid"/>
            <a:headEnd type="triangle"/>
            <a:tailEnd type="triangle"/>
          </a:ln>
        </p:spPr>
      </p:sp>
      <p:sp>
        <p:nvSpPr>
          <p:cNvPr id="9" name="Text 6"/>
          <p:cNvSpPr txBox="1"/>
          <p:nvPr/>
        </p:nvSpPr>
        <p:spPr>
          <a:xfrm>
            <a:off x="1938528" y="4537077"/>
            <a:ext cx="1554480" cy="292608"/>
          </a:xfrm>
          <a:prstGeom prst="rect">
            <a:avLst/>
          </a:prstGeom>
          <a:solidFill>
            <a:srgbClr val="0E1726"/>
          </a:solidFill>
          <a:ln/>
        </p:spPr>
        <p:txBody>
          <a:bodyPr wrap="square" lIns="50800" tIns="50800" rIns="50800" bIns="5080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recto–PTV (AP)</a:t>
            </a:r>
            <a:endParaRPr lang="en-US" sz="1100" dirty="0"/>
          </a:p>
        </p:txBody>
      </p:sp>
      <p:sp>
        <p:nvSpPr>
          <p:cNvPr id="10" name="Shape 7"/>
          <p:cNvSpPr/>
          <p:nvPr/>
        </p:nvSpPr>
        <p:spPr>
          <a:xfrm>
            <a:off x="7772400" y="1600200"/>
            <a:ext cx="1463040" cy="310896"/>
          </a:xfrm>
          <a:prstGeom prst="roundRect">
            <a:avLst>
              <a:gd name="adj" fmla="val 50000"/>
            </a:avLst>
          </a:prstGeom>
          <a:solidFill>
            <a:srgbClr val="F2C14E"/>
          </a:solidFill>
          <a:ln w="12700">
            <a:solidFill>
              <a:srgbClr val="F2C14E"/>
            </a:solidFill>
            <a:prstDash val="solid"/>
          </a:ln>
        </p:spPr>
      </p:sp>
      <p:sp>
        <p:nvSpPr>
          <p:cNvPr id="11" name="Text 8"/>
          <p:cNvSpPr txBox="1"/>
          <p:nvPr/>
        </p:nvSpPr>
        <p:spPr>
          <a:xfrm>
            <a:off x="7772400" y="160020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VEJIGA · CC</a:t>
            </a:r>
            <a:endParaRPr lang="en-US" sz="1100" dirty="0"/>
          </a:p>
        </p:txBody>
      </p:sp>
      <p:sp>
        <p:nvSpPr>
          <p:cNvPr id="12" name="Text 9"/>
          <p:cNvSpPr txBox="1"/>
          <p:nvPr/>
        </p:nvSpPr>
        <p:spPr>
          <a:xfrm>
            <a:off x="7772400" y="2011680"/>
            <a:ext cx="3931920" cy="17373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Se mide del domo del contorno amarillo (plan) al domo de la vejiga del día, en el eje cráneo-caudal.</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Vejiga más chica que el plan: la próstata sube menos y el intestino baja hacia el campo. Más grande: la próstata se desplaza y la dosis vesical cambia.</a:t>
            </a:r>
            <a:endParaRPr lang="en-US" sz="1200" dirty="0"/>
          </a:p>
        </p:txBody>
      </p:sp>
      <p:sp>
        <p:nvSpPr>
          <p:cNvPr id="13" name="Shape 10"/>
          <p:cNvSpPr/>
          <p:nvPr/>
        </p:nvSpPr>
        <p:spPr>
          <a:xfrm>
            <a:off x="7772400" y="3794760"/>
            <a:ext cx="1463040" cy="310896"/>
          </a:xfrm>
          <a:prstGeom prst="roundRect">
            <a:avLst>
              <a:gd name="adj" fmla="val 50000"/>
            </a:avLst>
          </a:prstGeom>
          <a:solidFill>
            <a:srgbClr val="F4A261"/>
          </a:solidFill>
          <a:ln w="12700">
            <a:solidFill>
              <a:srgbClr val="F4A261"/>
            </a:solidFill>
            <a:prstDash val="solid"/>
          </a:ln>
        </p:spPr>
      </p:sp>
      <p:sp>
        <p:nvSpPr>
          <p:cNvPr id="14" name="Text 11"/>
          <p:cNvSpPr txBox="1"/>
          <p:nvPr/>
        </p:nvSpPr>
        <p:spPr>
          <a:xfrm>
            <a:off x="7772400" y="379476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RECTO · AP</a:t>
            </a:r>
            <a:endParaRPr lang="en-US" sz="1100" dirty="0"/>
          </a:p>
        </p:txBody>
      </p:sp>
      <p:sp>
        <p:nvSpPr>
          <p:cNvPr id="15" name="Text 12"/>
          <p:cNvSpPr txBox="1"/>
          <p:nvPr/>
        </p:nvSpPr>
        <p:spPr>
          <a:xfrm>
            <a:off x="7772400" y="4206240"/>
            <a:ext cx="393192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Se mide de la pared anterior del recto del día al borde posterior del PTV, en antero-posterior.</a:t>
            </a:r>
            <a:endParaRPr lang="en-US" sz="1200" dirty="0"/>
          </a:p>
          <a:p>
            <a:pPr marL="177800" indent="-177800">
              <a:spcAft>
                <a:spcPts val="800"/>
              </a:spcAft>
              <a:buSzPct val="100000"/>
              <a:buChar char="•"/>
            </a:pPr>
            <a:r>
              <a:rPr lang="en-US" sz="1200" dirty="0">
                <a:solidFill>
                  <a:srgbClr val="F3F4F6"/>
                </a:solidFill>
                <a:latin typeface="Calibri" pitchFamily="34" charset="0"/>
                <a:ea typeface="Calibri" pitchFamily="34" charset="-122"/>
                <a:cs typeface="Calibri" pitchFamily="34" charset="-120"/>
              </a:rPr>
              <a:t>El gas abomba la pared hacia el PTV: reduce la distancia, empuja la próstata y sube la dosis rectal.</a:t>
            </a:r>
            <a:endParaRPr lang="en-US" sz="1200" dirty="0"/>
          </a:p>
        </p:txBody>
      </p:sp>
      <p:sp>
        <p:nvSpPr>
          <p:cNvPr id="16" name="Shape 13"/>
          <p:cNvSpPr/>
          <p:nvPr/>
        </p:nvSpPr>
        <p:spPr>
          <a:xfrm>
            <a:off x="7772400" y="5486400"/>
            <a:ext cx="1463040" cy="310896"/>
          </a:xfrm>
          <a:prstGeom prst="roundRect">
            <a:avLst>
              <a:gd name="adj" fmla="val 50000"/>
            </a:avLst>
          </a:prstGeom>
          <a:solidFill>
            <a:srgbClr val="1C2B47"/>
          </a:solidFill>
          <a:ln w="12700">
            <a:solidFill>
              <a:srgbClr val="1C2B47"/>
            </a:solidFill>
            <a:prstDash val="solid"/>
          </a:ln>
        </p:spPr>
      </p:sp>
      <p:sp>
        <p:nvSpPr>
          <p:cNvPr id="17" name="Text 14"/>
          <p:cNvSpPr txBox="1"/>
          <p:nvPr/>
        </p:nvSpPr>
        <p:spPr>
          <a:xfrm>
            <a:off x="7772400" y="5486400"/>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 LA REGLA</a:t>
            </a:r>
            <a:endParaRPr lang="en-US" sz="1100" dirty="0"/>
          </a:p>
        </p:txBody>
      </p:sp>
      <p:sp>
        <p:nvSpPr>
          <p:cNvPr id="18" name="Text 15"/>
          <p:cNvSpPr txBox="1"/>
          <p:nvPr/>
        </p:nvSpPr>
        <p:spPr>
          <a:xfrm>
            <a:off x="7772400" y="5852160"/>
            <a:ext cx="3931920" cy="457200"/>
          </a:xfrm>
          <a:prstGeom prst="rect">
            <a:avLst/>
          </a:prstGeom>
          <a:noFill/>
          <a:ln/>
        </p:spPr>
        <p:txBody>
          <a:bodyPr wrap="square" lIns="0" tIns="0" rIns="0" bIns="0" rtlCol="0" anchor="t"/>
          <a:lstStyle/>
          <a:p>
            <a:pPr indent="0" marL="0">
              <a:spcAft>
                <a:spcPts val="600"/>
              </a:spcAft>
              <a:buNone/>
            </a:pPr>
            <a:r>
              <a:rPr lang="en-US" sz="1100" dirty="0">
                <a:solidFill>
                  <a:srgbClr val="A9B4C7"/>
                </a:solidFill>
                <a:latin typeface="Calibri" pitchFamily="34" charset="0"/>
                <a:ea typeface="Calibri" pitchFamily="34" charset="-122"/>
                <a:cs typeface="Calibri" pitchFamily="34" charset="-120"/>
              </a:rPr>
              <a:t>Herramienta de medición del Halcyon (clip 5): la distancia aparece en cm sobre la imagen.</a:t>
            </a:r>
            <a:endParaRPr lang="en-US" sz="1100" dirty="0"/>
          </a:p>
        </p:txBody>
      </p:sp>
      <p:sp>
        <p:nvSpPr>
          <p:cNvPr id="19" name="Text 16"/>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Las flechas son esquemáticas: indican dónde se mide, no un valor de este paciente. Imágenes: consola Varian Halcyon, Instituto Nacional del Cáncer (2026), grabaciones del docente; sin datos identificatorios. Uso docente.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EJERCICIO · ¿QUÉ HACES CON ESTE PACIENTE?</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Tres situaciones en la consola, veinte segundos cada una</a:t>
            </a:r>
            <a:endParaRPr lang="en-US" sz="2600" dirty="0"/>
          </a:p>
        </p:txBody>
      </p:sp>
      <p:sp>
        <p:nvSpPr>
          <p:cNvPr id="4" name="Shape 2"/>
          <p:cNvSpPr/>
          <p:nvPr/>
        </p:nvSpPr>
        <p:spPr>
          <a:xfrm>
            <a:off x="548640" y="1691640"/>
            <a:ext cx="3611880" cy="3291840"/>
          </a:xfrm>
          <a:prstGeom prst="roundRect">
            <a:avLst>
              <a:gd name="adj" fmla="val 3333"/>
            </a:avLst>
          </a:prstGeom>
          <a:solidFill>
            <a:srgbClr val="16233B"/>
          </a:solidFill>
          <a:ln w="12700">
            <a:solidFill>
              <a:srgbClr val="16233B"/>
            </a:solidFill>
            <a:prstDash val="solid"/>
          </a:ln>
        </p:spPr>
      </p:sp>
      <p:sp>
        <p:nvSpPr>
          <p:cNvPr id="5" name="Text 3"/>
          <p:cNvSpPr txBox="1"/>
          <p:nvPr/>
        </p:nvSpPr>
        <p:spPr>
          <a:xfrm>
            <a:off x="77724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A</a:t>
            </a:r>
            <a:endParaRPr lang="en-US" sz="4000" dirty="0"/>
          </a:p>
        </p:txBody>
      </p:sp>
      <p:sp>
        <p:nvSpPr>
          <p:cNvPr id="6" name="Text 4"/>
          <p:cNvSpPr txBox="1"/>
          <p:nvPr/>
        </p:nvSpPr>
        <p:spPr>
          <a:xfrm>
            <a:off x="77724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+0,13 · +0,12 · +0,20</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Vejiga domo a domo: 8 mm · Recto–PTV: 9 mm, sin gas</a:t>
            </a:r>
            <a:endParaRPr lang="en-US" sz="1300" dirty="0"/>
          </a:p>
        </p:txBody>
      </p:sp>
      <p:sp>
        <p:nvSpPr>
          <p:cNvPr id="7" name="Text 5"/>
          <p:cNvSpPr txBox="1"/>
          <p:nvPr/>
        </p:nvSpPr>
        <p:spPr>
          <a:xfrm>
            <a:off x="77724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Caso 1</a:t>
            </a:r>
            <a:endParaRPr lang="en-US" sz="1000" dirty="0"/>
          </a:p>
        </p:txBody>
      </p:sp>
      <p:sp>
        <p:nvSpPr>
          <p:cNvPr id="8" name="Shape 6"/>
          <p:cNvSpPr/>
          <p:nvPr/>
        </p:nvSpPr>
        <p:spPr>
          <a:xfrm>
            <a:off x="4297680" y="1691640"/>
            <a:ext cx="3611880" cy="3291840"/>
          </a:xfrm>
          <a:prstGeom prst="roundRect">
            <a:avLst>
              <a:gd name="adj" fmla="val 3333"/>
            </a:avLst>
          </a:prstGeom>
          <a:solidFill>
            <a:srgbClr val="16233B"/>
          </a:solidFill>
          <a:ln w="12700">
            <a:solidFill>
              <a:srgbClr val="16233B"/>
            </a:solidFill>
            <a:prstDash val="solid"/>
          </a:ln>
        </p:spPr>
      </p:sp>
      <p:sp>
        <p:nvSpPr>
          <p:cNvPr id="9" name="Text 7"/>
          <p:cNvSpPr txBox="1"/>
          <p:nvPr/>
        </p:nvSpPr>
        <p:spPr>
          <a:xfrm>
            <a:off x="452628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B</a:t>
            </a:r>
            <a:endParaRPr lang="en-US" sz="4000" dirty="0"/>
          </a:p>
        </p:txBody>
      </p:sp>
      <p:sp>
        <p:nvSpPr>
          <p:cNvPr id="10" name="Text 8"/>
          <p:cNvSpPr txBox="1"/>
          <p:nvPr/>
        </p:nvSpPr>
        <p:spPr>
          <a:xfrm>
            <a:off x="452628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+0,99 · −0,38 · −0,38</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Columna de gas en todo el recto; recto–PTV &gt; 20 mm</a:t>
            </a:r>
            <a:endParaRPr lang="en-US" sz="1300" dirty="0"/>
          </a:p>
        </p:txBody>
      </p:sp>
      <p:sp>
        <p:nvSpPr>
          <p:cNvPr id="11" name="Text 9"/>
          <p:cNvSpPr txBox="1"/>
          <p:nvPr/>
        </p:nvSpPr>
        <p:spPr>
          <a:xfrm>
            <a:off x="452628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Caso 2</a:t>
            </a:r>
            <a:endParaRPr lang="en-US" sz="1000" dirty="0"/>
          </a:p>
        </p:txBody>
      </p:sp>
      <p:sp>
        <p:nvSpPr>
          <p:cNvPr id="12" name="Shape 10"/>
          <p:cNvSpPr/>
          <p:nvPr/>
        </p:nvSpPr>
        <p:spPr>
          <a:xfrm>
            <a:off x="8046720" y="1691640"/>
            <a:ext cx="3611880" cy="3291840"/>
          </a:xfrm>
          <a:prstGeom prst="roundRect">
            <a:avLst>
              <a:gd name="adj" fmla="val 3333"/>
            </a:avLst>
          </a:prstGeom>
          <a:solidFill>
            <a:srgbClr val="16233B"/>
          </a:solidFill>
          <a:ln w="12700">
            <a:solidFill>
              <a:srgbClr val="16233B"/>
            </a:solidFill>
            <a:prstDash val="solid"/>
          </a:ln>
        </p:spPr>
      </p:sp>
      <p:sp>
        <p:nvSpPr>
          <p:cNvPr id="13" name="Text 11"/>
          <p:cNvSpPr txBox="1"/>
          <p:nvPr/>
        </p:nvSpPr>
        <p:spPr>
          <a:xfrm>
            <a:off x="8275320" y="1828800"/>
            <a:ext cx="914400" cy="731520"/>
          </a:xfrm>
          <a:prstGeom prst="rect">
            <a:avLst/>
          </a:prstGeom>
          <a:noFill/>
          <a:ln/>
        </p:spPr>
        <p:txBody>
          <a:bodyPr wrap="square" lIns="0" tIns="0" rIns="0" bIns="0" rtlCol="0" anchor="ctr"/>
          <a:lstStyle/>
          <a:p>
            <a:pPr indent="0" marL="0">
              <a:buNone/>
            </a:pPr>
            <a:r>
              <a:rPr lang="en-US" sz="4000" b="1" dirty="0">
                <a:solidFill>
                  <a:srgbClr val="F2C14E"/>
                </a:solidFill>
                <a:latin typeface="Calibri" pitchFamily="34" charset="0"/>
                <a:ea typeface="Calibri" pitchFamily="34" charset="-122"/>
                <a:cs typeface="Calibri" pitchFamily="34" charset="-120"/>
              </a:rPr>
              <a:t>C</a:t>
            </a:r>
            <a:endParaRPr lang="en-US" sz="4000" dirty="0"/>
          </a:p>
        </p:txBody>
      </p:sp>
      <p:sp>
        <p:nvSpPr>
          <p:cNvPr id="14" name="Text 12"/>
          <p:cNvSpPr txBox="1"/>
          <p:nvPr/>
        </p:nvSpPr>
        <p:spPr>
          <a:xfrm>
            <a:off x="8275320" y="2651760"/>
            <a:ext cx="3200400" cy="164592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Desplazamiento [cm]: −0,11 · +0,02 · +0,23</a:t>
            </a:r>
            <a:endParaRPr lang="en-US" sz="1300" dirty="0"/>
          </a:p>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Vejiga 24 mm más chica que el plan · recto sin gas, 12 mm</a:t>
            </a:r>
            <a:endParaRPr lang="en-US" sz="1300" dirty="0"/>
          </a:p>
        </p:txBody>
      </p:sp>
      <p:sp>
        <p:nvSpPr>
          <p:cNvPr id="15" name="Text 13"/>
          <p:cNvSpPr txBox="1"/>
          <p:nvPr/>
        </p:nvSpPr>
        <p:spPr>
          <a:xfrm>
            <a:off x="8275320" y="4526280"/>
            <a:ext cx="3200400" cy="27432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Variante del caso 3</a:t>
            </a:r>
            <a:endParaRPr lang="en-US" sz="1000" dirty="0"/>
          </a:p>
        </p:txBody>
      </p:sp>
      <p:sp>
        <p:nvSpPr>
          <p:cNvPr id="16" name="Shape 14"/>
          <p:cNvSpPr/>
          <p:nvPr/>
        </p:nvSpPr>
        <p:spPr>
          <a:xfrm>
            <a:off x="548640" y="5212080"/>
            <a:ext cx="11109960" cy="1051560"/>
          </a:xfrm>
          <a:prstGeom prst="roundRect">
            <a:avLst>
              <a:gd name="adj" fmla="val 10435"/>
            </a:avLst>
          </a:prstGeom>
          <a:solidFill>
            <a:srgbClr val="1C2B47"/>
          </a:solidFill>
          <a:ln w="12700">
            <a:solidFill>
              <a:srgbClr val="1C2B47"/>
            </a:solidFill>
            <a:prstDash val="solid"/>
          </a:ln>
        </p:spPr>
      </p:sp>
      <p:sp>
        <p:nvSpPr>
          <p:cNvPr id="17" name="Text 15"/>
          <p:cNvSpPr txBox="1"/>
          <p:nvPr/>
        </p:nvSpPr>
        <p:spPr>
          <a:xfrm>
            <a:off x="731520" y="5349240"/>
            <a:ext cx="10789920" cy="822960"/>
          </a:xfrm>
          <a:prstGeom prst="rect">
            <a:avLst/>
          </a:prstGeom>
          <a:noFill/>
          <a:ln/>
        </p:spPr>
        <p:txBody>
          <a:bodyPr wrap="square" lIns="0" tIns="0" rIns="0" bIns="0" rtlCol="0" anchor="t"/>
          <a:lstStyle/>
          <a:p>
            <a:pPr indent="0" marL="0">
              <a:spcAft>
                <a:spcPts val="600"/>
              </a:spcAft>
              <a:buNone/>
            </a:pPr>
            <a:r>
              <a:rPr lang="en-US" sz="1300" dirty="0">
                <a:solidFill>
                  <a:srgbClr val="F3F4F6"/>
                </a:solidFill>
                <a:latin typeface="Calibri" pitchFamily="34" charset="0"/>
                <a:ea typeface="Calibri" pitchFamily="34" charset="-122"/>
                <a:cs typeface="Calibri" pitchFamily="34" charset="-120"/>
              </a:rPr>
              <a:t>Para cada uno: (1) ¿en qué fila de la columna izquierda cae el delta?  (2) ¿en qué fila de la derecha cae la evaluación vésico-rectal?  (3) ¿se trata hoy, se refuerza la preparación o se baja al paciente?  (4) ¿quién valida?</a:t>
            </a:r>
            <a:endParaRPr lang="en-US" sz="1300" dirty="0"/>
          </a:p>
        </p:txBody>
      </p:sp>
      <p:sp>
        <p:nvSpPr>
          <p:cNvPr id="18" name="Text 16"/>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Respuestas en las notas del presentador.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OCHO CLIPS PARA VER EN MOVIMIENTO</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Lo que una lámina no muestra: el barrido por los cortes y el salto del algoritmo</a:t>
            </a:r>
            <a:endParaRPr lang="en-US" sz="2400" dirty="0"/>
          </a:p>
        </p:txBody>
      </p:sp>
      <p:pic>
        <p:nvPicPr>
          <p:cNvPr id="4" name="Image 0" descr="/tmp/claude-0/-home-user-telon/44f4c94a-cd0b-5d39-be5e-ac4d3f8deac5/scratchpad/match/material/clips/01_barrido_axial_limpio.jpg">    </p:cNvPr>
          <p:cNvPicPr>
            <a:picLocks noChangeAspect="1"/>
          </p:cNvPicPr>
          <p:nvPr/>
        </p:nvPicPr>
        <p:blipFill>
          <a:blip r:embed="rId1"/>
          <a:stretch>
            <a:fillRect/>
          </a:stretch>
        </p:blipFill>
        <p:spPr>
          <a:xfrm>
            <a:off x="853390" y="1645920"/>
            <a:ext cx="2087980" cy="1600200"/>
          </a:xfrm>
          <a:prstGeom prst="rect">
            <a:avLst/>
          </a:prstGeom>
        </p:spPr>
      </p:pic>
      <p:sp>
        <p:nvSpPr>
          <p:cNvPr id="5" name="Text 2"/>
          <p:cNvSpPr txBox="1"/>
          <p:nvPr/>
        </p:nvSpPr>
        <p:spPr>
          <a:xfrm>
            <a:off x="54864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1. Barrido axial por la próstata en una captura limpia de la consola</a:t>
            </a:r>
            <a:endParaRPr lang="en-US" sz="1050" dirty="0"/>
          </a:p>
        </p:txBody>
      </p:sp>
      <p:pic>
        <p:nvPicPr>
          <p:cNvPr id="6" name="Image 1" descr="/tmp/claude-0/-home-user-telon/44f4c94a-cd0b-5d39-be5e-ac4d3f8deac5/scratchpad/match/material/clips/02_sagital_gas_rectal.jpg">    </p:cNvPr>
          <p:cNvPicPr>
            <a:picLocks noChangeAspect="1"/>
          </p:cNvPicPr>
          <p:nvPr/>
        </p:nvPicPr>
        <p:blipFill>
          <a:blip r:embed="rId2"/>
          <a:stretch>
            <a:fillRect/>
          </a:stretch>
        </p:blipFill>
        <p:spPr>
          <a:xfrm>
            <a:off x="3704958" y="1645920"/>
            <a:ext cx="2054125" cy="1600200"/>
          </a:xfrm>
          <a:prstGeom prst="rect">
            <a:avLst/>
          </a:prstGeom>
        </p:spPr>
      </p:pic>
      <p:sp>
        <p:nvSpPr>
          <p:cNvPr id="7" name="Text 3"/>
          <p:cNvSpPr txBox="1"/>
          <p:nvPr/>
        </p:nvSpPr>
        <p:spPr>
          <a:xfrm>
            <a:off x="338328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2. Sagital ampliado</a:t>
            </a:r>
            <a:endParaRPr lang="en-US" sz="1050" dirty="0"/>
          </a:p>
        </p:txBody>
      </p:sp>
      <p:pic>
        <p:nvPicPr>
          <p:cNvPr id="8" name="Image 2" descr="/tmp/claude-0/-home-user-telon/44f4c94a-cd0b-5d39-be5e-ac4d3f8deac5/scratchpad/match/material/clips/03_barrido_axial_prostata_a_vejiga.jpg">    </p:cNvPr>
          <p:cNvPicPr>
            <a:picLocks noChangeAspect="1"/>
          </p:cNvPicPr>
          <p:nvPr/>
        </p:nvPicPr>
        <p:blipFill>
          <a:blip r:embed="rId3"/>
          <a:stretch>
            <a:fillRect/>
          </a:stretch>
        </p:blipFill>
        <p:spPr>
          <a:xfrm>
            <a:off x="6648284" y="1645920"/>
            <a:ext cx="1836751" cy="1600200"/>
          </a:xfrm>
          <a:prstGeom prst="rect">
            <a:avLst/>
          </a:prstGeom>
        </p:spPr>
      </p:pic>
      <p:sp>
        <p:nvSpPr>
          <p:cNvPr id="9" name="Text 4"/>
          <p:cNvSpPr txBox="1"/>
          <p:nvPr/>
        </p:nvSpPr>
        <p:spPr>
          <a:xfrm>
            <a:off x="621792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3. Barrido axial desde la próstata hacia la vejiga</a:t>
            </a:r>
            <a:endParaRPr lang="en-US" sz="1050" dirty="0"/>
          </a:p>
        </p:txBody>
      </p:sp>
      <p:pic>
        <p:nvPicPr>
          <p:cNvPr id="10" name="Image 3" descr="/tmp/claude-0/-home-user-telon/44f4c94a-cd0b-5d39-be5e-ac4d3f8deac5/scratchpad/match/material/clips/04_comparacion_automatica.jpg">    </p:cNvPr>
          <p:cNvPicPr>
            <a:picLocks noChangeAspect="1"/>
          </p:cNvPicPr>
          <p:nvPr/>
        </p:nvPicPr>
        <p:blipFill>
          <a:blip r:embed="rId4"/>
          <a:stretch>
            <a:fillRect/>
          </a:stretch>
        </p:blipFill>
        <p:spPr>
          <a:xfrm>
            <a:off x="9492298" y="1645920"/>
            <a:ext cx="1818005" cy="1600200"/>
          </a:xfrm>
          <a:prstGeom prst="rect">
            <a:avLst/>
          </a:prstGeom>
        </p:spPr>
      </p:pic>
      <p:sp>
        <p:nvSpPr>
          <p:cNvPr id="11" name="Text 5"/>
          <p:cNvSpPr txBox="1"/>
          <p:nvPr/>
        </p:nvSpPr>
        <p:spPr>
          <a:xfrm>
            <a:off x="9052560" y="329184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4. Comparación automática 3D-3D</a:t>
            </a:r>
            <a:endParaRPr lang="en-US" sz="1050" dirty="0"/>
          </a:p>
        </p:txBody>
      </p:sp>
      <p:pic>
        <p:nvPicPr>
          <p:cNvPr id="12" name="Image 4" descr="/tmp/claude-0/-home-user-telon/44f4c94a-cd0b-5d39-be5e-ac4d3f8deac5/scratchpad/match/material/clips/05_regla_en_pantalla.jpg">    </p:cNvPr>
          <p:cNvPicPr>
            <a:picLocks noChangeAspect="1"/>
          </p:cNvPicPr>
          <p:nvPr/>
        </p:nvPicPr>
        <p:blipFill>
          <a:blip r:embed="rId5"/>
          <a:stretch>
            <a:fillRect/>
          </a:stretch>
        </p:blipFill>
        <p:spPr>
          <a:xfrm>
            <a:off x="988378" y="4023360"/>
            <a:ext cx="1818005" cy="1600200"/>
          </a:xfrm>
          <a:prstGeom prst="rect">
            <a:avLst/>
          </a:prstGeom>
        </p:spPr>
      </p:pic>
      <p:sp>
        <p:nvSpPr>
          <p:cNvPr id="13" name="Text 6"/>
          <p:cNvSpPr txBox="1"/>
          <p:nvPr/>
        </p:nvSpPr>
        <p:spPr>
          <a:xfrm>
            <a:off x="54864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5. Medición con la regla del Halcyon</a:t>
            </a:r>
            <a:endParaRPr lang="en-US" sz="1050" dirty="0"/>
          </a:p>
        </p:txBody>
      </p:sp>
      <p:pic>
        <p:nvPicPr>
          <p:cNvPr id="14" name="Image 5" descr="/tmp/claude-0/-home-user-telon/44f4c94a-cd0b-5d39-be5e-ac4d3f8deac5/scratchpad/match/material/clips/06_barrido_axial_gas.jpg">    </p:cNvPr>
          <p:cNvPicPr>
            <a:picLocks noChangeAspect="1"/>
          </p:cNvPicPr>
          <p:nvPr/>
        </p:nvPicPr>
        <p:blipFill>
          <a:blip r:embed="rId6"/>
          <a:stretch>
            <a:fillRect/>
          </a:stretch>
        </p:blipFill>
        <p:spPr>
          <a:xfrm>
            <a:off x="3851910" y="4023360"/>
            <a:ext cx="1760220" cy="1600200"/>
          </a:xfrm>
          <a:prstGeom prst="rect">
            <a:avLst/>
          </a:prstGeom>
        </p:spPr>
      </p:pic>
      <p:sp>
        <p:nvSpPr>
          <p:cNvPr id="15" name="Text 7"/>
          <p:cNvSpPr txBox="1"/>
          <p:nvPr/>
        </p:nvSpPr>
        <p:spPr>
          <a:xfrm>
            <a:off x="338328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6. Barrido axial con gas rectal</a:t>
            </a:r>
            <a:endParaRPr lang="en-US" sz="1050" dirty="0"/>
          </a:p>
        </p:txBody>
      </p:sp>
      <p:pic>
        <p:nvPicPr>
          <p:cNvPr id="16" name="Image 6" descr="/tmp/claude-0/-home-user-telon/44f4c94a-cd0b-5d39-be5e-ac4d3f8deac5/scratchpad/match/material/clips/07_apex_a_vesiculas.jpg">    </p:cNvPr>
          <p:cNvPicPr>
            <a:picLocks noChangeAspect="1"/>
          </p:cNvPicPr>
          <p:nvPr/>
        </p:nvPicPr>
        <p:blipFill>
          <a:blip r:embed="rId7"/>
          <a:stretch>
            <a:fillRect/>
          </a:stretch>
        </p:blipFill>
        <p:spPr>
          <a:xfrm>
            <a:off x="6217920" y="4064794"/>
            <a:ext cx="2697480" cy="1517333"/>
          </a:xfrm>
          <a:prstGeom prst="rect">
            <a:avLst/>
          </a:prstGeom>
        </p:spPr>
      </p:pic>
      <p:sp>
        <p:nvSpPr>
          <p:cNvPr id="17" name="Text 8"/>
          <p:cNvSpPr txBox="1"/>
          <p:nvPr/>
        </p:nvSpPr>
        <p:spPr>
          <a:xfrm>
            <a:off x="621792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7. Axial ampliado, del ápex a las vesículas seminales</a:t>
            </a:r>
            <a:endParaRPr lang="en-US" sz="1050" dirty="0"/>
          </a:p>
        </p:txBody>
      </p:sp>
      <p:pic>
        <p:nvPicPr>
          <p:cNvPr id="18" name="Image 7" descr="/tmp/claude-0/-home-user-telon/44f4c94a-cd0b-5d39-be5e-ac4d3f8deac5/scratchpad/match/material/clips/08_domo_vesical_intestino.jpg">    </p:cNvPr>
          <p:cNvPicPr>
            <a:picLocks noChangeAspect="1"/>
          </p:cNvPicPr>
          <p:nvPr/>
        </p:nvPicPr>
        <p:blipFill>
          <a:blip r:embed="rId8"/>
          <a:stretch>
            <a:fillRect/>
          </a:stretch>
        </p:blipFill>
        <p:spPr>
          <a:xfrm>
            <a:off x="9521190" y="4023360"/>
            <a:ext cx="1760220" cy="1600200"/>
          </a:xfrm>
          <a:prstGeom prst="rect">
            <a:avLst/>
          </a:prstGeom>
        </p:spPr>
      </p:pic>
      <p:sp>
        <p:nvSpPr>
          <p:cNvPr id="19" name="Text 9"/>
          <p:cNvSpPr txBox="1"/>
          <p:nvPr/>
        </p:nvSpPr>
        <p:spPr>
          <a:xfrm>
            <a:off x="9052560" y="5669280"/>
            <a:ext cx="2697480" cy="640080"/>
          </a:xfrm>
          <a:prstGeom prst="rect">
            <a:avLst/>
          </a:prstGeom>
          <a:noFill/>
          <a:ln/>
        </p:spPr>
        <p:txBody>
          <a:bodyPr wrap="square" lIns="0" tIns="0" rIns="0" bIns="0" rtlCol="0" anchor="t"/>
          <a:lstStyle/>
          <a:p>
            <a:pPr indent="0" marL="0">
              <a:buNone/>
            </a:pPr>
            <a:r>
              <a:rPr lang="en-US" sz="1050" dirty="0">
                <a:solidFill>
                  <a:srgbClr val="F3F4F6"/>
                </a:solidFill>
                <a:latin typeface="Calibri" pitchFamily="34" charset="0"/>
                <a:ea typeface="Calibri" pitchFamily="34" charset="-122"/>
                <a:cs typeface="Calibri" pitchFamily="34" charset="-120"/>
              </a:rPr>
              <a:t>8. Hacia el domo vesical y las asas intestinales</a:t>
            </a:r>
            <a:endParaRPr lang="en-US" sz="1050" dirty="0"/>
          </a:p>
        </p:txBody>
      </p:sp>
      <p:sp>
        <p:nvSpPr>
          <p:cNvPr id="20" name="Text 10"/>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Los clips van en MP4 (para PowerPoint) y GIF (para WhatsApp o Moodle) en la carpeta del material; las dos láminas siguientes traen cuatro incrustados. Imágenes: consola Varian Halcyon, Instituto Nacional del Cáncer (2026), grabaciones del docente; sin datos identificatorios. Uso docente.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CLIPS INCRUSTADOS · CLIC PARA REPRODUCIR</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Un match limpio y el salto del algoritmo</a:t>
            </a:r>
            <a:endParaRPr lang="en-US" sz="2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30154" y="1645920"/>
            <a:ext cx="5369092" cy="4114800"/>
          </a:xfrm>
          <a:prstGeom prst="rect">
            <a:avLst/>
          </a:prstGeom>
        </p:spPr>
      </p:pic>
      <p:sp>
        <p:nvSpPr>
          <p:cNvPr id="5" name="Text 2"/>
          <p:cNvSpPr txBox="1"/>
          <p:nvPr/>
        </p:nvSpPr>
        <p:spPr>
          <a:xfrm>
            <a:off x="548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1 · Barrido axial limpio (caso 1)</a:t>
            </a:r>
            <a:endParaRPr lang="en-US" sz="1300" dirty="0"/>
          </a:p>
        </p:txBody>
      </p:sp>
      <p:sp>
        <p:nvSpPr>
          <p:cNvPr id="6" name="Text 3"/>
          <p:cNvSpPr txBox="1"/>
          <p:nvPr/>
        </p:nvSpPr>
        <p:spPr>
          <a:xfrm>
            <a:off x="548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Barrido axial por la próstata en una captura limpia de la consola: sínfisis, vejiga (amarillo), PTV (rojo), recto con gas y cabezas femorales (verde).</a:t>
            </a:r>
            <a:endParaRPr lang="en-US" sz="105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692265" y="1645920"/>
            <a:ext cx="4674870" cy="4114800"/>
          </a:xfrm>
          <a:prstGeom prst="rect">
            <a:avLst/>
          </a:prstGeom>
        </p:spPr>
      </p:pic>
      <p:sp>
        <p:nvSpPr>
          <p:cNvPr id="8" name="Text 4"/>
          <p:cNvSpPr txBox="1"/>
          <p:nvPr/>
        </p:nvSpPr>
        <p:spPr>
          <a:xfrm>
            <a:off x="6263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4 · Comparación automática (caso 4)</a:t>
            </a:r>
            <a:endParaRPr lang="en-US" sz="1300" dirty="0"/>
          </a:p>
        </p:txBody>
      </p:sp>
      <p:sp>
        <p:nvSpPr>
          <p:cNvPr id="9" name="Text 5"/>
          <p:cNvSpPr txBox="1"/>
          <p:nvPr/>
        </p:nvSpPr>
        <p:spPr>
          <a:xfrm>
            <a:off x="6263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Comparación automática 3D-3D: aparece la ventana, corre el algoritmo y los contornos saltan a la posición calculada.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CLIPS INCRUSTADOS · CLIC PARA REPRODUCIR</a:t>
            </a:r>
            <a:endParaRPr lang="en-US" sz="12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2400" b="1" dirty="0">
                <a:solidFill>
                  <a:srgbClr val="F3F4F6"/>
                </a:solidFill>
                <a:latin typeface="Calibri" pitchFamily="34" charset="0"/>
                <a:ea typeface="Calibri" pitchFamily="34" charset="-122"/>
                <a:cs typeface="Calibri" pitchFamily="34" charset="-120"/>
              </a:rPr>
              <a:t>El gas rectal en sagital y en axial</a:t>
            </a:r>
            <a:endParaRPr lang="en-US" sz="2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73682" y="1645920"/>
            <a:ext cx="5282036" cy="4114800"/>
          </a:xfrm>
          <a:prstGeom prst="rect">
            <a:avLst/>
          </a:prstGeom>
        </p:spPr>
      </p:pic>
      <p:sp>
        <p:nvSpPr>
          <p:cNvPr id="5" name="Text 2"/>
          <p:cNvSpPr txBox="1"/>
          <p:nvPr/>
        </p:nvSpPr>
        <p:spPr>
          <a:xfrm>
            <a:off x="548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2 · Sagital con gas rectal (caso 2)</a:t>
            </a:r>
            <a:endParaRPr lang="en-US" sz="1300" dirty="0"/>
          </a:p>
        </p:txBody>
      </p:sp>
      <p:sp>
        <p:nvSpPr>
          <p:cNvPr id="6" name="Text 3"/>
          <p:cNvSpPr txBox="1"/>
          <p:nvPr/>
        </p:nvSpPr>
        <p:spPr>
          <a:xfrm>
            <a:off x="548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Sagital ampliado: el recto lleno de gas empuja la pared posterior; se compara el contorno del PTV con la próstata del día.</a:t>
            </a:r>
            <a:endParaRPr lang="en-US" sz="105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766560" y="1645920"/>
            <a:ext cx="4526280" cy="4114800"/>
          </a:xfrm>
          <a:prstGeom prst="rect">
            <a:avLst/>
          </a:prstGeom>
        </p:spPr>
      </p:pic>
      <p:sp>
        <p:nvSpPr>
          <p:cNvPr id="8" name="Text 4"/>
          <p:cNvSpPr txBox="1"/>
          <p:nvPr/>
        </p:nvSpPr>
        <p:spPr>
          <a:xfrm>
            <a:off x="6263640" y="5852160"/>
            <a:ext cx="55321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Clip 6 · Barrido axial con gas (caso 3)</a:t>
            </a:r>
            <a:endParaRPr lang="en-US" sz="1300" dirty="0"/>
          </a:p>
        </p:txBody>
      </p:sp>
      <p:sp>
        <p:nvSpPr>
          <p:cNvPr id="9" name="Text 5"/>
          <p:cNvSpPr txBox="1"/>
          <p:nvPr/>
        </p:nvSpPr>
        <p:spPr>
          <a:xfrm>
            <a:off x="6263640" y="6172200"/>
            <a:ext cx="5532120" cy="457200"/>
          </a:xfrm>
          <a:prstGeom prst="rect">
            <a:avLst/>
          </a:prstGeom>
          <a:noFill/>
          <a:ln/>
        </p:spPr>
        <p:txBody>
          <a:bodyPr wrap="square" lIns="0" tIns="0" rIns="0" bIns="0" rtlCol="0" anchor="ctr"/>
          <a:lstStyle/>
          <a:p>
            <a:pPr indent="0" marL="0">
              <a:buNone/>
            </a:pPr>
            <a:r>
              <a:rPr lang="en-US" sz="1050" dirty="0">
                <a:solidFill>
                  <a:srgbClr val="A9B4C7"/>
                </a:solidFill>
                <a:latin typeface="Calibri" pitchFamily="34" charset="0"/>
                <a:ea typeface="Calibri" pitchFamily="34" charset="-122"/>
                <a:cs typeface="Calibri" pitchFamily="34" charset="-120"/>
              </a:rPr>
              <a:t>Barrido axial con gas rectal: del techo de la vejiga a la próstata y el recto.</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match/material/IMG_5043/01_recorte.jpg">    </p:cNvPr>
          <p:cNvPicPr>
            <a:picLocks noChangeAspect="1"/>
          </p:cNvPicPr>
          <p:nvPr/>
        </p:nvPicPr>
        <p:blipFill>
          <a:blip r:embed="rId1">
            <a:alphaModFix amt="18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70000"/>
            </a:srgbClr>
          </a:solidFill>
          <a:ln w="12700">
            <a:solidFill>
              <a:srgbClr val="0E1726"/>
            </a:solidFill>
            <a:prstDash val="solid"/>
          </a:ln>
        </p:spPr>
      </p:sp>
      <p:sp>
        <p:nvSpPr>
          <p:cNvPr id="4" name="Text 1"/>
          <p:cNvSpPr txBox="1"/>
          <p:nvPr/>
        </p:nvSpPr>
        <p:spPr>
          <a:xfrm>
            <a:off x="548640" y="109728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TRES IDEAS PARA LLEVARSE</a:t>
            </a:r>
            <a:endParaRPr lang="en-US" sz="1200" dirty="0"/>
          </a:p>
        </p:txBody>
      </p:sp>
      <p:sp>
        <p:nvSpPr>
          <p:cNvPr id="5" name="Text 2"/>
          <p:cNvSpPr txBox="1"/>
          <p:nvPr/>
        </p:nvSpPr>
        <p:spPr>
          <a:xfrm>
            <a:off x="731520" y="164592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1</a:t>
            </a:r>
            <a:endParaRPr lang="en-US" sz="5400" dirty="0"/>
          </a:p>
        </p:txBody>
      </p:sp>
      <p:sp>
        <p:nvSpPr>
          <p:cNvPr id="6" name="Text 3"/>
          <p:cNvSpPr txBox="1"/>
          <p:nvPr/>
        </p:nvSpPr>
        <p:spPr>
          <a:xfrm>
            <a:off x="1645920" y="169164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Los contornos son el TAC; la imagen gris es hoy</a:t>
            </a:r>
            <a:endParaRPr lang="en-US" sz="2200" dirty="0"/>
          </a:p>
        </p:txBody>
      </p:sp>
      <p:sp>
        <p:nvSpPr>
          <p:cNvPr id="7" name="Text 4"/>
          <p:cNvSpPr txBox="1"/>
          <p:nvPr/>
        </p:nvSpPr>
        <p:spPr>
          <a:xfrm>
            <a:off x="1645920" y="214884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Comparar CBCT con TAC es mirar si el tejido del día cabe en el contorno del plan, no si el hueso calza.</a:t>
            </a:r>
            <a:endParaRPr lang="en-US" sz="1400" dirty="0"/>
          </a:p>
        </p:txBody>
      </p:sp>
      <p:sp>
        <p:nvSpPr>
          <p:cNvPr id="8" name="Text 5"/>
          <p:cNvSpPr txBox="1"/>
          <p:nvPr/>
        </p:nvSpPr>
        <p:spPr>
          <a:xfrm>
            <a:off x="731520" y="297180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2</a:t>
            </a:r>
            <a:endParaRPr lang="en-US" sz="5400" dirty="0"/>
          </a:p>
        </p:txBody>
      </p:sp>
      <p:sp>
        <p:nvSpPr>
          <p:cNvPr id="9" name="Text 6"/>
          <p:cNvSpPr txBox="1"/>
          <p:nvPr/>
        </p:nvSpPr>
        <p:spPr>
          <a:xfrm>
            <a:off x="1645920" y="301752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barra da un número; la anatomía da la decisión</a:t>
            </a:r>
            <a:endParaRPr lang="en-US" sz="2200" dirty="0"/>
          </a:p>
        </p:txBody>
      </p:sp>
      <p:sp>
        <p:nvSpPr>
          <p:cNvPr id="10" name="Text 7"/>
          <p:cNvSpPr txBox="1"/>
          <p:nvPr/>
        </p:nvSpPr>
        <p:spPr>
          <a:xfrm>
            <a:off x="1645920" y="347472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Delta de fusión y evaluación vésico-rectal se leen por separado y las dos deben estar en rango.</a:t>
            </a:r>
            <a:endParaRPr lang="en-US" sz="1400" dirty="0"/>
          </a:p>
        </p:txBody>
      </p:sp>
      <p:sp>
        <p:nvSpPr>
          <p:cNvPr id="11" name="Text 8"/>
          <p:cNvSpPr txBox="1"/>
          <p:nvPr/>
        </p:nvSpPr>
        <p:spPr>
          <a:xfrm>
            <a:off x="731520" y="4297680"/>
            <a:ext cx="822960" cy="1005840"/>
          </a:xfrm>
          <a:prstGeom prst="rect">
            <a:avLst/>
          </a:prstGeom>
          <a:noFill/>
          <a:ln/>
        </p:spPr>
        <p:txBody>
          <a:bodyPr wrap="square" lIns="0" tIns="0" rIns="0" bIns="0" rtlCol="0" anchor="ctr"/>
          <a:lstStyle/>
          <a:p>
            <a:pPr indent="0" marL="0">
              <a:buNone/>
            </a:pPr>
            <a:r>
              <a:rPr lang="en-US" sz="5400" b="1" dirty="0">
                <a:solidFill>
                  <a:srgbClr val="F2C14E"/>
                </a:solidFill>
                <a:latin typeface="Calibri" pitchFamily="34" charset="0"/>
                <a:ea typeface="Calibri" pitchFamily="34" charset="-122"/>
                <a:cs typeface="Calibri" pitchFamily="34" charset="-120"/>
              </a:rPr>
              <a:t>3</a:t>
            </a:r>
            <a:endParaRPr lang="en-US" sz="5400" dirty="0"/>
          </a:p>
        </p:txBody>
      </p:sp>
      <p:sp>
        <p:nvSpPr>
          <p:cNvPr id="12" name="Text 9"/>
          <p:cNvSpPr txBox="1"/>
          <p:nvPr/>
        </p:nvSpPr>
        <p:spPr>
          <a:xfrm>
            <a:off x="1645920" y="4343400"/>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Bajar al paciente no es un fracaso</a:t>
            </a:r>
            <a:endParaRPr lang="en-US" sz="2200" dirty="0"/>
          </a:p>
        </p:txBody>
      </p:sp>
      <p:sp>
        <p:nvSpPr>
          <p:cNvPr id="13" name="Text 10"/>
          <p:cNvSpPr txBox="1"/>
          <p:nvPr/>
        </p:nvSpPr>
        <p:spPr>
          <a:xfrm>
            <a:off x="1645920" y="4800600"/>
            <a:ext cx="9601200" cy="548640"/>
          </a:xfrm>
          <a:prstGeom prst="rect">
            <a:avLst/>
          </a:prstGeom>
          <a:noFill/>
          <a:ln/>
        </p:spPr>
        <p:txBody>
          <a:bodyPr wrap="square" lIns="0" tIns="0" rIns="0" bIns="0" rtlCol="0" anchor="ctr"/>
          <a:lstStyle/>
          <a:p>
            <a:pPr indent="0" marL="0">
              <a:buNone/>
            </a:pPr>
            <a:r>
              <a:rPr lang="en-US" sz="1400" dirty="0">
                <a:solidFill>
                  <a:srgbClr val="F3F4F6"/>
                </a:solidFill>
                <a:latin typeface="Calibri" pitchFamily="34" charset="0"/>
                <a:ea typeface="Calibri" pitchFamily="34" charset="-122"/>
                <a:cs typeface="Calibri" pitchFamily="34" charset="-120"/>
              </a:rPr>
              <a:t>Gas o vejiga fuera de tolerancia se corrigen con preparación, no con la mesa. Eso es lo que el CBCT permite ver.</a:t>
            </a:r>
            <a:endParaRPr lang="en-US" sz="1400" dirty="0"/>
          </a:p>
        </p:txBody>
      </p:sp>
      <p:sp>
        <p:nvSpPr>
          <p:cNvPr id="14" name="Text 11"/>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Fuentes: protocolo IGRT del INC · AAPM TG-179 (2012) · Khan &amp; Gibbons, 5ª ed., cap. 25 · ESTRO-ACROP 2023. Imágenes: consola Varian Halcyon, Instituto Nacional del Cáncer (2026), grabaciones del docente; sin datos identificatorios.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CBCT del día frente al TAC de simulación</dc:title>
  <dc:subject>PptxGenJS Presentation</dc:subject>
  <dc:creator>TM Francisco Henríquez M. · Instituto Nacional del Cáncer</dc:creator>
  <cp:lastModifiedBy>TM Francisco Henríquez M. · Instituto Nacional del Cáncer</cp:lastModifiedBy>
  <cp:revision>1</cp:revision>
  <dcterms:created xsi:type="dcterms:W3CDTF">2026-09-29T22:53:19Z</dcterms:created>
  <dcterms:modified xsi:type="dcterms:W3CDTF">2026-09-29T22:53:19Z</dcterms:modified>
</cp:coreProperties>
</file>